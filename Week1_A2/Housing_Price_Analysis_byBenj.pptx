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502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1546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4" name="Picture 3" descr="hous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366" y="4123943"/>
            <a:ext cx="3289169" cy="32891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2920"/>
            <a:ext cx="6400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Housing Price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ADD8E6"/>
                </a:solidFill>
              </a:rPr>
              <a:t>What is the story behind house prices?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2388483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EE"/>
                </a:solidFill>
              </a:rPr>
              <a:t>Descriptive Analytics  |  Dataset: Housing.csv  |  Tools: Python · Pandas · Matplotlib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3477738"/>
            <a:ext cx="19019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B4F72"/>
                </a:solidFill>
              </a:rPr>
              <a:t>🏠  545 Houses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3898362"/>
            <a:ext cx="19019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55606E"/>
                </a:solidFill>
              </a:rPr>
              <a:t>Total records analyzed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3477738"/>
            <a:ext cx="19019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B4F72"/>
                </a:solidFill>
              </a:rPr>
              <a:t>📋  13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3898362"/>
            <a:ext cx="19019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55606E"/>
                </a:solidFill>
              </a:rPr>
              <a:t>Size, rooms, amenities &amp; more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477738"/>
            <a:ext cx="19019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4F72"/>
                </a:solidFill>
              </a:rPr>
              <a:t>💰  Avg ~4.8M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898362"/>
            <a:ext cx="19019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55606E"/>
                </a:solidFill>
              </a:rPr>
              <a:t>Average selling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3477738"/>
            <a:ext cx="19019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4F72"/>
                </a:solidFill>
              </a:rPr>
              <a:t>🎯  1 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7" y="3883645"/>
            <a:ext cx="19019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55606E"/>
                </a:solidFill>
              </a:rPr>
              <a:t>Find what drives house prices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" y="5092716"/>
            <a:ext cx="84947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 dirty="0">
                <a:solidFill>
                  <a:srgbClr val="55606E"/>
                </a:solidFill>
              </a:rPr>
              <a:t>Prepared by: Benjelyn Reves Patiag </a:t>
            </a:r>
            <a:endParaRPr lang="en-NZ" sz="1600" b="1" i="1" dirty="0">
              <a:solidFill>
                <a:srgbClr val="55606E"/>
              </a:solidFill>
            </a:endParaRPr>
          </a:p>
          <a:p>
            <a:r>
              <a:rPr lang="en-NZ" sz="1600" b="1" i="1" dirty="0">
                <a:solidFill>
                  <a:srgbClr val="55606E"/>
                </a:solidFill>
              </a:rPr>
              <a:t>Week 1 · Activity 2</a:t>
            </a:r>
          </a:p>
          <a:p>
            <a:r>
              <a:rPr lang="en-NZ" sz="1600" i="1" dirty="0">
                <a:solidFill>
                  <a:srgbClr val="55606E"/>
                </a:solidFill>
              </a:rPr>
              <a:t>Date: 13 Apr 2026</a:t>
            </a:r>
          </a:p>
          <a:p>
            <a:pPr algn="l"/>
            <a:endParaRPr lang="en-NZ" sz="1600" b="1" i="1" dirty="0">
              <a:solidFill>
                <a:srgbClr val="55606E"/>
              </a:solidFill>
            </a:endParaRPr>
          </a:p>
          <a:p>
            <a:r>
              <a:rPr lang="en-US" sz="1600" b="1" i="1" dirty="0">
                <a:solidFill>
                  <a:srgbClr val="55606E"/>
                </a:solidFill>
              </a:rPr>
              <a:t>Subject: MSE803 Data Analytics</a:t>
            </a:r>
          </a:p>
          <a:p>
            <a:r>
              <a:rPr lang="en-US" sz="1600" b="1" i="1" dirty="0">
                <a:solidFill>
                  <a:srgbClr val="55606E"/>
                </a:solidFill>
              </a:rPr>
              <a:t>Professor: </a:t>
            </a:r>
            <a:r>
              <a:rPr sz="1600" b="1" i="1" dirty="0">
                <a:solidFill>
                  <a:srgbClr val="55606E"/>
                </a:solidFill>
              </a:rPr>
              <a:t> </a:t>
            </a:r>
            <a:r>
              <a:rPr lang="en-NZ" sz="1600" b="1" i="1" dirty="0">
                <a:solidFill>
                  <a:srgbClr val="55606E"/>
                </a:solidFill>
              </a:rPr>
              <a:t>Dr. Mohammad </a:t>
            </a:r>
            <a:r>
              <a:rPr lang="en-NZ" sz="1600" b="1" i="1" dirty="0" err="1">
                <a:solidFill>
                  <a:srgbClr val="55606E"/>
                </a:solidFill>
              </a:rPr>
              <a:t>Norouzifard</a:t>
            </a:r>
            <a:endParaRPr lang="en-NZ" sz="1600" b="1" i="1" dirty="0">
              <a:solidFill>
                <a:srgbClr val="55606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About the Dataset </a:t>
            </a:r>
            <a:r>
              <a:rPr lang="en-NZ" sz="2800" b="1" i="0" dirty="0">
                <a:solidFill>
                  <a:srgbClr val="FFFFFF"/>
                </a:solidFill>
              </a:rPr>
              <a:t>- </a:t>
            </a:r>
            <a:r>
              <a:rPr sz="2800" b="1" i="0" dirty="0">
                <a:solidFill>
                  <a:srgbClr val="FFFFFF"/>
                </a:solidFill>
              </a:rPr>
              <a:t>13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2148840" cy="397764"/>
          </a:xfrm>
          <a:prstGeom prst="rect">
            <a:avLst/>
          </a:prstGeom>
          <a:solidFill>
            <a:srgbClr val="1B4F72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365760" y="1161288"/>
            <a:ext cx="2011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Column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7168" y="1078992"/>
            <a:ext cx="1554480" cy="397764"/>
          </a:xfrm>
          <a:prstGeom prst="rect">
            <a:avLst/>
          </a:prstGeom>
          <a:solidFill>
            <a:srgbClr val="1B4F72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578608" y="1161288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96512" y="1078992"/>
            <a:ext cx="4754880" cy="397764"/>
          </a:xfrm>
          <a:prstGeom prst="rect">
            <a:avLst/>
          </a:prstGeom>
          <a:solidFill>
            <a:srgbClr val="1B4F72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4187952" y="1161288"/>
            <a:ext cx="4617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What it tells 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76756"/>
            <a:ext cx="214884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365760" y="1559052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72"/>
                </a:solidFill>
              </a:rPr>
              <a:t>price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7168" y="1476756"/>
            <a:ext cx="155448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2578608" y="1559052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</a:rPr>
              <a:t>Number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96512" y="1476756"/>
            <a:ext cx="475488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4187952" y="1559052"/>
            <a:ext cx="461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Selling price of the house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874520"/>
            <a:ext cx="2148840" cy="397764"/>
          </a:xfrm>
          <a:prstGeom prst="rect">
            <a:avLst/>
          </a:prstGeom>
          <a:solidFill>
            <a:srgbClr val="EAF2FB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365760" y="1956816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72"/>
                </a:solidFill>
              </a:rPr>
              <a:t>area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7168" y="1874520"/>
            <a:ext cx="1554480" cy="397764"/>
          </a:xfrm>
          <a:prstGeom prst="rect">
            <a:avLst/>
          </a:prstGeom>
          <a:solidFill>
            <a:srgbClr val="EAF2FB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2578608" y="1956816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</a:rPr>
              <a:t>Number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96512" y="1874520"/>
            <a:ext cx="4754880" cy="397764"/>
          </a:xfrm>
          <a:prstGeom prst="rect">
            <a:avLst/>
          </a:prstGeom>
          <a:solidFill>
            <a:srgbClr val="EAF2FB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4187952" y="1956816"/>
            <a:ext cx="461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Total floor size in square feet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272284"/>
            <a:ext cx="214884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365760" y="2354580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72"/>
                </a:solidFill>
              </a:rPr>
              <a:t>bedrooms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7168" y="2272284"/>
            <a:ext cx="155448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2578608" y="2354580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</a:rPr>
              <a:t>Number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96512" y="2272284"/>
            <a:ext cx="475488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4187952" y="2354580"/>
            <a:ext cx="461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How many bedrooms (1 – 6)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70048"/>
            <a:ext cx="2148840" cy="397764"/>
          </a:xfrm>
          <a:prstGeom prst="rect">
            <a:avLst/>
          </a:prstGeom>
          <a:solidFill>
            <a:srgbClr val="EAF2FB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365760" y="2752344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72"/>
                </a:solidFill>
              </a:rPr>
              <a:t>bathrooms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87168" y="2670048"/>
            <a:ext cx="1554480" cy="397764"/>
          </a:xfrm>
          <a:prstGeom prst="rect">
            <a:avLst/>
          </a:prstGeom>
          <a:solidFill>
            <a:srgbClr val="EAF2FB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2578608" y="2752344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</a:rPr>
              <a:t>Number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96512" y="2670048"/>
            <a:ext cx="4754880" cy="397764"/>
          </a:xfrm>
          <a:prstGeom prst="rect">
            <a:avLst/>
          </a:prstGeom>
          <a:solidFill>
            <a:srgbClr val="EAF2FB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4187952" y="2752344"/>
            <a:ext cx="461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How many bathrooms (1 – 4)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067812"/>
            <a:ext cx="214884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TextBox 36"/>
          <p:cNvSpPr txBox="1"/>
          <p:nvPr/>
        </p:nvSpPr>
        <p:spPr>
          <a:xfrm>
            <a:off x="365760" y="3150108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72"/>
                </a:solidFill>
              </a:rPr>
              <a:t>stories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87168" y="3067812"/>
            <a:ext cx="155448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TextBox 38"/>
          <p:cNvSpPr txBox="1"/>
          <p:nvPr/>
        </p:nvSpPr>
        <p:spPr>
          <a:xfrm>
            <a:off x="2578608" y="3150108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</a:rPr>
              <a:t>Number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96512" y="3067812"/>
            <a:ext cx="475488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4187952" y="3150108"/>
            <a:ext cx="461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Number of floors / levels (1 – 4)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465576"/>
            <a:ext cx="2148840" cy="397764"/>
          </a:xfrm>
          <a:prstGeom prst="rect">
            <a:avLst/>
          </a:prstGeom>
          <a:solidFill>
            <a:srgbClr val="EAF2FB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TextBox 42"/>
          <p:cNvSpPr txBox="1"/>
          <p:nvPr/>
        </p:nvSpPr>
        <p:spPr>
          <a:xfrm>
            <a:off x="365760" y="3547872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72"/>
                </a:solidFill>
              </a:rPr>
              <a:t>parking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87168" y="3465576"/>
            <a:ext cx="1554480" cy="397764"/>
          </a:xfrm>
          <a:prstGeom prst="rect">
            <a:avLst/>
          </a:prstGeom>
          <a:solidFill>
            <a:srgbClr val="EAF2FB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TextBox 44"/>
          <p:cNvSpPr txBox="1"/>
          <p:nvPr/>
        </p:nvSpPr>
        <p:spPr>
          <a:xfrm>
            <a:off x="2578608" y="3547872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</a:rPr>
              <a:t>Number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96512" y="3465576"/>
            <a:ext cx="4754880" cy="397764"/>
          </a:xfrm>
          <a:prstGeom prst="rect">
            <a:avLst/>
          </a:prstGeom>
          <a:solidFill>
            <a:srgbClr val="EAF2FB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TextBox 46"/>
          <p:cNvSpPr txBox="1"/>
          <p:nvPr/>
        </p:nvSpPr>
        <p:spPr>
          <a:xfrm>
            <a:off x="4187952" y="3547872"/>
            <a:ext cx="461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Number of car parking spaces (0 – 3)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863340"/>
            <a:ext cx="214884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9" name="TextBox 48"/>
          <p:cNvSpPr txBox="1"/>
          <p:nvPr/>
        </p:nvSpPr>
        <p:spPr>
          <a:xfrm>
            <a:off x="365760" y="3945636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72"/>
                </a:solidFill>
              </a:rPr>
              <a:t>mainroad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87168" y="3863340"/>
            <a:ext cx="155448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1" name="TextBox 50"/>
          <p:cNvSpPr txBox="1"/>
          <p:nvPr/>
        </p:nvSpPr>
        <p:spPr>
          <a:xfrm>
            <a:off x="2578608" y="3945636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</a:rPr>
              <a:t>Yes / 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96512" y="3863340"/>
            <a:ext cx="475488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3" name="TextBox 52"/>
          <p:cNvSpPr txBox="1"/>
          <p:nvPr/>
        </p:nvSpPr>
        <p:spPr>
          <a:xfrm>
            <a:off x="4187952" y="3945636"/>
            <a:ext cx="461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Is the house on a main road?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261104"/>
            <a:ext cx="2148840" cy="397764"/>
          </a:xfrm>
          <a:prstGeom prst="rect">
            <a:avLst/>
          </a:prstGeom>
          <a:solidFill>
            <a:srgbClr val="EAF2FB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5" name="TextBox 54"/>
          <p:cNvSpPr txBox="1"/>
          <p:nvPr/>
        </p:nvSpPr>
        <p:spPr>
          <a:xfrm>
            <a:off x="365760" y="4343400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72"/>
                </a:solidFill>
              </a:rPr>
              <a:t>guestroom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87168" y="4261104"/>
            <a:ext cx="1554480" cy="397764"/>
          </a:xfrm>
          <a:prstGeom prst="rect">
            <a:avLst/>
          </a:prstGeom>
          <a:solidFill>
            <a:srgbClr val="EAF2FB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7" name="TextBox 56"/>
          <p:cNvSpPr txBox="1"/>
          <p:nvPr/>
        </p:nvSpPr>
        <p:spPr>
          <a:xfrm>
            <a:off x="2578608" y="4343400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</a:rPr>
              <a:t>Yes / 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96512" y="4261104"/>
            <a:ext cx="4754880" cy="397764"/>
          </a:xfrm>
          <a:prstGeom prst="rect">
            <a:avLst/>
          </a:prstGeom>
          <a:solidFill>
            <a:srgbClr val="EAF2FB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9" name="TextBox 58"/>
          <p:cNvSpPr txBox="1"/>
          <p:nvPr/>
        </p:nvSpPr>
        <p:spPr>
          <a:xfrm>
            <a:off x="4187952" y="4343400"/>
            <a:ext cx="461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Does it have a guest room?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658868"/>
            <a:ext cx="214884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1" name="TextBox 60"/>
          <p:cNvSpPr txBox="1"/>
          <p:nvPr/>
        </p:nvSpPr>
        <p:spPr>
          <a:xfrm>
            <a:off x="365760" y="4741164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72"/>
                </a:solidFill>
              </a:rPr>
              <a:t>basement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487168" y="4658868"/>
            <a:ext cx="155448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3" name="TextBox 62"/>
          <p:cNvSpPr txBox="1"/>
          <p:nvPr/>
        </p:nvSpPr>
        <p:spPr>
          <a:xfrm>
            <a:off x="2578608" y="4741164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</a:rPr>
              <a:t>Yes / 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96512" y="4658868"/>
            <a:ext cx="475488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5" name="TextBox 64"/>
          <p:cNvSpPr txBox="1"/>
          <p:nvPr/>
        </p:nvSpPr>
        <p:spPr>
          <a:xfrm>
            <a:off x="4187952" y="4741164"/>
            <a:ext cx="461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Does it have a basement?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5056632"/>
            <a:ext cx="2148840" cy="397764"/>
          </a:xfrm>
          <a:prstGeom prst="rect">
            <a:avLst/>
          </a:prstGeom>
          <a:solidFill>
            <a:srgbClr val="EAF2FB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7" name="TextBox 66"/>
          <p:cNvSpPr txBox="1"/>
          <p:nvPr/>
        </p:nvSpPr>
        <p:spPr>
          <a:xfrm>
            <a:off x="365760" y="5138928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72"/>
                </a:solidFill>
              </a:rPr>
              <a:t>hotwaterheating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487168" y="5056632"/>
            <a:ext cx="1554480" cy="397764"/>
          </a:xfrm>
          <a:prstGeom prst="rect">
            <a:avLst/>
          </a:prstGeom>
          <a:solidFill>
            <a:srgbClr val="EAF2FB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9" name="TextBox 68"/>
          <p:cNvSpPr txBox="1"/>
          <p:nvPr/>
        </p:nvSpPr>
        <p:spPr>
          <a:xfrm>
            <a:off x="2578608" y="5138928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</a:rPr>
              <a:t>Yes / No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96512" y="5056632"/>
            <a:ext cx="4754880" cy="397764"/>
          </a:xfrm>
          <a:prstGeom prst="rect">
            <a:avLst/>
          </a:prstGeom>
          <a:solidFill>
            <a:srgbClr val="EAF2FB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1" name="TextBox 70"/>
          <p:cNvSpPr txBox="1"/>
          <p:nvPr/>
        </p:nvSpPr>
        <p:spPr>
          <a:xfrm>
            <a:off x="4187952" y="5138928"/>
            <a:ext cx="461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Is there a hot water heating system?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5454396"/>
            <a:ext cx="214884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3" name="TextBox 72"/>
          <p:cNvSpPr txBox="1"/>
          <p:nvPr/>
        </p:nvSpPr>
        <p:spPr>
          <a:xfrm>
            <a:off x="365760" y="5536692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72"/>
                </a:solidFill>
              </a:rPr>
              <a:t>airconditioning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487168" y="5454396"/>
            <a:ext cx="155448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5" name="TextBox 74"/>
          <p:cNvSpPr txBox="1"/>
          <p:nvPr/>
        </p:nvSpPr>
        <p:spPr>
          <a:xfrm>
            <a:off x="2578608" y="5536692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</a:rPr>
              <a:t>Yes / No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96512" y="5454396"/>
            <a:ext cx="475488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7" name="TextBox 76"/>
          <p:cNvSpPr txBox="1"/>
          <p:nvPr/>
        </p:nvSpPr>
        <p:spPr>
          <a:xfrm>
            <a:off x="4187952" y="5536692"/>
            <a:ext cx="461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Does it have air conditioning?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5852160"/>
            <a:ext cx="2148840" cy="397764"/>
          </a:xfrm>
          <a:prstGeom prst="rect">
            <a:avLst/>
          </a:prstGeom>
          <a:solidFill>
            <a:srgbClr val="EAF2FB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9" name="TextBox 78"/>
          <p:cNvSpPr txBox="1"/>
          <p:nvPr/>
        </p:nvSpPr>
        <p:spPr>
          <a:xfrm>
            <a:off x="365760" y="5934456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72"/>
                </a:solidFill>
              </a:rPr>
              <a:t>prefarea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87168" y="5852160"/>
            <a:ext cx="1554480" cy="397764"/>
          </a:xfrm>
          <a:prstGeom prst="rect">
            <a:avLst/>
          </a:prstGeom>
          <a:solidFill>
            <a:srgbClr val="EAF2FB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1" name="TextBox 80"/>
          <p:cNvSpPr txBox="1"/>
          <p:nvPr/>
        </p:nvSpPr>
        <p:spPr>
          <a:xfrm>
            <a:off x="2578608" y="5934456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</a:rPr>
              <a:t>Yes / 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96512" y="5852160"/>
            <a:ext cx="4754880" cy="397764"/>
          </a:xfrm>
          <a:prstGeom prst="rect">
            <a:avLst/>
          </a:prstGeom>
          <a:solidFill>
            <a:srgbClr val="EAF2FB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3" name="TextBox 82"/>
          <p:cNvSpPr txBox="1"/>
          <p:nvPr/>
        </p:nvSpPr>
        <p:spPr>
          <a:xfrm>
            <a:off x="4187952" y="5934456"/>
            <a:ext cx="461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Is it in a preferred / premium area?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6249924"/>
            <a:ext cx="214884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5" name="TextBox 84"/>
          <p:cNvSpPr txBox="1"/>
          <p:nvPr/>
        </p:nvSpPr>
        <p:spPr>
          <a:xfrm>
            <a:off x="365760" y="6332220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72"/>
                </a:solidFill>
              </a:rPr>
              <a:t>furnishingstatus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487168" y="6249924"/>
            <a:ext cx="155448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7" name="TextBox 86"/>
          <p:cNvSpPr txBox="1"/>
          <p:nvPr/>
        </p:nvSpPr>
        <p:spPr>
          <a:xfrm>
            <a:off x="2578608" y="6332220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</a:rPr>
              <a:t>Category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096512" y="6249924"/>
            <a:ext cx="4754880" cy="39776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9" name="TextBox 88"/>
          <p:cNvSpPr txBox="1"/>
          <p:nvPr/>
        </p:nvSpPr>
        <p:spPr>
          <a:xfrm>
            <a:off x="4187952" y="6332220"/>
            <a:ext cx="461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Furnished, Semi-Furnished, or Unfurnished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0312" y="754380"/>
            <a:ext cx="8595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55606E"/>
                </a:solidFill>
              </a:rPr>
              <a:t>💡  Numeric columns show size and count.  Yes/No columns show which features the house has.  Furnishing status shows how move-in-ready it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Finding 1: Size &amp; Structure Drive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94944"/>
            <a:ext cx="8503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</a:rPr>
              <a:t>Area, bedrooms, bathrooms, and stories all affect how much a house costs.</a:t>
            </a:r>
          </a:p>
        </p:txBody>
      </p:sp>
      <p:pic>
        <p:nvPicPr>
          <p:cNvPr id="6" name="Picture 5" descr="area_vs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4168"/>
            <a:ext cx="5029200" cy="3657600"/>
          </a:xfrm>
          <a:prstGeom prst="rect">
            <a:avLst/>
          </a:prstGeom>
        </p:spPr>
      </p:pic>
      <p:pic>
        <p:nvPicPr>
          <p:cNvPr id="7" name="Picture 6" descr="bedrooms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024128"/>
            <a:ext cx="3456432" cy="1545336"/>
          </a:xfrm>
          <a:prstGeom prst="rect">
            <a:avLst/>
          </a:prstGeom>
        </p:spPr>
      </p:pic>
      <p:pic>
        <p:nvPicPr>
          <p:cNvPr id="8" name="Picture 7" descr="bathrooms_pr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2606040"/>
            <a:ext cx="3456432" cy="1545336"/>
          </a:xfrm>
          <a:prstGeom prst="rect">
            <a:avLst/>
          </a:prstGeom>
        </p:spPr>
      </p:pic>
      <p:pic>
        <p:nvPicPr>
          <p:cNvPr id="9" name="Picture 8" descr="stories_pr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4187952"/>
            <a:ext cx="3456432" cy="154533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8600" y="6035040"/>
            <a:ext cx="8686800" cy="51206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365760" y="6080760"/>
            <a:ext cx="8412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 Finding:  Larger area is the #1 price driver. Each extra bedroom, bathroom, and floor also adds significant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Finding 2: Amenities &amp; Extras Add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94944"/>
            <a:ext cx="8503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55606E"/>
                </a:solidFill>
              </a:rPr>
              <a:t>Yes/No features, parking spaces, and furnishing status all influence price.</a:t>
            </a:r>
          </a:p>
        </p:txBody>
      </p:sp>
      <p:pic>
        <p:nvPicPr>
          <p:cNvPr id="6" name="Picture 5" descr="amenities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024128"/>
            <a:ext cx="8284464" cy="2834159"/>
          </a:xfrm>
          <a:prstGeom prst="rect">
            <a:avLst/>
          </a:prstGeom>
        </p:spPr>
      </p:pic>
      <p:pic>
        <p:nvPicPr>
          <p:cNvPr id="7" name="Picture 6" descr="parking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977639"/>
            <a:ext cx="4206240" cy="2212848"/>
          </a:xfrm>
          <a:prstGeom prst="rect">
            <a:avLst/>
          </a:prstGeom>
        </p:spPr>
      </p:pic>
      <p:pic>
        <p:nvPicPr>
          <p:cNvPr id="8" name="Picture 7" descr="furnishing_pr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977639"/>
            <a:ext cx="4206240" cy="2212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" y="6217920"/>
            <a:ext cx="4206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 dirty="0">
                <a:solidFill>
                  <a:srgbClr val="55606E"/>
                </a:solidFill>
              </a:rPr>
              <a:t>More parking = higher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217920"/>
            <a:ext cx="4206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 dirty="0">
                <a:solidFill>
                  <a:srgbClr val="55606E"/>
                </a:solidFill>
              </a:rPr>
              <a:t>Furnished homes sell for the most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Conclusion</a:t>
            </a:r>
            <a:r>
              <a:rPr lang="en-NZ" sz="2800" b="1" i="0" dirty="0">
                <a:solidFill>
                  <a:srgbClr val="FFFFFF"/>
                </a:solidFill>
              </a:rPr>
              <a:t>: </a:t>
            </a:r>
            <a:r>
              <a:rPr sz="2800" b="1" i="0" dirty="0">
                <a:solidFill>
                  <a:srgbClr val="FFFFFF"/>
                </a:solidFill>
              </a:rPr>
              <a:t>What Drives House Prices?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94944"/>
            <a:ext cx="8503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</a:rPr>
              <a:t>A summary of all key findings from the Housing dataset (545 houses, 13 features).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097280"/>
            <a:ext cx="420624" cy="42062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256032" y="1097280"/>
            <a:ext cx="420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060704"/>
            <a:ext cx="8138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F72"/>
                </a:solidFill>
              </a:rPr>
              <a:t>Area is the #1 factor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408176"/>
            <a:ext cx="8138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</a:rPr>
              <a:t>Larger houses consistently cost more. The scatter plot shows a clear upward trend — size matters most.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2084832"/>
            <a:ext cx="420624" cy="42062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256032" y="2084832"/>
            <a:ext cx="420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048256"/>
            <a:ext cx="8138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F72"/>
                </a:solidFill>
              </a:rPr>
              <a:t>More rooms = more money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395728"/>
            <a:ext cx="8138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55606E"/>
                </a:solidFill>
              </a:rPr>
              <a:t>Each extra bedroom (+~1M avg), bathroom (+~2M avg), and story (+~1M avg) raises the price.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072384"/>
            <a:ext cx="420624" cy="42062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256032" y="3072384"/>
            <a:ext cx="420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035808"/>
            <a:ext cx="8138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F72"/>
                </a:solidFill>
              </a:rPr>
              <a:t>Amenities significantly boost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383280"/>
            <a:ext cx="8138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</a:rPr>
              <a:t>Air conditioning (+1.8M), preferred area (+1.5M), guest room (+1.2M), and main road (+1.6M) all increase price.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4059936"/>
            <a:ext cx="420624" cy="42062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256032" y="4059936"/>
            <a:ext cx="420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023360"/>
            <a:ext cx="8138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F72"/>
                </a:solidFill>
              </a:rPr>
              <a:t>Parking and furnishing count too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370832"/>
            <a:ext cx="8138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</a:rPr>
              <a:t>3 parking spaces adds ~1.7M over no parking. Furnished homes average 5.5M vs 4.0M unfurnished (+37%).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5047488"/>
            <a:ext cx="420624" cy="42062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256032" y="5047488"/>
            <a:ext cx="420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5010912"/>
            <a:ext cx="8138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F72"/>
                </a:solidFill>
              </a:rPr>
              <a:t>No single feature tells the whole 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5358384"/>
            <a:ext cx="8138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</a:rPr>
              <a:t>Price is shaped by a combination of size, rooms, amenities, and extras. Top homes score well across all factors.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5983748"/>
            <a:ext cx="8631936" cy="663499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384048" y="6062472"/>
            <a:ext cx="8412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Overall:  House price depends on SIZE + ROOMS + AMENITIES + EXTRAS. Bigger, better-equipped homes in good locations always cost more.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533</Words>
  <Application>Microsoft Office PowerPoint</Application>
  <PresentationFormat>On-screen Show (4:3)</PresentationFormat>
  <Paragraphs>86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BENJELYN Patiag</cp:lastModifiedBy>
  <cp:revision>10</cp:revision>
  <dcterms:created xsi:type="dcterms:W3CDTF">2013-01-27T09:14:16Z</dcterms:created>
  <dcterms:modified xsi:type="dcterms:W3CDTF">2026-04-13T10:04:35Z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2026-04-13T09:55:01Z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4a84de4a-7be2-4134-8506-d30e59abaf1a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
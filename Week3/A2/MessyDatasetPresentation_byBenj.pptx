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0924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1F04-F0C5-D0EA-6EF7-5CA588D01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8494CA-54B0-9930-D9E9-F27B2C856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B4522-B48C-4D65-7C86-3C5D1F668F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CCD09-8A8C-B84B-FCF4-BA1153CA8D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40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A54A5-0273-35B1-C22E-9846E6B30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4862EE-1BA7-FCE7-FA48-9A8472A1D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8E5A31-8655-C8F4-C433-99B8BFC7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06C18-A9E6-B8F6-B366-3B843EF3A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261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" name="Shape 1"/>
          <p:cNvSpPr/>
          <p:nvPr/>
        </p:nvSpPr>
        <p:spPr>
          <a:xfrm>
            <a:off x="3438144" y="0"/>
            <a:ext cx="146304" cy="5143500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228600" y="1280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</a:t>
            </a:r>
            <a:endParaRPr lang="en-US" sz="2800" dirty="0"/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2800" dirty="0"/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724912"/>
            <a:ext cx="2148840" cy="36576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7" name="Text 5"/>
          <p:cNvSpPr/>
          <p:nvPr/>
        </p:nvSpPr>
        <p:spPr>
          <a:xfrm>
            <a:off x="228600" y="2834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 messy_dataset_Mukesh.csv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32552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 Python + SciPy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367588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 Pearson Correlation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2400" y="4480560"/>
            <a:ext cx="313943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NZ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MSE803 Data Analytics</a:t>
            </a:r>
          </a:p>
          <a:p>
            <a:pPr algn="ctr"/>
            <a:r>
              <a:rPr lang="en-NZ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 Dr. Mohammad </a:t>
            </a:r>
            <a:r>
              <a:rPr lang="en-NZ" sz="1050" dirty="0" err="1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Norouzifard</a:t>
            </a:r>
            <a:endParaRPr lang="en-NZ" sz="1050" dirty="0">
              <a:solidFill>
                <a:srgbClr val="99F6E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4320" y="4197096"/>
            <a:ext cx="2923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Benjelyn Reves Patiag  ·  29 April 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38404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Scope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0" y="84124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presents a structured pipeline for raw data quality assessment, remediation, bivariate linear correlation analysis (Pearson), and statistical outlier identification applied to a small employee dataset.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13632" y="190195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7" name="Text 15"/>
          <p:cNvSpPr/>
          <p:nvPr/>
        </p:nvSpPr>
        <p:spPr>
          <a:xfrm>
            <a:off x="3913632" y="1901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43400" y="1783080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Audit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206654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CSV have missing value, broken date, text-as-number, duplicate row.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913632" y="2706624"/>
            <a:ext cx="347472" cy="34747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3" name="Text 21"/>
          <p:cNvSpPr/>
          <p:nvPr/>
        </p:nvSpPr>
        <p:spPr>
          <a:xfrm>
            <a:off x="3913632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43400" y="2587752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Remediation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43400" y="2871216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clean all 7 problem. After this, 9 good row ready for analysis.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913632" y="3511296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9" name="Text 27"/>
          <p:cNvSpPr/>
          <p:nvPr/>
        </p:nvSpPr>
        <p:spPr>
          <a:xfrm>
            <a:off x="3913632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43400" y="339242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43400" y="367588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method check if Age and Salary move together. Result: yes, moderate!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913632" y="4315968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5" name="Text 33"/>
          <p:cNvSpPr/>
          <p:nvPr/>
        </p:nvSpPr>
        <p:spPr>
          <a:xfrm>
            <a:off x="3913632" y="4315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43400" y="419709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343400" y="4480560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and Z-score check for outlier. Result: nobody is extreme, all normal.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1 / 7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Assessment &amp; Remediation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 can happen, the data must be clean first. Each defect was remediated prior to statistical analysis.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516636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NZ" sz="2000"/>
          </a:p>
        </p:txBody>
      </p:sp>
      <p:sp>
        <p:nvSpPr>
          <p:cNvPr id="5" name="Text 3"/>
          <p:cNvSpPr/>
          <p:nvPr/>
        </p:nvSpPr>
        <p:spPr>
          <a:xfrm>
            <a:off x="347472" y="9418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94183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18688" y="9418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Fix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35024"/>
            <a:ext cx="5166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9" name="Text 7"/>
          <p:cNvSpPr/>
          <p:nvPr/>
        </p:nvSpPr>
        <p:spPr>
          <a:xfrm>
            <a:off x="347472" y="1399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399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"Bob" appear 2 time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18688" y="139903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Bob was delete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1728216"/>
            <a:ext cx="516636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3" name="Text 11"/>
          <p:cNvSpPr/>
          <p:nvPr/>
        </p:nvSpPr>
        <p:spPr>
          <a:xfrm>
            <a:off x="347472" y="179222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Age (×2)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7922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number, just empty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17922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middle number: 29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121408"/>
            <a:ext cx="5166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17" name="Text 15"/>
          <p:cNvSpPr/>
          <p:nvPr/>
        </p:nvSpPr>
        <p:spPr>
          <a:xfrm>
            <a:off x="347472" y="218541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Salary (×2)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21854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number, just empty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18688" y="21854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middle number: $62,000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514600"/>
            <a:ext cx="516636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1" name="Text 19"/>
          <p:cNvSpPr/>
          <p:nvPr/>
        </p:nvSpPr>
        <p:spPr>
          <a:xfrm>
            <a:off x="347472" y="257860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written as word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257860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"thirty-eight"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18688" y="25786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real number: 38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07792"/>
            <a:ext cx="5166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5" name="Text 23"/>
          <p:cNvSpPr/>
          <p:nvPr/>
        </p:nvSpPr>
        <p:spPr>
          <a:xfrm>
            <a:off x="347472" y="29718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written as word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37360" y="2971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"sixty five thousand"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18688" y="297180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to real number: 65,000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300984"/>
            <a:ext cx="516636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29" name="Text 27"/>
          <p:cNvSpPr/>
          <p:nvPr/>
        </p:nvSpPr>
        <p:spPr>
          <a:xfrm>
            <a:off x="347472" y="336499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is broken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737360" y="3364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13? That not exist!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18688" y="33649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to correct date: Jan 2019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694176"/>
            <a:ext cx="516636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33" name="Text 31"/>
          <p:cNvSpPr/>
          <p:nvPr/>
        </p:nvSpPr>
        <p:spPr>
          <a:xfrm>
            <a:off x="347472" y="375818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is missing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737360" y="375818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 in that row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18688" y="37581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'Unknown' as name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087368"/>
            <a:ext cx="5166360" cy="365760"/>
          </a:xfrm>
          <a:prstGeom prst="rect">
            <a:avLst/>
          </a:prstGeom>
          <a:solidFill>
            <a:srgbClr val="F8FAFC"/>
          </a:solidFill>
          <a:ln w="381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37" name="Text 35"/>
          <p:cNvSpPr/>
          <p:nvPr/>
        </p:nvSpPr>
        <p:spPr>
          <a:xfrm>
            <a:off x="347472" y="415137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is missing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737360" y="4151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country in that row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218688" y="41513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with most common: NZ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526280"/>
            <a:ext cx="5166360" cy="384048"/>
          </a:xfrm>
          <a:prstGeom prst="rect">
            <a:avLst/>
          </a:prstGeom>
          <a:solidFill>
            <a:srgbClr val="F0FDF4"/>
          </a:solidFill>
          <a:ln w="1016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Z" sz="2000"/>
          </a:p>
        </p:txBody>
      </p:sp>
      <p:sp>
        <p:nvSpPr>
          <p:cNvPr id="41" name="Text 39"/>
          <p:cNvSpPr/>
          <p:nvPr/>
        </p:nvSpPr>
        <p:spPr>
          <a:xfrm>
            <a:off x="365760" y="4526280"/>
            <a:ext cx="49834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r>
              <a:rPr lang="en-US" sz="12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 fix: 10 row become 9 clean row. All defects resolved.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760720" y="9875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Map</a:t>
            </a:r>
            <a:endParaRPr lang="en-US" sz="1600" dirty="0"/>
          </a:p>
        </p:txBody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280160"/>
            <a:ext cx="3182112" cy="246888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5724144" y="3794760"/>
            <a:ext cx="3182112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square = missing value.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 show after clean, almost no red left! ✅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2 /7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Analysis: Pearson's r (Age vs. Salary)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method was used. It give a number between -1 and +1 that say how strong two thing are connected.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5257800" cy="3886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Is One Person. Line Show The Trend.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80160"/>
            <a:ext cx="5166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60720" y="1888236"/>
            <a:ext cx="3154680" cy="877824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8" name="Shape 5"/>
          <p:cNvSpPr/>
          <p:nvPr/>
        </p:nvSpPr>
        <p:spPr>
          <a:xfrm>
            <a:off x="5760720" y="1888236"/>
            <a:ext cx="54864" cy="87782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Z" sz="2000"/>
          </a:p>
        </p:txBody>
      </p:sp>
      <p:sp>
        <p:nvSpPr>
          <p:cNvPr id="9" name="Text 6"/>
          <p:cNvSpPr/>
          <p:nvPr/>
        </p:nvSpPr>
        <p:spPr>
          <a:xfrm>
            <a:off x="5897880" y="19522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Pearson r = 0.636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2357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Indicates a moderate positive linear relationship. As age increases, salary demonstrates a consistent upward tendency.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760720" y="945010"/>
            <a:ext cx="3154680" cy="877824"/>
          </a:xfrm>
          <a:prstGeom prst="rect">
            <a:avLst/>
          </a:prstGeom>
          <a:solidFill>
            <a:srgbClr val="FFF1F2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12" name="Shape 9"/>
          <p:cNvSpPr/>
          <p:nvPr/>
        </p:nvSpPr>
        <p:spPr>
          <a:xfrm>
            <a:off x="5760720" y="945010"/>
            <a:ext cx="54864" cy="877824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000"/>
          </a:p>
        </p:txBody>
      </p:sp>
      <p:sp>
        <p:nvSpPr>
          <p:cNvPr id="13" name="Text 10"/>
          <p:cNvSpPr/>
          <p:nvPr/>
        </p:nvSpPr>
        <p:spPr>
          <a:xfrm>
            <a:off x="5897880" y="100901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What is the red line?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97880" y="129248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line. It go up to the right, mean older age = higher salary. This is the pattern!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760720" y="2862072"/>
            <a:ext cx="3154680" cy="877824"/>
          </a:xfrm>
          <a:prstGeom prst="rect">
            <a:avLst/>
          </a:prstGeom>
          <a:solidFill>
            <a:srgbClr val="FFFBEB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16" name="Shape 13"/>
          <p:cNvSpPr/>
          <p:nvPr/>
        </p:nvSpPr>
        <p:spPr>
          <a:xfrm>
            <a:off x="5760720" y="2862072"/>
            <a:ext cx="54864" cy="87782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Z" sz="2000"/>
          </a:p>
        </p:txBody>
      </p:sp>
      <p:sp>
        <p:nvSpPr>
          <p:cNvPr id="17" name="Text 14"/>
          <p:cNvSpPr/>
          <p:nvPr/>
        </p:nvSpPr>
        <p:spPr>
          <a:xfrm>
            <a:off x="589788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Regression slope = 561.30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97880" y="320954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year of age is associated with an estimated NZD 561 increase in annual salary (intercept = 45,467).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760720" y="3822192"/>
            <a:ext cx="3154680" cy="877824"/>
          </a:xfrm>
          <a:prstGeom prst="rect">
            <a:avLst/>
          </a:prstGeom>
          <a:solidFill>
            <a:srgbClr val="F0FDF4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000"/>
          </a:p>
        </p:txBody>
      </p:sp>
      <p:sp>
        <p:nvSpPr>
          <p:cNvPr id="20" name="Shape 17"/>
          <p:cNvSpPr/>
          <p:nvPr/>
        </p:nvSpPr>
        <p:spPr>
          <a:xfrm>
            <a:off x="5760720" y="3822192"/>
            <a:ext cx="54864" cy="87782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Z" sz="2000"/>
          </a:p>
        </p:txBody>
      </p:sp>
      <p:sp>
        <p:nvSpPr>
          <p:cNvPr id="21" name="Text 18"/>
          <p:cNvSpPr/>
          <p:nvPr/>
        </p:nvSpPr>
        <p:spPr>
          <a:xfrm>
            <a:off x="5897880" y="3886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p-value = 0.065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897880" y="416966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Marginally above the α = 0.05 threshold. The association is directionally consistent. Sample is small: only 9 person. More data would make result stronger.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3 /  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 &amp;  Outlier Detection via IQR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grid show all correlation in one picture. The box plot check if anyone age or salary is way too high or way too 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941832"/>
            <a:ext cx="3749040" cy="3108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Correlation Grid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80160"/>
            <a:ext cx="3383280" cy="2697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1170432" cy="658368"/>
          </a:xfrm>
          <a:prstGeom prst="rect">
            <a:avLst/>
          </a:prstGeom>
          <a:solidFill>
            <a:srgbClr val="0D9488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Text 5"/>
          <p:cNvSpPr/>
          <p:nvPr/>
        </p:nvSpPr>
        <p:spPr>
          <a:xfrm>
            <a:off x="320040" y="412394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0.636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0040" y="44622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value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554480" y="4114800"/>
            <a:ext cx="1170432" cy="658368"/>
          </a:xfrm>
          <a:prstGeom prst="rect">
            <a:avLst/>
          </a:prstGeom>
          <a:solidFill>
            <a:srgbClr val="DC4F5C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1" name="Text 8"/>
          <p:cNvSpPr/>
          <p:nvPr/>
        </p:nvSpPr>
        <p:spPr>
          <a:xfrm>
            <a:off x="1554480" y="412394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554480" y="44622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 test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88920" y="4114800"/>
            <a:ext cx="1170432" cy="658368"/>
          </a:xfrm>
          <a:prstGeom prst="rect">
            <a:avLst/>
          </a:prstGeom>
          <a:solidFill>
            <a:srgbClr val="D97706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4" name="Text 11"/>
          <p:cNvSpPr/>
          <p:nvPr/>
        </p:nvSpPr>
        <p:spPr>
          <a:xfrm>
            <a:off x="2788920" y="412394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Moderate+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788920" y="4462272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343400" y="98755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Plot: Look For Outlier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280160"/>
            <a:ext cx="4526280" cy="2697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97680" y="416052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The box = middle 50% of people. Normal range is here.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4297680" y="436168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The whisker line = how far normal can go.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297680" y="456285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 dot outside = outlier. That person is too extreme.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297680" y="4764024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red dot in this picture! Nobody is outlier. All normal!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Salary Analysis, Z-Score Detection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20040" y="5943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 average salary for each country. Z-score check confirm: no extreme person exist in this data.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Per Country + Outlier Check (Z = # of standard deviations from the mean)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257800" cy="27980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4206240"/>
            <a:ext cx="5349240" cy="594360"/>
          </a:xfrm>
          <a:prstGeom prst="rect">
            <a:avLst/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NZ" sz="2400"/>
          </a:p>
        </p:txBody>
      </p:sp>
      <p:sp>
        <p:nvSpPr>
          <p:cNvPr id="8" name="Text 5"/>
          <p:cNvSpPr/>
          <p:nvPr/>
        </p:nvSpPr>
        <p:spPr>
          <a:xfrm>
            <a:off x="384048" y="4206240"/>
            <a:ext cx="51206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Note: This data only have 9 person. That is very small number! p-value = 0.065 is little bit above 0.05. So the finding is good but with more data, the result would be much stronger.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52160" y="941832"/>
            <a:ext cx="3063240" cy="886968"/>
          </a:xfrm>
          <a:prstGeom prst="rect">
            <a:avLst/>
          </a:prstGeom>
          <a:solidFill>
            <a:srgbClr val="F0FDFA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0" name="Shape 7"/>
          <p:cNvSpPr/>
          <p:nvPr/>
        </p:nvSpPr>
        <p:spPr>
          <a:xfrm>
            <a:off x="5852160" y="941832"/>
            <a:ext cx="54864" cy="88696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1" name="Shape 8"/>
          <p:cNvSpPr/>
          <p:nvPr/>
        </p:nvSpPr>
        <p:spPr>
          <a:xfrm>
            <a:off x="5925312" y="116128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2" name="Text 9"/>
          <p:cNvSpPr/>
          <p:nvPr/>
        </p:nvSpPr>
        <p:spPr>
          <a:xfrm>
            <a:off x="5925312" y="1161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F1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355080" y="10058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Connection Found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55080" y="128930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0.636. Older employee tend to earn more money. Make sense, more experience, higher pay!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52160" y="1901952"/>
            <a:ext cx="3063240" cy="886968"/>
          </a:xfrm>
          <a:prstGeom prst="rect">
            <a:avLst/>
          </a:prstGeom>
          <a:solidFill>
            <a:srgbClr val="FFF1F2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16" name="Shape 13"/>
          <p:cNvSpPr/>
          <p:nvPr/>
        </p:nvSpPr>
        <p:spPr>
          <a:xfrm>
            <a:off x="5852160" y="1901952"/>
            <a:ext cx="54864" cy="886968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7" name="Shape 14"/>
          <p:cNvSpPr/>
          <p:nvPr/>
        </p:nvSpPr>
        <p:spPr>
          <a:xfrm>
            <a:off x="5925312" y="2121408"/>
            <a:ext cx="347472" cy="34747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8" name="Text 15"/>
          <p:cNvSpPr/>
          <p:nvPr/>
        </p:nvSpPr>
        <p:spPr>
          <a:xfrm>
            <a:off x="5925312" y="21214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355080" y="19659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Pay The Most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355080" y="22494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= $67,000. NZ = $61,667. AU = $59,000. Australia is highest in this data.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852160" y="2862072"/>
            <a:ext cx="3063240" cy="886968"/>
          </a:xfrm>
          <a:prstGeom prst="rect">
            <a:avLst/>
          </a:prstGeom>
          <a:solidFill>
            <a:srgbClr val="FFFBEB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2" name="Shape 19"/>
          <p:cNvSpPr/>
          <p:nvPr/>
        </p:nvSpPr>
        <p:spPr>
          <a:xfrm>
            <a:off x="5852160" y="2862072"/>
            <a:ext cx="54864" cy="8869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3" name="Shape 20"/>
          <p:cNvSpPr/>
          <p:nvPr/>
        </p:nvSpPr>
        <p:spPr>
          <a:xfrm>
            <a:off x="5925312" y="3081528"/>
            <a:ext cx="347472" cy="347472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4" name="Text 21"/>
          <p:cNvSpPr/>
          <p:nvPr/>
        </p:nvSpPr>
        <p:spPr>
          <a:xfrm>
            <a:off x="5925312" y="3081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F3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355080" y="2926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Problem Was Fixed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55080" y="320954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wrong date, missing value, text-as-number, all was clean before analysis.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852160" y="3822192"/>
            <a:ext cx="3063240" cy="886968"/>
          </a:xfrm>
          <a:prstGeom prst="rect">
            <a:avLst/>
          </a:prstGeom>
          <a:solidFill>
            <a:srgbClr val="F0FDF4"/>
          </a:solidFill>
          <a:ln w="508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 sz="2400"/>
          </a:p>
        </p:txBody>
      </p:sp>
      <p:sp>
        <p:nvSpPr>
          <p:cNvPr id="28" name="Shape 25"/>
          <p:cNvSpPr/>
          <p:nvPr/>
        </p:nvSpPr>
        <p:spPr>
          <a:xfrm>
            <a:off x="5852160" y="3822192"/>
            <a:ext cx="54864" cy="88696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29" name="Shape 26"/>
          <p:cNvSpPr/>
          <p:nvPr/>
        </p:nvSpPr>
        <p:spPr>
          <a:xfrm>
            <a:off x="5925312" y="4041648"/>
            <a:ext cx="347472" cy="347472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0" name="Text 27"/>
          <p:cNvSpPr/>
          <p:nvPr/>
        </p:nvSpPr>
        <p:spPr>
          <a:xfrm>
            <a:off x="5925312" y="40416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355080" y="3886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Outlier Found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55080" y="416966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IQR method and Z-score method say: nobody is extreme. All age and salary is normal.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5 / 7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17BB0-8F53-D136-C5E2-23D68AC3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D7F569A-75CE-F1E7-3FDA-A99DF9CEFACF}"/>
              </a:ext>
            </a:extLst>
          </p:cNvPr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6BD45-8835-C683-977B-669B8BD59585}"/>
              </a:ext>
            </a:extLst>
          </p:cNvPr>
          <p:cNvSpPr/>
          <p:nvPr/>
        </p:nvSpPr>
        <p:spPr>
          <a:xfrm>
            <a:off x="3438144" y="0"/>
            <a:ext cx="146304" cy="5143500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356AAC-6C2B-AB8C-750B-D858E40E3031}"/>
              </a:ext>
            </a:extLst>
          </p:cNvPr>
          <p:cNvSpPr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90F27AA-6F12-FB96-7EA9-E2C5BBB22423}"/>
              </a:ext>
            </a:extLst>
          </p:cNvPr>
          <p:cNvSpPr/>
          <p:nvPr/>
        </p:nvSpPr>
        <p:spPr>
          <a:xfrm>
            <a:off x="228600" y="1280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226461-0D9E-31ED-9332-1AD09E8CB3BA}"/>
              </a:ext>
            </a:extLst>
          </p:cNvPr>
          <p:cNvSpPr/>
          <p:nvPr/>
        </p:nvSpPr>
        <p:spPr>
          <a:xfrm>
            <a:off x="685800" y="2300288"/>
            <a:ext cx="2148840" cy="36576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5C7D77B-2286-184C-DECD-E29C26FE34D8}"/>
              </a:ext>
            </a:extLst>
          </p:cNvPr>
          <p:cNvSpPr/>
          <p:nvPr/>
        </p:nvSpPr>
        <p:spPr>
          <a:xfrm>
            <a:off x="228600" y="4681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Benjelyn Reves Patiag  ·  29 April 2026</a:t>
            </a:r>
            <a:endParaRPr lang="en-US" sz="105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4C752E5-5702-64B6-48F9-A6B9FBAAC080}"/>
              </a:ext>
            </a:extLst>
          </p:cNvPr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6 / 7</a:t>
            </a:r>
            <a:endParaRPr lang="en-US" sz="105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4DF2BFF-62CC-2010-F96B-028C7E404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1104" y="132767"/>
            <a:ext cx="467563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Clean data = better and more </a:t>
            </a:r>
            <a:r>
              <a:rPr lang="en-NZ" sz="2800" dirty="0"/>
              <a:t>reliable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outcome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↑ </a:t>
            </a:r>
            <a:r>
              <a:rPr lang="en-US" altLang="en-US" sz="2800" dirty="0"/>
              <a:t>and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Salary ↑ (clear positive trend)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outliers</a:t>
            </a:r>
            <a:r>
              <a:rPr lang="en-US" altLang="en-US" sz="2800" dirty="0"/>
              <a:t> means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 is stable and normal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Australia highest pay, but sample is small </a:t>
            </a:r>
            <a:r>
              <a:rPr lang="en-NZ" sz="2400" dirty="0"/>
              <a:t>so results are limited.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Shape 20">
            <a:extLst>
              <a:ext uri="{FF2B5EF4-FFF2-40B4-BE49-F238E27FC236}">
                <a16:creationId xmlns:a16="http://schemas.microsoft.com/office/drawing/2014/main" id="{740BC6C8-E770-D377-B8A3-07DA658F3031}"/>
              </a:ext>
            </a:extLst>
          </p:cNvPr>
          <p:cNvSpPr/>
          <p:nvPr/>
        </p:nvSpPr>
        <p:spPr>
          <a:xfrm>
            <a:off x="3997789" y="339344"/>
            <a:ext cx="206587" cy="23571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9" name="Shape 20">
            <a:extLst>
              <a:ext uri="{FF2B5EF4-FFF2-40B4-BE49-F238E27FC236}">
                <a16:creationId xmlns:a16="http://schemas.microsoft.com/office/drawing/2014/main" id="{9D064F3A-E5F4-35EA-43F9-0686153ABDAF}"/>
              </a:ext>
            </a:extLst>
          </p:cNvPr>
          <p:cNvSpPr/>
          <p:nvPr/>
        </p:nvSpPr>
        <p:spPr>
          <a:xfrm>
            <a:off x="3997790" y="1575477"/>
            <a:ext cx="206587" cy="23571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0" name="Shape 20">
            <a:extLst>
              <a:ext uri="{FF2B5EF4-FFF2-40B4-BE49-F238E27FC236}">
                <a16:creationId xmlns:a16="http://schemas.microsoft.com/office/drawing/2014/main" id="{C5B169C8-5597-5DCF-2AFD-7303494D189F}"/>
              </a:ext>
            </a:extLst>
          </p:cNvPr>
          <p:cNvSpPr/>
          <p:nvPr/>
        </p:nvSpPr>
        <p:spPr>
          <a:xfrm>
            <a:off x="3997790" y="2863088"/>
            <a:ext cx="206587" cy="23571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3" name="Shape 20">
            <a:extLst>
              <a:ext uri="{FF2B5EF4-FFF2-40B4-BE49-F238E27FC236}">
                <a16:creationId xmlns:a16="http://schemas.microsoft.com/office/drawing/2014/main" id="{8736EF9F-C254-7297-8D81-2664D10D2F12}"/>
              </a:ext>
            </a:extLst>
          </p:cNvPr>
          <p:cNvSpPr/>
          <p:nvPr/>
        </p:nvSpPr>
        <p:spPr>
          <a:xfrm>
            <a:off x="3999312" y="4150699"/>
            <a:ext cx="206587" cy="235712"/>
          </a:xfrm>
          <a:prstGeom prst="ellipse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B1FD038-94E1-3ACF-E250-362D89AFD927}"/>
              </a:ext>
            </a:extLst>
          </p:cNvPr>
          <p:cNvSpPr/>
          <p:nvPr/>
        </p:nvSpPr>
        <p:spPr>
          <a:xfrm>
            <a:off x="228600" y="2834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 messy_dataset_Mukesh.csv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04198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13401-FB01-5F9B-56C8-9A65356A3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B8B83C-3C1F-72FD-C9BC-A32910451364}"/>
              </a:ext>
            </a:extLst>
          </p:cNvPr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B679B7B-FC68-6464-D1A8-C132A1D4B2A3}"/>
              </a:ext>
            </a:extLst>
          </p:cNvPr>
          <p:cNvSpPr/>
          <p:nvPr/>
        </p:nvSpPr>
        <p:spPr>
          <a:xfrm>
            <a:off x="3438144" y="0"/>
            <a:ext cx="146304" cy="5143500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A4D46A9-ABF6-3E7A-8AC3-B1E2F9D38336}"/>
              </a:ext>
            </a:extLst>
          </p:cNvPr>
          <p:cNvSpPr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2A51F31-CBF6-8A92-C331-A8F60FC11A15}"/>
              </a:ext>
            </a:extLst>
          </p:cNvPr>
          <p:cNvSpPr/>
          <p:nvPr/>
        </p:nvSpPr>
        <p:spPr>
          <a:xfrm>
            <a:off x="228600" y="128016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</a:t>
            </a:r>
            <a:endParaRPr lang="en-US" sz="2800" dirty="0"/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2800" dirty="0"/>
          </a:p>
          <a:p>
            <a:pPr algn="ctr"/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2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9CD522-378E-7B3E-FCFD-4703C1563D5A}"/>
              </a:ext>
            </a:extLst>
          </p:cNvPr>
          <p:cNvSpPr/>
          <p:nvPr/>
        </p:nvSpPr>
        <p:spPr>
          <a:xfrm>
            <a:off x="685800" y="2724912"/>
            <a:ext cx="2148840" cy="36576"/>
          </a:xfrm>
          <a:prstGeom prst="rect">
            <a:avLst/>
          </a:prstGeom>
          <a:solidFill>
            <a:srgbClr val="DC4F5C"/>
          </a:solidFill>
          <a:ln/>
        </p:spPr>
        <p:txBody>
          <a:bodyPr/>
          <a:lstStyle/>
          <a:p>
            <a:endParaRPr lang="en-NZ"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A1DB60-850E-CC9E-1231-672D8EE9B605}"/>
              </a:ext>
            </a:extLst>
          </p:cNvPr>
          <p:cNvSpPr/>
          <p:nvPr/>
        </p:nvSpPr>
        <p:spPr>
          <a:xfrm>
            <a:off x="228600" y="468172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Benjelyn Reves Patiag  ·  29 April 2026</a:t>
            </a:r>
            <a:endParaRPr lang="en-US" sz="10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225EC4-5932-79F7-8CE8-0F66F347A324}"/>
              </a:ext>
            </a:extLst>
          </p:cNvPr>
          <p:cNvSpPr/>
          <p:nvPr/>
        </p:nvSpPr>
        <p:spPr>
          <a:xfrm>
            <a:off x="3840480" y="384047"/>
            <a:ext cx="5029200" cy="3876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F2937"/>
                </a:solidFill>
                <a:latin typeface="Freestyle Script" panose="030804020302050B0404" pitchFamily="66" charset="0"/>
                <a:ea typeface="Calibri" pitchFamily="34" charset="-122"/>
                <a:cs typeface="Calibri" pitchFamily="34" charset="-120"/>
              </a:rPr>
              <a:t>Thank  you!</a:t>
            </a:r>
            <a:endParaRPr lang="en-US" sz="7200" dirty="0">
              <a:latin typeface="Freestyle Script" panose="030804020302050B0404" pitchFamily="66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80ECDBD5-2780-1CDA-AB84-4B9D6945B904}"/>
              </a:ext>
            </a:extLst>
          </p:cNvPr>
          <p:cNvSpPr/>
          <p:nvPr/>
        </p:nvSpPr>
        <p:spPr>
          <a:xfrm>
            <a:off x="8503920" y="4892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B7280"/>
                </a:solidFill>
              </a:rPr>
              <a:t>7 / 7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236325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894</Words>
  <Application>Microsoft Office PowerPoint</Application>
  <PresentationFormat>On-screen Show (16:9)</PresentationFormat>
  <Paragraphs>131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Freestyle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Messy Data — Simple English Report</dc:title>
  <dc:subject>PptxGenJS Presentation</dc:subject>
  <dc:creator>PptxGenJS</dc:creator>
  <cp:lastModifiedBy>BENJELYN Patiag</cp:lastModifiedBy>
  <cp:revision>40</cp:revision>
  <dcterms:created xsi:type="dcterms:W3CDTF">2026-04-28T04:45:52Z</dcterms:created>
  <dcterms:modified xsi:type="dcterms:W3CDTF">2026-04-29T00:56:45Z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2026-04-28T04:51:14Z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08ef67d3-b239-4ed0-b6f6-b451986b57f0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
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6C0F2"/>
    <a:srgbClr val="1B4F7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36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1E293B"/>
                </a:solidFill>
                <a:latin typeface="Arial"/>
              </a:rPr>
              <a:t>Average PM2.5 by Station (µg/m³)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PM2.5</c:v>
                </c:pt>
              </c:strCache>
            </c:strRef>
          </c:tx>
          <c:spPr>
            <a:solidFill>
              <a:srgbClr val="DC2626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4D30-4F01-8E8E-F46FFB7BB174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4D30-4F01-8E8E-F46FFB7BB174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4D30-4F01-8E8E-F46FFB7BB174}"/>
              </c:ext>
            </c:extLst>
          </c:dPt>
          <c:dPt>
            <c:idx val="3"/>
            <c:invertIfNegative val="0"/>
            <c:bubble3D val="0"/>
            <c:spPr>
              <a:solidFill>
                <a:srgbClr val="1D4ED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4D30-4F01-8E8E-F46FFB7BB174}"/>
              </c:ext>
            </c:extLst>
          </c:dPt>
          <c:dPt>
            <c:idx val="4"/>
            <c:invertIfNegative val="0"/>
            <c:bubble3D val="0"/>
            <c:spPr>
              <a:solidFill>
                <a:srgbClr val="1D4ED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4D30-4F01-8E8E-F46FFB7BB174}"/>
              </c:ext>
            </c:extLst>
          </c:dPt>
          <c:dPt>
            <c:idx val="5"/>
            <c:invertIfNegative val="0"/>
            <c:bubble3D val="0"/>
            <c:spPr>
              <a:solidFill>
                <a:srgbClr val="1D4ED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4D30-4F01-8E8E-F46FFB7BB174}"/>
              </c:ext>
            </c:extLst>
          </c:dPt>
          <c:dPt>
            <c:idx val="6"/>
            <c:invertIfNegative val="0"/>
            <c:bubble3D val="0"/>
            <c:spPr>
              <a:solidFill>
                <a:srgbClr val="1D4ED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4D30-4F01-8E8E-F46FFB7BB174}"/>
              </c:ext>
            </c:extLst>
          </c:dPt>
          <c:dPt>
            <c:idx val="7"/>
            <c:invertIfNegative val="0"/>
            <c:bubble3D val="0"/>
            <c:spPr>
              <a:solidFill>
                <a:srgbClr val="1D4ED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4D30-4F01-8E8E-F46FFB7BB174}"/>
              </c:ext>
            </c:extLst>
          </c:dPt>
          <c:dPt>
            <c:idx val="8"/>
            <c:invertIfNegative val="0"/>
            <c:bubble3D val="0"/>
            <c:spPr>
              <a:solidFill>
                <a:srgbClr val="05966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4D30-4F01-8E8E-F46FFB7BB174}"/>
              </c:ext>
            </c:extLst>
          </c:dPt>
          <c:dPt>
            <c:idx val="9"/>
            <c:invertIfNegative val="0"/>
            <c:bubble3D val="0"/>
            <c:spPr>
              <a:solidFill>
                <a:srgbClr val="05966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3-4D30-4F01-8E8E-F46FFB7BB174}"/>
              </c:ext>
            </c:extLst>
          </c:dPt>
          <c:dPt>
            <c:idx val="10"/>
            <c:invertIfNegative val="0"/>
            <c:bubble3D val="0"/>
            <c:spPr>
              <a:solidFill>
                <a:srgbClr val="05966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5-4D30-4F01-8E8E-F46FFB7BB174}"/>
              </c:ext>
            </c:extLst>
          </c:dPt>
          <c:dPt>
            <c:idx val="11"/>
            <c:invertIfNegative val="0"/>
            <c:bubble3D val="0"/>
            <c:spPr>
              <a:solidFill>
                <a:srgbClr val="05966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7-4D30-4F01-8E8E-F46FFB7BB174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Dongsi</c:v>
                </c:pt>
                <c:pt idx="1">
                  <c:v>Wanshouxig.</c:v>
                </c:pt>
                <c:pt idx="2">
                  <c:v>Nongzhang.</c:v>
                </c:pt>
                <c:pt idx="3">
                  <c:v>Gucheng</c:v>
                </c:pt>
                <c:pt idx="4">
                  <c:v>Wanliu</c:v>
                </c:pt>
                <c:pt idx="5">
                  <c:v>Guanyuan</c:v>
                </c:pt>
                <c:pt idx="6">
                  <c:v>Aotizhong.</c:v>
                </c:pt>
                <c:pt idx="7">
                  <c:v>Tiantan</c:v>
                </c:pt>
                <c:pt idx="8">
                  <c:v>Shunyi</c:v>
                </c:pt>
                <c:pt idx="9">
                  <c:v>Changping</c:v>
                </c:pt>
                <c:pt idx="10">
                  <c:v>Huairou</c:v>
                </c:pt>
                <c:pt idx="11">
                  <c:v>Dingling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86.01</c:v>
                </c:pt>
                <c:pt idx="1">
                  <c:v>84.89</c:v>
                </c:pt>
                <c:pt idx="2">
                  <c:v>84.72</c:v>
                </c:pt>
                <c:pt idx="3">
                  <c:v>83.68</c:v>
                </c:pt>
                <c:pt idx="4">
                  <c:v>83.33</c:v>
                </c:pt>
                <c:pt idx="5">
                  <c:v>82.85</c:v>
                </c:pt>
                <c:pt idx="6">
                  <c:v>82.67</c:v>
                </c:pt>
                <c:pt idx="7">
                  <c:v>82.1</c:v>
                </c:pt>
                <c:pt idx="8">
                  <c:v>78.989999999999995</c:v>
                </c:pt>
                <c:pt idx="9">
                  <c:v>71.180000000000007</c:v>
                </c:pt>
                <c:pt idx="10">
                  <c:v>69.760000000000005</c:v>
                </c:pt>
                <c:pt idx="11">
                  <c:v>66.19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8-4D30-4F01-8E8E-F46FFB7BB17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37708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775192-F8D4-E983-236F-4426A1ECA0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082339-C72D-D645-8273-C0D141BAD7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CC4A8C-D781-B808-2365-DDC3105292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42F32D-BB09-1738-9232-323B4CFE83C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593118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743D8A-8563-9084-6C85-DB1F1AB823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0C7B51-B247-EE3D-700B-D539C09C3C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D6B7E9-63D4-5302-B9EF-4458149E5C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0E379F-EE5D-8AB0-B230-D365DD49749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23915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B4F72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3" name="Shape 1"/>
          <p:cNvSpPr/>
          <p:nvPr/>
        </p:nvSpPr>
        <p:spPr>
          <a:xfrm>
            <a:off x="73152" y="0"/>
            <a:ext cx="9070848" cy="54864"/>
          </a:xfrm>
          <a:prstGeom prst="rect">
            <a:avLst/>
          </a:prstGeom>
          <a:solidFill>
            <a:srgbClr val="F6C0F2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6" name="Text 4"/>
          <p:cNvSpPr/>
          <p:nvPr/>
        </p:nvSpPr>
        <p:spPr>
          <a:xfrm>
            <a:off x="457200" y="173736"/>
            <a:ext cx="836676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Beijing Air Quality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457200" y="1110867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Data Analysis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 flipV="1">
            <a:off x="457199" y="1751984"/>
            <a:ext cx="8563583" cy="457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9" name="Shape 7"/>
          <p:cNvSpPr/>
          <p:nvPr/>
        </p:nvSpPr>
        <p:spPr>
          <a:xfrm>
            <a:off x="457199" y="1971440"/>
            <a:ext cx="2331720" cy="1005840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NZ"/>
          </a:p>
        </p:txBody>
      </p:sp>
      <p:sp>
        <p:nvSpPr>
          <p:cNvPr id="10" name="Text 8"/>
          <p:cNvSpPr/>
          <p:nvPr/>
        </p:nvSpPr>
        <p:spPr>
          <a:xfrm>
            <a:off x="548640" y="1980584"/>
            <a:ext cx="45720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05840" y="199887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420,768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1005840" y="2437784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944368" y="1953152"/>
            <a:ext cx="2331720" cy="1005840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NZ"/>
          </a:p>
        </p:txBody>
      </p:sp>
      <p:sp>
        <p:nvSpPr>
          <p:cNvPr id="14" name="Text 12"/>
          <p:cNvSpPr/>
          <p:nvPr/>
        </p:nvSpPr>
        <p:spPr>
          <a:xfrm>
            <a:off x="3035808" y="1980584"/>
            <a:ext cx="45720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📍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493008" y="199887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3493008" y="2437784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431536" y="1953152"/>
            <a:ext cx="2331720" cy="1005840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NZ"/>
          </a:p>
        </p:txBody>
      </p:sp>
      <p:sp>
        <p:nvSpPr>
          <p:cNvPr id="18" name="Text 16"/>
          <p:cNvSpPr/>
          <p:nvPr/>
        </p:nvSpPr>
        <p:spPr>
          <a:xfrm>
            <a:off x="5522976" y="1980584"/>
            <a:ext cx="45720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📅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980176" y="199887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2013–2017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5980176" y="2437784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57200" y="3023000"/>
            <a:ext cx="862843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from 12 air monitoring stations around Beijing. Each row is one hour of measurement for pollution (PM2.5, PM10, SO2, NO2, CO, O3) and weather (temperature, wind, pressure).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3895344"/>
            <a:ext cx="8275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NZ" sz="1100" b="1" i="1" dirty="0">
                <a:solidFill>
                  <a:srgbClr val="55606E"/>
                </a:solidFill>
              </a:rPr>
              <a:t>Prepared by: Benjelyn Reves Patiag </a:t>
            </a:r>
          </a:p>
          <a:p>
            <a:r>
              <a:rPr lang="en-NZ" sz="1100" b="1" i="1" dirty="0">
                <a:solidFill>
                  <a:srgbClr val="55606E"/>
                </a:solidFill>
              </a:rPr>
              <a:t>Week 1 · Activity 2</a:t>
            </a:r>
          </a:p>
          <a:p>
            <a:r>
              <a:rPr lang="en-NZ" sz="1100" i="1" dirty="0">
                <a:solidFill>
                  <a:srgbClr val="55606E"/>
                </a:solidFill>
              </a:rPr>
              <a:t>Date: 21 Apr 2026</a:t>
            </a:r>
          </a:p>
          <a:p>
            <a:endParaRPr lang="en-NZ" sz="1100" b="1" i="1" dirty="0">
              <a:solidFill>
                <a:srgbClr val="55606E"/>
              </a:solidFill>
            </a:endParaRPr>
          </a:p>
          <a:p>
            <a:r>
              <a:rPr lang="en-NZ" sz="1100" b="1" i="1" dirty="0">
                <a:solidFill>
                  <a:srgbClr val="55606E"/>
                </a:solidFill>
              </a:rPr>
              <a:t>Subject: MSE803 Data Analytics</a:t>
            </a:r>
          </a:p>
          <a:p>
            <a:r>
              <a:rPr lang="en-NZ" sz="1100" b="1" i="1" dirty="0">
                <a:solidFill>
                  <a:srgbClr val="55606E"/>
                </a:solidFill>
              </a:rPr>
              <a:t>Professor:  Dr. Mohammad </a:t>
            </a:r>
            <a:r>
              <a:rPr lang="en-NZ" sz="1100" b="1" i="1" dirty="0" err="1">
                <a:solidFill>
                  <a:srgbClr val="55606E"/>
                </a:solidFill>
              </a:rPr>
              <a:t>Norouzifard</a:t>
            </a:r>
            <a:endParaRPr lang="en-NZ" sz="1100" b="1" i="1" dirty="0">
              <a:solidFill>
                <a:srgbClr val="55606E"/>
              </a:solidFill>
            </a:endParaRPr>
          </a:p>
        </p:txBody>
      </p:sp>
      <p:sp>
        <p:nvSpPr>
          <p:cNvPr id="23" name="Shape 2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1B4F72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24" name="Shape 6">
            <a:extLst>
              <a:ext uri="{FF2B5EF4-FFF2-40B4-BE49-F238E27FC236}">
                <a16:creationId xmlns:a16="http://schemas.microsoft.com/office/drawing/2014/main" id="{DEA7317D-BC8C-E915-6E95-2A71838EA767}"/>
              </a:ext>
            </a:extLst>
          </p:cNvPr>
          <p:cNvSpPr/>
          <p:nvPr/>
        </p:nvSpPr>
        <p:spPr>
          <a:xfrm flipV="1">
            <a:off x="457200" y="3608216"/>
            <a:ext cx="8563583" cy="457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7756BDD8-4AB1-43DE-232F-C5BC24BA38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2460" y="286795"/>
            <a:ext cx="1129076" cy="1060570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D1522C00-20B2-6696-C567-E6E4DDA3BF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66084" y="3701475"/>
            <a:ext cx="1054699" cy="1263717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914400"/>
          </a:xfrm>
          <a:prstGeom prst="rect">
            <a:avLst/>
          </a:prstGeom>
          <a:solidFill>
            <a:srgbClr val="1B4F72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4" name="Text 2"/>
          <p:cNvSpPr/>
          <p:nvPr/>
        </p:nvSpPr>
        <p:spPr>
          <a:xfrm>
            <a:off x="228600" y="7315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&amp; Basic Statistics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28600" y="56692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 &amp; Task 3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74320" y="105156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Data Cleaning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274320" y="1417320"/>
            <a:ext cx="40233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missing values in 11 columns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 had most missing: 20,701 rows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Replaced number gaps with column mean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rows still missing (text columns)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dataset: 418,946 rows ✓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480560" y="1005840"/>
            <a:ext cx="36576" cy="3657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NZ" sz="2400"/>
          </a:p>
        </p:txBody>
      </p:sp>
      <p:sp>
        <p:nvSpPr>
          <p:cNvPr id="9" name="Text 7"/>
          <p:cNvSpPr/>
          <p:nvPr/>
        </p:nvSpPr>
        <p:spPr>
          <a:xfrm>
            <a:off x="4663440" y="105156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Key Statistics</a:t>
            </a:r>
            <a:endParaRPr lang="en-US" sz="15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463040"/>
          <a:ext cx="4206240" cy="2432304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Pollutant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Std Dev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PM2.5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79.71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79.94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PM10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104.54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91.05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15.84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21.44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50.59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34.60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1228.96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900.0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1129.81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57.51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55.81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274320" y="3383280"/>
            <a:ext cx="4023360" cy="1371600"/>
          </a:xfrm>
          <a:prstGeom prst="rect">
            <a:avLst/>
          </a:prstGeom>
          <a:solidFill>
            <a:srgbClr val="DBEAFE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NZ" sz="2400"/>
          </a:p>
        </p:txBody>
      </p:sp>
      <p:sp>
        <p:nvSpPr>
          <p:cNvPr id="12" name="Text 9"/>
          <p:cNvSpPr/>
          <p:nvPr/>
        </p:nvSpPr>
        <p:spPr>
          <a:xfrm>
            <a:off x="411480" y="345643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Key Insight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11480" y="3749040"/>
            <a:ext cx="3749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PM2.5 mean (79.71) is much higher than median (57.0). This mean few very high pollution day pull up the average. WHO daily guideline is only 15 µg/m³, Beijing is well above safe level.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1B4F72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914400"/>
          </a:xfrm>
          <a:prstGeom prst="rect">
            <a:avLst/>
          </a:prstGeom>
          <a:solidFill>
            <a:srgbClr val="F6C0F2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4" name="Text 2"/>
          <p:cNvSpPr/>
          <p:nvPr/>
        </p:nvSpPr>
        <p:spPr>
          <a:xfrm>
            <a:off x="228600" y="7315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Filtering by Station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28600" y="56692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4: Which area in Beijing have most pollution?</a:t>
            </a:r>
            <a:endParaRPr lang="en-US" sz="12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182880" y="960120"/>
          <a:ext cx="557784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/>
          <p:cNvSpPr/>
          <p:nvPr/>
        </p:nvSpPr>
        <p:spPr>
          <a:xfrm>
            <a:off x="5943600" y="100584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Station Type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943600" y="1481328"/>
            <a:ext cx="274320" cy="25603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9" name="Text 6"/>
          <p:cNvSpPr/>
          <p:nvPr/>
        </p:nvSpPr>
        <p:spPr>
          <a:xfrm>
            <a:off x="6309360" y="1463040"/>
            <a:ext cx="2560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pollution (city centre)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943600" y="1984248"/>
            <a:ext cx="274320" cy="25603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11" name="Text 8"/>
          <p:cNvSpPr/>
          <p:nvPr/>
        </p:nvSpPr>
        <p:spPr>
          <a:xfrm>
            <a:off x="6309360" y="1965960"/>
            <a:ext cx="2560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(urban area)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943600" y="2487168"/>
            <a:ext cx="274320" cy="25603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13" name="Text 10"/>
          <p:cNvSpPr/>
          <p:nvPr/>
        </p:nvSpPr>
        <p:spPr>
          <a:xfrm>
            <a:off x="6309360" y="2468880"/>
            <a:ext cx="2560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(suburb / rural)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943600" y="2377440"/>
            <a:ext cx="2971800" cy="2240280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15" name="Text 12"/>
          <p:cNvSpPr/>
          <p:nvPr/>
        </p:nvSpPr>
        <p:spPr>
          <a:xfrm>
            <a:off x="6080760" y="246888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What This Mean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080760" y="2834640"/>
            <a:ext cx="26974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• Dongsi (city centre) have highest average PM2.5: 86.01
• Dingling (suburb) have lowest: 66.19
• Difference is ~30% , city area significantly more polluted
• More cars and factories in city centre = more pollution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F6C0F2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9144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4" name="Text 2"/>
          <p:cNvSpPr/>
          <p:nvPr/>
        </p:nvSpPr>
        <p:spPr>
          <a:xfrm>
            <a:off x="228600" y="7315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Visualization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28600" y="56692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5: Seeing the data as pictures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64592" y="960120"/>
            <a:ext cx="2852928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NZ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19456" y="1005840"/>
            <a:ext cx="2743200" cy="20116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4592" y="3383280"/>
            <a:ext cx="2852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Histogram of PM2.5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64592" y="3703320"/>
            <a:ext cx="28529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hours have low-medium PM2.5. But some very bad days push to 999 µg/m³.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163824" y="960120"/>
            <a:ext cx="2852928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NZ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218688" y="1005840"/>
            <a:ext cx="2743200" cy="20116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163824" y="3383280"/>
            <a:ext cx="2852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PM2.5 Over Time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3163824" y="3703320"/>
            <a:ext cx="28529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Pollution spikes every winter. Summer months are cleaner.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163056" y="960120"/>
            <a:ext cx="2852928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NZ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217920" y="1005840"/>
            <a:ext cx="2743200" cy="201168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163056" y="3383280"/>
            <a:ext cx="28529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Boxplot of Pollutants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6163056" y="3703320"/>
            <a:ext cx="28529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PM10 has widest spread. SO2 is most stable. Many outliers visible.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914400"/>
          </a:xfrm>
          <a:prstGeom prst="rect">
            <a:avLst/>
          </a:prstGeom>
          <a:solidFill>
            <a:srgbClr val="1B4F72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4" name="Text 2"/>
          <p:cNvSpPr/>
          <p:nvPr/>
        </p:nvSpPr>
        <p:spPr>
          <a:xfrm>
            <a:off x="228600" y="7315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Analysis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28600" y="56692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6: Which things are connected to PM2.5?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82880" y="960120"/>
            <a:ext cx="3886200" cy="3310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NZ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28600" y="1005840"/>
            <a:ext cx="3840480" cy="31546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343400" y="987552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What Most Affect PM2.5?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343400" y="1444752"/>
            <a:ext cx="4526280" cy="365760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10" name="Text 7"/>
          <p:cNvSpPr/>
          <p:nvPr/>
        </p:nvSpPr>
        <p:spPr>
          <a:xfrm>
            <a:off x="4434840" y="1481328"/>
            <a:ext cx="1005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PM10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349240" y="1481328"/>
            <a:ext cx="914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+0.879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263640" y="1481328"/>
            <a:ext cx="2468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strong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343400" y="1874520"/>
            <a:ext cx="452628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14" name="Text 11"/>
          <p:cNvSpPr/>
          <p:nvPr/>
        </p:nvSpPr>
        <p:spPr>
          <a:xfrm>
            <a:off x="4434840" y="1911096"/>
            <a:ext cx="1005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349240" y="1911096"/>
            <a:ext cx="914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+0.769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263640" y="1911096"/>
            <a:ext cx="2468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343400" y="2304288"/>
            <a:ext cx="4526280" cy="365760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18" name="Text 15"/>
          <p:cNvSpPr/>
          <p:nvPr/>
        </p:nvSpPr>
        <p:spPr>
          <a:xfrm>
            <a:off x="4434840" y="2340864"/>
            <a:ext cx="1005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NO2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5349240" y="2340864"/>
            <a:ext cx="914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A8A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+0.658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6263640" y="2340864"/>
            <a:ext cx="2468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343400" y="2734056"/>
            <a:ext cx="452628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22" name="Text 19"/>
          <p:cNvSpPr/>
          <p:nvPr/>
        </p:nvSpPr>
        <p:spPr>
          <a:xfrm>
            <a:off x="4434840" y="2770632"/>
            <a:ext cx="1005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SO2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5349240" y="2770632"/>
            <a:ext cx="914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+0.478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6263640" y="2770632"/>
            <a:ext cx="2468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343400" y="3163824"/>
            <a:ext cx="4526280" cy="365760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26" name="Text 23"/>
          <p:cNvSpPr/>
          <p:nvPr/>
        </p:nvSpPr>
        <p:spPr>
          <a:xfrm>
            <a:off x="4434840" y="3200400"/>
            <a:ext cx="1005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WSPM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5349240" y="3200400"/>
            <a:ext cx="914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-0.269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6263640" y="3200400"/>
            <a:ext cx="2468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negative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343400" y="3593592"/>
            <a:ext cx="452628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30" name="Text 27"/>
          <p:cNvSpPr/>
          <p:nvPr/>
        </p:nvSpPr>
        <p:spPr>
          <a:xfrm>
            <a:off x="4434840" y="3630168"/>
            <a:ext cx="1005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5349240" y="3630168"/>
            <a:ext cx="914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-0.129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6263640" y="3630168"/>
            <a:ext cx="2468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weak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4343400" y="4087368"/>
            <a:ext cx="4526280" cy="777240"/>
          </a:xfrm>
          <a:prstGeom prst="rect">
            <a:avLst/>
          </a:prstGeom>
          <a:solidFill>
            <a:srgbClr val="DBEAFE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NZ" dirty="0"/>
          </a:p>
        </p:txBody>
      </p:sp>
      <p:sp>
        <p:nvSpPr>
          <p:cNvPr id="34" name="Text 31"/>
          <p:cNvSpPr/>
          <p:nvPr/>
        </p:nvSpPr>
        <p:spPr>
          <a:xfrm>
            <a:off x="4480560" y="413308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🏁 Analysis: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4480560" y="4407408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PM10 is #1 most related to PM2.5 (r=0.879). Wind help clean air (negative). Temperature alone not strongly predict pollution, but winter season is worse because more burning for heat.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1B4F72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BC2663-63C1-6E3F-A6ED-8341DFD510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2">
            <a:extLst>
              <a:ext uri="{FF2B5EF4-FFF2-40B4-BE49-F238E27FC236}">
                <a16:creationId xmlns:a16="http://schemas.microsoft.com/office/drawing/2014/main" id="{FBFF27C9-1B42-4829-951C-A75EE1835097}"/>
              </a:ext>
            </a:extLst>
          </p:cNvPr>
          <p:cNvSpPr/>
          <p:nvPr/>
        </p:nvSpPr>
        <p:spPr>
          <a:xfrm>
            <a:off x="168613" y="1095984"/>
            <a:ext cx="8806774" cy="667966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47" name="Shape 22">
            <a:extLst>
              <a:ext uri="{FF2B5EF4-FFF2-40B4-BE49-F238E27FC236}">
                <a16:creationId xmlns:a16="http://schemas.microsoft.com/office/drawing/2014/main" id="{5A23D898-A411-5655-D370-1E44894A8757}"/>
              </a:ext>
            </a:extLst>
          </p:cNvPr>
          <p:cNvSpPr/>
          <p:nvPr/>
        </p:nvSpPr>
        <p:spPr>
          <a:xfrm flipV="1">
            <a:off x="168613" y="2354093"/>
            <a:ext cx="8806773" cy="609599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NZ" b="1" dirty="0"/>
          </a:p>
        </p:txBody>
      </p:sp>
      <p:sp>
        <p:nvSpPr>
          <p:cNvPr id="48" name="Shape 22">
            <a:extLst>
              <a:ext uri="{FF2B5EF4-FFF2-40B4-BE49-F238E27FC236}">
                <a16:creationId xmlns:a16="http://schemas.microsoft.com/office/drawing/2014/main" id="{8D45CDFD-AB9E-58AD-489F-AD95FFE98DA5}"/>
              </a:ext>
            </a:extLst>
          </p:cNvPr>
          <p:cNvSpPr/>
          <p:nvPr/>
        </p:nvSpPr>
        <p:spPr>
          <a:xfrm flipV="1">
            <a:off x="168614" y="3553832"/>
            <a:ext cx="8806774" cy="920890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NZ" b="1" dirty="0"/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8B2AAD87-E39B-6956-0EB7-474178DFB5F3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20227CBC-50BD-DD95-5B40-0345014CF15B}"/>
              </a:ext>
            </a:extLst>
          </p:cNvPr>
          <p:cNvSpPr/>
          <p:nvPr/>
        </p:nvSpPr>
        <p:spPr>
          <a:xfrm>
            <a:off x="0" y="0"/>
            <a:ext cx="73152" cy="914400"/>
          </a:xfrm>
          <a:prstGeom prst="rect">
            <a:avLst/>
          </a:prstGeom>
          <a:solidFill>
            <a:srgbClr val="1B4F72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982F20BE-E926-C146-4009-23361EED298E}"/>
              </a:ext>
            </a:extLst>
          </p:cNvPr>
          <p:cNvSpPr/>
          <p:nvPr/>
        </p:nvSpPr>
        <p:spPr>
          <a:xfrm>
            <a:off x="228600" y="7315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3600" dirty="0"/>
          </a:p>
        </p:txBody>
      </p:sp>
      <p:sp>
        <p:nvSpPr>
          <p:cNvPr id="36" name="Shape 33">
            <a:extLst>
              <a:ext uri="{FF2B5EF4-FFF2-40B4-BE49-F238E27FC236}">
                <a16:creationId xmlns:a16="http://schemas.microsoft.com/office/drawing/2014/main" id="{43E176C6-53DC-3397-E45C-23A496F9051F}"/>
              </a:ext>
            </a:extLst>
          </p:cNvPr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1B4F72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813CFBB-12B2-D75C-B46A-15D5BA308534}"/>
              </a:ext>
            </a:extLst>
          </p:cNvPr>
          <p:cNvSpPr txBox="1"/>
          <p:nvPr/>
        </p:nvSpPr>
        <p:spPr>
          <a:xfrm>
            <a:off x="168614" y="1095983"/>
            <a:ext cx="8923505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SzPct val="100000"/>
              <a:buChar char="•"/>
            </a:pPr>
            <a:r>
              <a:rPr lang="en-US" sz="20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Beijing air pollution is significantly above safe levels</a:t>
            </a:r>
            <a:r>
              <a:rPr lang="en-US" sz="2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especially PM2.5, indicating serious environmental and health concerns</a:t>
            </a:r>
          </a:p>
          <a:p>
            <a:pPr marL="342900" indent="-342900">
              <a:buSzPct val="100000"/>
              <a:buChar char="•"/>
            </a:pPr>
            <a:r>
              <a:rPr lang="en-US" sz="20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Pollution is not balanced</a:t>
            </a:r>
            <a:r>
              <a:rPr lang="en-US" sz="2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most days are okay, but some extreme values make the average higher</a:t>
            </a:r>
          </a:p>
          <a:p>
            <a:pPr marL="342900" indent="-342900">
              <a:buSzPct val="100000"/>
              <a:buChar char="•"/>
            </a:pPr>
            <a:r>
              <a:rPr lang="en-US" sz="20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areas have higher pollution than suburban areas</a:t>
            </a:r>
            <a:r>
              <a:rPr lang="en-US" sz="2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showing strong impact of human activity like traffic and industry</a:t>
            </a:r>
          </a:p>
          <a:p>
            <a:pPr marL="342900" indent="-342900">
              <a:buSzPct val="100000"/>
              <a:buChar char="•"/>
            </a:pPr>
            <a:r>
              <a:rPr lang="en-US" sz="20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PM10 is the strongest factor influencing PM2.5</a:t>
            </a:r>
            <a:r>
              <a:rPr lang="en-US" sz="2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while wind helps reduce pollution levels and temperature has weak effect</a:t>
            </a:r>
          </a:p>
          <a:p>
            <a:pPr marL="342900" indent="-342900">
              <a:buSzPct val="100000"/>
              <a:buChar char="•"/>
            </a:pPr>
            <a:r>
              <a:rPr lang="en-US" sz="20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and visualization clearly reveal patterns, trends, and relationships</a:t>
            </a:r>
            <a:r>
              <a:rPr lang="en-US" sz="2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supporting better decision-making and understanding of real-world problems</a:t>
            </a:r>
          </a:p>
        </p:txBody>
      </p:sp>
    </p:spTree>
    <p:extLst>
      <p:ext uri="{BB962C8B-B14F-4D97-AF65-F5344CB8AC3E}">
        <p14:creationId xmlns:p14="http://schemas.microsoft.com/office/powerpoint/2010/main" val="37034962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E326A4-6D23-EE6E-C5E7-935C221E25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F7B1A85-BD7B-D068-AC92-F5ACE11D2865}"/>
              </a:ext>
            </a:extLst>
          </p:cNvPr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B4F72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171F6BEA-396B-8925-6421-715A3AB7B0B2}"/>
              </a:ext>
            </a:extLst>
          </p:cNvPr>
          <p:cNvSpPr/>
          <p:nvPr/>
        </p:nvSpPr>
        <p:spPr>
          <a:xfrm>
            <a:off x="73152" y="0"/>
            <a:ext cx="9070848" cy="54864"/>
          </a:xfrm>
          <a:prstGeom prst="rect">
            <a:avLst/>
          </a:prstGeom>
          <a:solidFill>
            <a:srgbClr val="F6C0F2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5D3D9801-EE31-5EE2-5071-B040CB707A33}"/>
              </a:ext>
            </a:extLst>
          </p:cNvPr>
          <p:cNvSpPr/>
          <p:nvPr/>
        </p:nvSpPr>
        <p:spPr>
          <a:xfrm>
            <a:off x="457200" y="173736"/>
            <a:ext cx="8366760" cy="43852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72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70444807-B38D-7D28-461C-9BD51EA15B6E}"/>
              </a:ext>
            </a:extLst>
          </p:cNvPr>
          <p:cNvSpPr/>
          <p:nvPr/>
        </p:nvSpPr>
        <p:spPr>
          <a:xfrm flipV="1">
            <a:off x="220494" y="3131820"/>
            <a:ext cx="8800289" cy="5486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9BB27474-F749-7EA2-0DFE-A608872D6EE5}"/>
              </a:ext>
            </a:extLst>
          </p:cNvPr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1B4F72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42271650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559</Words>
  <Application>Microsoft Office PowerPoint</Application>
  <PresentationFormat>On-screen Show (16:9)</PresentationFormat>
  <Paragraphs>111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Beijing Air Quality Analysis</dc:title>
  <dc:subject>PptxGenJS Presentation</dc:subject>
  <dc:creator>Benjelyn Reves Patiag</dc:creator>
  <cp:lastModifiedBy>BENJELYN Patiag</cp:lastModifiedBy>
  <cp:revision>11</cp:revision>
  <dcterms:created xsi:type="dcterms:W3CDTF">2026-04-19T23:28:53Z</dcterms:created>
  <dcterms:modified xsi:type="dcterms:W3CDTF">2026-04-20T23:50:37Z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96ed6d7-747c-41fd-b042-ff14484edc24_Enabled">
    <vt:lpwstr>true</vt:lpwstr>
  </property>
  <property fmtid="{D5CDD505-2E9C-101B-9397-08002B2CF9AE}" pid="3" name="MSIP_Label_c96ed6d7-747c-41fd-b042-ff14484edc24_SetDate">
    <vt:lpwstr>2026-04-20T22:55:44Z</vt:lpwstr>
  </property>
  <property fmtid="{D5CDD505-2E9C-101B-9397-08002B2CF9AE}" pid="4" name="MSIP_Label_c96ed6d7-747c-41fd-b042-ff14484edc24_Method">
    <vt:lpwstr>Standard</vt:lpwstr>
  </property>
  <property fmtid="{D5CDD505-2E9C-101B-9397-08002B2CF9AE}" pid="5" name="MSIP_Label_c96ed6d7-747c-41fd-b042-ff14484edc24_Name">
    <vt:lpwstr>defa4170-0d19-0005-0004-bc88714345d2</vt:lpwstr>
  </property>
  <property fmtid="{D5CDD505-2E9C-101B-9397-08002B2CF9AE}" pid="6" name="MSIP_Label_c96ed6d7-747c-41fd-b042-ff14484edc24_SiteId">
    <vt:lpwstr>6a425d0d-58f2-4e36-8689-10002b2ec567</vt:lpwstr>
  </property>
  <property fmtid="{D5CDD505-2E9C-101B-9397-08002B2CF9AE}" pid="7" name="MSIP_Label_c96ed6d7-747c-41fd-b042-ff14484edc24_ActionId">
    <vt:lpwstr>98c4bea2-ec96-4942-8697-a072ffd34efb</vt:lpwstr>
  </property>
  <property fmtid="{D5CDD505-2E9C-101B-9397-08002B2CF9AE}" pid="8" name="MSIP_Label_c96ed6d7-747c-41fd-b042-ff14484edc24_ContentBits">
    <vt:lpwstr>0</vt:lpwstr>
  </property>
  <property fmtid="{D5CDD505-2E9C-101B-9397-08002B2CF9AE}" pid="9" name="MSIP_Label_c96ed6d7-747c-41fd-b042-ff14484edc24_Tag">
    <vt:lpwstr>10, 3, 0, 1</vt:lpwstr>
  </property>
</Properties>
</file>
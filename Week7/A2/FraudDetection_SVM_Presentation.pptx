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0349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40"/>
        </a:solidFill>
        <a:effectLst/>
      </p:bgPr>
    </p:bg>
    <p:spTree>
      <p:nvGrpSpPr>
        <p:cNvPr id="1" name=""/>
        <p:cNvGrpSpPr/>
        <p:nvPr/>
      </p:nvGrpSpPr>
      <p:grpSpPr>
        <a:xfrm>
          <a:off x="0" y="0"/>
          <a:ext cx="0" cy="0"/>
          <a:chOff x="0" y="0"/>
          <a:chExt cx="0" cy="0"/>
        </a:xfrm>
      </p:grpSpPr>
      <p:pic>
        <p:nvPicPr>
          <p:cNvPr id="18" name="Picture Placeholder 7" descr="payments gateway technology digital concept">
            <a:extLst>
              <a:ext uri="{FF2B5EF4-FFF2-40B4-BE49-F238E27FC236}">
                <a16:creationId xmlns:a16="http://schemas.microsoft.com/office/drawing/2014/main" id="{97770A37-655D-687A-CCE8-1CD6266C8B7E}"/>
              </a:ext>
            </a:extLst>
          </p:cNvPr>
          <p:cNvPicPr>
            <a:picLocks noChangeAspect="1"/>
          </p:cNvPicPr>
          <p:nvPr/>
        </p:nvPicPr>
        <p:blipFill>
          <a:blip r:embed="rId3">
            <a:alphaModFix amt="20000"/>
          </a:blip>
          <a:srcRect l="29400" r="12526"/>
          <a:stretch>
            <a:fillRect/>
          </a:stretch>
        </p:blipFill>
        <p:spPr>
          <a:xfrm>
            <a:off x="3877056" y="-1"/>
            <a:ext cx="5266944" cy="5101479"/>
          </a:xfrm>
          <a:prstGeom prst="rect">
            <a:avLst/>
          </a:prstGeom>
          <a:blipFill dpi="0" rotWithShape="1">
            <a:blip r:embed="rId4">
              <a:alphaModFix amt="20000"/>
            </a:blip>
            <a:srcRect/>
            <a:stretch>
              <a:fillRect/>
            </a:stretch>
          </a:blipFill>
        </p:spPr>
      </p:pic>
      <p:sp>
        <p:nvSpPr>
          <p:cNvPr id="2" name="Shape 0"/>
          <p:cNvSpPr/>
          <p:nvPr/>
        </p:nvSpPr>
        <p:spPr>
          <a:xfrm>
            <a:off x="0" y="0"/>
            <a:ext cx="164592" cy="5143500"/>
          </a:xfrm>
          <a:prstGeom prst="rect">
            <a:avLst/>
          </a:prstGeom>
          <a:solidFill>
            <a:srgbClr val="17BDA0"/>
          </a:solidFill>
          <a:ln w="12700">
            <a:solidFill>
              <a:srgbClr val="17BDA0"/>
            </a:solidFill>
            <a:prstDash val="solid"/>
          </a:ln>
        </p:spPr>
        <p:txBody>
          <a:bodyPr/>
          <a:lstStyle/>
          <a:p>
            <a:endParaRPr lang="en-NZ"/>
          </a:p>
        </p:txBody>
      </p:sp>
      <p:sp>
        <p:nvSpPr>
          <p:cNvPr id="3" name="Shape 1"/>
          <p:cNvSpPr/>
          <p:nvPr/>
        </p:nvSpPr>
        <p:spPr>
          <a:xfrm>
            <a:off x="411480" y="1280160"/>
            <a:ext cx="3127248" cy="292608"/>
          </a:xfrm>
          <a:prstGeom prst="rect">
            <a:avLst/>
          </a:prstGeom>
          <a:solidFill>
            <a:srgbClr val="0F7E6E"/>
          </a:solidFill>
          <a:ln w="12700">
            <a:solidFill>
              <a:srgbClr val="0F7E6E"/>
            </a:solidFill>
            <a:prstDash val="solid"/>
          </a:ln>
        </p:spPr>
        <p:txBody>
          <a:bodyPr/>
          <a:lstStyle/>
          <a:p>
            <a:endParaRPr lang="en-NZ"/>
          </a:p>
        </p:txBody>
      </p:sp>
      <p:sp>
        <p:nvSpPr>
          <p:cNvPr id="4" name="Text 2"/>
          <p:cNvSpPr/>
          <p:nvPr/>
        </p:nvSpPr>
        <p:spPr>
          <a:xfrm>
            <a:off x="411480" y="1280160"/>
            <a:ext cx="2926080" cy="292608"/>
          </a:xfrm>
          <a:prstGeom prst="rect">
            <a:avLst/>
          </a:prstGeom>
          <a:noFill/>
          <a:ln/>
        </p:spPr>
        <p:txBody>
          <a:bodyPr wrap="square" lIns="0" tIns="0" rIns="0" bIns="0" rtlCol="0" anchor="ctr"/>
          <a:lstStyle/>
          <a:p>
            <a:pPr marL="0" indent="0" algn="ctr">
              <a:buNone/>
            </a:pPr>
            <a:r>
              <a:rPr lang="en-US" sz="900" b="1" dirty="0">
                <a:solidFill>
                  <a:srgbClr val="FFFFFF"/>
                </a:solidFill>
              </a:rPr>
              <a:t>MACHINE LEARNING  ·  WEEK </a:t>
            </a:r>
            <a:r>
              <a:rPr lang="en-US" sz="900" b="1">
                <a:solidFill>
                  <a:srgbClr val="FFFFFF"/>
                </a:solidFill>
              </a:rPr>
              <a:t>7 ACTIVITY </a:t>
            </a:r>
            <a:r>
              <a:rPr lang="en-US" sz="900" b="1" dirty="0">
                <a:solidFill>
                  <a:srgbClr val="FFFFFF"/>
                </a:solidFill>
              </a:rPr>
              <a:t>2</a:t>
            </a:r>
            <a:endParaRPr lang="en-US" sz="900" dirty="0"/>
          </a:p>
        </p:txBody>
      </p:sp>
      <p:sp>
        <p:nvSpPr>
          <p:cNvPr id="5" name="Text 3"/>
          <p:cNvSpPr/>
          <p:nvPr/>
        </p:nvSpPr>
        <p:spPr>
          <a:xfrm>
            <a:off x="411480" y="1737360"/>
            <a:ext cx="7772400" cy="1005840"/>
          </a:xfrm>
          <a:prstGeom prst="rect">
            <a:avLst/>
          </a:prstGeom>
          <a:noFill/>
          <a:ln/>
        </p:spPr>
        <p:txBody>
          <a:bodyPr wrap="square" rtlCol="0" anchor="ctr"/>
          <a:lstStyle/>
          <a:p>
            <a:pPr marL="0" indent="0">
              <a:buNone/>
            </a:pPr>
            <a:r>
              <a:rPr lang="en-US" sz="4400" b="1" dirty="0">
                <a:solidFill>
                  <a:srgbClr val="FFFFFF"/>
                </a:solidFill>
                <a:latin typeface="Trebuchet MS" pitchFamily="34" charset="0"/>
                <a:ea typeface="Trebuchet MS" pitchFamily="34" charset="-122"/>
                <a:cs typeface="Trebuchet MS" pitchFamily="34" charset="-120"/>
              </a:rPr>
              <a:t>Credit Card Fraud Detection</a:t>
            </a:r>
            <a:endParaRPr lang="en-US" sz="4400" dirty="0"/>
          </a:p>
        </p:txBody>
      </p:sp>
      <p:sp>
        <p:nvSpPr>
          <p:cNvPr id="6" name="Text 4"/>
          <p:cNvSpPr/>
          <p:nvPr/>
        </p:nvSpPr>
        <p:spPr>
          <a:xfrm>
            <a:off x="411480" y="2743200"/>
            <a:ext cx="7772400" cy="640080"/>
          </a:xfrm>
          <a:prstGeom prst="rect">
            <a:avLst/>
          </a:prstGeom>
          <a:noFill/>
          <a:ln/>
        </p:spPr>
        <p:txBody>
          <a:bodyPr wrap="square" rtlCol="0" anchor="ctr"/>
          <a:lstStyle/>
          <a:p>
            <a:pPr marL="0" indent="0">
              <a:buNone/>
            </a:pPr>
            <a:r>
              <a:rPr lang="en-US" sz="2800" dirty="0">
                <a:solidFill>
                  <a:srgbClr val="17BDA0"/>
                </a:solidFill>
                <a:latin typeface="Trebuchet MS" pitchFamily="34" charset="0"/>
                <a:ea typeface="Trebuchet MS" pitchFamily="34" charset="-122"/>
                <a:cs typeface="Trebuchet MS" pitchFamily="34" charset="-120"/>
              </a:rPr>
              <a:t>using Support Vector Machine (SVM)</a:t>
            </a:r>
            <a:endParaRPr lang="en-US" sz="2800" dirty="0"/>
          </a:p>
        </p:txBody>
      </p:sp>
      <p:sp>
        <p:nvSpPr>
          <p:cNvPr id="7" name="Shape 5"/>
          <p:cNvSpPr/>
          <p:nvPr/>
        </p:nvSpPr>
        <p:spPr>
          <a:xfrm>
            <a:off x="411480" y="3840480"/>
            <a:ext cx="8321040" cy="822960"/>
          </a:xfrm>
          <a:prstGeom prst="rect">
            <a:avLst/>
          </a:prstGeom>
          <a:solidFill>
            <a:srgbClr val="0A1530"/>
          </a:solidFill>
          <a:ln w="12700">
            <a:solidFill>
              <a:srgbClr val="0A1530"/>
            </a:solidFill>
            <a:prstDash val="solid"/>
          </a:ln>
        </p:spPr>
        <p:txBody>
          <a:bodyPr/>
          <a:lstStyle/>
          <a:p>
            <a:endParaRPr lang="en-NZ"/>
          </a:p>
        </p:txBody>
      </p:sp>
      <p:sp>
        <p:nvSpPr>
          <p:cNvPr id="8" name="Text 6"/>
          <p:cNvSpPr/>
          <p:nvPr/>
        </p:nvSpPr>
        <p:spPr>
          <a:xfrm>
            <a:off x="548640" y="3886200"/>
            <a:ext cx="1463040" cy="347472"/>
          </a:xfrm>
          <a:prstGeom prst="rect">
            <a:avLst/>
          </a:prstGeom>
          <a:noFill/>
          <a:ln/>
        </p:spPr>
        <p:txBody>
          <a:bodyPr wrap="square" lIns="0" tIns="0" rIns="0" bIns="0" rtlCol="0" anchor="ctr"/>
          <a:lstStyle/>
          <a:p>
            <a:pPr marL="0" indent="0" algn="ctr">
              <a:buNone/>
            </a:pPr>
            <a:r>
              <a:rPr lang="en-US" sz="1600" b="1" dirty="0">
                <a:solidFill>
                  <a:srgbClr val="17BDA0"/>
                </a:solidFill>
              </a:rPr>
              <a:t>284,807</a:t>
            </a:r>
            <a:endParaRPr lang="en-US" sz="1600" dirty="0"/>
          </a:p>
        </p:txBody>
      </p:sp>
      <p:sp>
        <p:nvSpPr>
          <p:cNvPr id="9" name="Text 7"/>
          <p:cNvSpPr/>
          <p:nvPr/>
        </p:nvSpPr>
        <p:spPr>
          <a:xfrm>
            <a:off x="548640" y="4224528"/>
            <a:ext cx="1463040" cy="274320"/>
          </a:xfrm>
          <a:prstGeom prst="rect">
            <a:avLst/>
          </a:prstGeom>
          <a:noFill/>
          <a:ln/>
        </p:spPr>
        <p:txBody>
          <a:bodyPr wrap="square" lIns="0" tIns="0" rIns="0" bIns="0" rtlCol="0" anchor="ctr"/>
          <a:lstStyle/>
          <a:p>
            <a:pPr marL="0" indent="0" algn="ctr">
              <a:buNone/>
            </a:pPr>
            <a:r>
              <a:rPr lang="en-US" sz="900" dirty="0">
                <a:solidFill>
                  <a:srgbClr val="8BA0BC"/>
                </a:solidFill>
              </a:rPr>
              <a:t>Transactions</a:t>
            </a:r>
            <a:endParaRPr lang="en-US" sz="900" dirty="0"/>
          </a:p>
        </p:txBody>
      </p:sp>
      <p:sp>
        <p:nvSpPr>
          <p:cNvPr id="10" name="Text 8"/>
          <p:cNvSpPr/>
          <p:nvPr/>
        </p:nvSpPr>
        <p:spPr>
          <a:xfrm>
            <a:off x="2212848" y="3886200"/>
            <a:ext cx="1463040" cy="347472"/>
          </a:xfrm>
          <a:prstGeom prst="rect">
            <a:avLst/>
          </a:prstGeom>
          <a:noFill/>
          <a:ln/>
        </p:spPr>
        <p:txBody>
          <a:bodyPr wrap="square" lIns="0" tIns="0" rIns="0" bIns="0" rtlCol="0" anchor="ctr"/>
          <a:lstStyle/>
          <a:p>
            <a:pPr marL="0" indent="0" algn="ctr">
              <a:buNone/>
            </a:pPr>
            <a:r>
              <a:rPr lang="en-US" sz="1600" b="1" dirty="0">
                <a:solidFill>
                  <a:srgbClr val="17BDA0"/>
                </a:solidFill>
              </a:rPr>
              <a:t>0.17%</a:t>
            </a:r>
            <a:endParaRPr lang="en-US" sz="1600" dirty="0"/>
          </a:p>
        </p:txBody>
      </p:sp>
      <p:sp>
        <p:nvSpPr>
          <p:cNvPr id="11" name="Text 9"/>
          <p:cNvSpPr/>
          <p:nvPr/>
        </p:nvSpPr>
        <p:spPr>
          <a:xfrm>
            <a:off x="2212848" y="4224528"/>
            <a:ext cx="1463040" cy="274320"/>
          </a:xfrm>
          <a:prstGeom prst="rect">
            <a:avLst/>
          </a:prstGeom>
          <a:noFill/>
          <a:ln/>
        </p:spPr>
        <p:txBody>
          <a:bodyPr wrap="square" lIns="0" tIns="0" rIns="0" bIns="0" rtlCol="0" anchor="ctr"/>
          <a:lstStyle/>
          <a:p>
            <a:pPr marL="0" indent="0" algn="ctr">
              <a:buNone/>
            </a:pPr>
            <a:r>
              <a:rPr lang="en-US" sz="900" dirty="0">
                <a:solidFill>
                  <a:srgbClr val="8BA0BC"/>
                </a:solidFill>
              </a:rPr>
              <a:t>Fraud Rate</a:t>
            </a:r>
            <a:endParaRPr lang="en-US" sz="900" dirty="0"/>
          </a:p>
        </p:txBody>
      </p:sp>
      <p:sp>
        <p:nvSpPr>
          <p:cNvPr id="12" name="Text 10"/>
          <p:cNvSpPr/>
          <p:nvPr/>
        </p:nvSpPr>
        <p:spPr>
          <a:xfrm>
            <a:off x="3877056" y="3886200"/>
            <a:ext cx="1463040" cy="347472"/>
          </a:xfrm>
          <a:prstGeom prst="rect">
            <a:avLst/>
          </a:prstGeom>
          <a:noFill/>
          <a:ln/>
        </p:spPr>
        <p:txBody>
          <a:bodyPr wrap="square" lIns="0" tIns="0" rIns="0" bIns="0" rtlCol="0" anchor="ctr"/>
          <a:lstStyle/>
          <a:p>
            <a:pPr marL="0" indent="0" algn="ctr">
              <a:buNone/>
            </a:pPr>
            <a:r>
              <a:rPr lang="en-US" sz="1600" b="1" dirty="0">
                <a:solidFill>
                  <a:srgbClr val="17BDA0"/>
                </a:solidFill>
              </a:rPr>
              <a:t>LinearSVC</a:t>
            </a:r>
            <a:endParaRPr lang="en-US" sz="1600" dirty="0"/>
          </a:p>
        </p:txBody>
      </p:sp>
      <p:sp>
        <p:nvSpPr>
          <p:cNvPr id="13" name="Text 11"/>
          <p:cNvSpPr/>
          <p:nvPr/>
        </p:nvSpPr>
        <p:spPr>
          <a:xfrm>
            <a:off x="3877056" y="4224528"/>
            <a:ext cx="1463040" cy="274320"/>
          </a:xfrm>
          <a:prstGeom prst="rect">
            <a:avLst/>
          </a:prstGeom>
          <a:noFill/>
          <a:ln/>
        </p:spPr>
        <p:txBody>
          <a:bodyPr wrap="square" lIns="0" tIns="0" rIns="0" bIns="0" rtlCol="0" anchor="ctr"/>
          <a:lstStyle/>
          <a:p>
            <a:pPr marL="0" indent="0" algn="ctr">
              <a:buNone/>
            </a:pPr>
            <a:r>
              <a:rPr lang="en-US" sz="900" dirty="0">
                <a:solidFill>
                  <a:srgbClr val="8BA0BC"/>
                </a:solidFill>
              </a:rPr>
              <a:t>Algorithm</a:t>
            </a:r>
            <a:endParaRPr lang="en-US" sz="900" dirty="0"/>
          </a:p>
        </p:txBody>
      </p:sp>
      <p:sp>
        <p:nvSpPr>
          <p:cNvPr id="14" name="Text 12"/>
          <p:cNvSpPr/>
          <p:nvPr/>
        </p:nvSpPr>
        <p:spPr>
          <a:xfrm>
            <a:off x="5541264" y="3886200"/>
            <a:ext cx="1463040" cy="347472"/>
          </a:xfrm>
          <a:prstGeom prst="rect">
            <a:avLst/>
          </a:prstGeom>
          <a:noFill/>
          <a:ln/>
        </p:spPr>
        <p:txBody>
          <a:bodyPr wrap="square" lIns="0" tIns="0" rIns="0" bIns="0" rtlCol="0" anchor="ctr"/>
          <a:lstStyle/>
          <a:p>
            <a:pPr marL="0" indent="0" algn="ctr">
              <a:buNone/>
            </a:pPr>
            <a:r>
              <a:rPr lang="en-US" sz="1600" b="1" dirty="0">
                <a:solidFill>
                  <a:srgbClr val="17BDA0"/>
                </a:solidFill>
              </a:rPr>
              <a:t>98%</a:t>
            </a:r>
            <a:endParaRPr lang="en-US" sz="1600" dirty="0"/>
          </a:p>
        </p:txBody>
      </p:sp>
      <p:sp>
        <p:nvSpPr>
          <p:cNvPr id="15" name="Text 13"/>
          <p:cNvSpPr/>
          <p:nvPr/>
        </p:nvSpPr>
        <p:spPr>
          <a:xfrm>
            <a:off x="5541264" y="4224528"/>
            <a:ext cx="1463040" cy="274320"/>
          </a:xfrm>
          <a:prstGeom prst="rect">
            <a:avLst/>
          </a:prstGeom>
          <a:noFill/>
          <a:ln/>
        </p:spPr>
        <p:txBody>
          <a:bodyPr wrap="square" lIns="0" tIns="0" rIns="0" bIns="0" rtlCol="0" anchor="ctr"/>
          <a:lstStyle/>
          <a:p>
            <a:pPr marL="0" indent="0" algn="ctr">
              <a:buNone/>
            </a:pPr>
            <a:r>
              <a:rPr lang="en-US" sz="900" dirty="0">
                <a:solidFill>
                  <a:srgbClr val="8BA0BC"/>
                </a:solidFill>
              </a:rPr>
              <a:t>Accuracy</a:t>
            </a:r>
            <a:endParaRPr lang="en-US" sz="900" dirty="0"/>
          </a:p>
        </p:txBody>
      </p:sp>
      <p:sp>
        <p:nvSpPr>
          <p:cNvPr id="16" name="Text 14"/>
          <p:cNvSpPr/>
          <p:nvPr/>
        </p:nvSpPr>
        <p:spPr>
          <a:xfrm>
            <a:off x="7205472" y="3886200"/>
            <a:ext cx="1463040" cy="347472"/>
          </a:xfrm>
          <a:prstGeom prst="rect">
            <a:avLst/>
          </a:prstGeom>
          <a:noFill/>
          <a:ln/>
        </p:spPr>
        <p:txBody>
          <a:bodyPr wrap="square" lIns="0" tIns="0" rIns="0" bIns="0" rtlCol="0" anchor="ctr"/>
          <a:lstStyle/>
          <a:p>
            <a:pPr marL="0" indent="0" algn="ctr">
              <a:buNone/>
            </a:pPr>
            <a:r>
              <a:rPr lang="en-US" sz="1600" b="1" dirty="0">
                <a:solidFill>
                  <a:srgbClr val="17BDA0"/>
                </a:solidFill>
              </a:rPr>
              <a:t>88.7%</a:t>
            </a:r>
            <a:endParaRPr lang="en-US" sz="1600" dirty="0"/>
          </a:p>
        </p:txBody>
      </p:sp>
      <p:sp>
        <p:nvSpPr>
          <p:cNvPr id="17" name="Text 15"/>
          <p:cNvSpPr/>
          <p:nvPr/>
        </p:nvSpPr>
        <p:spPr>
          <a:xfrm>
            <a:off x="7205472" y="4224528"/>
            <a:ext cx="1463040" cy="274320"/>
          </a:xfrm>
          <a:prstGeom prst="rect">
            <a:avLst/>
          </a:prstGeom>
          <a:noFill/>
          <a:ln/>
        </p:spPr>
        <p:txBody>
          <a:bodyPr wrap="square" lIns="0" tIns="0" rIns="0" bIns="0" rtlCol="0" anchor="ctr"/>
          <a:lstStyle/>
          <a:p>
            <a:pPr marL="0" indent="0" algn="ctr">
              <a:buNone/>
            </a:pPr>
            <a:r>
              <a:rPr lang="en-US" sz="900" dirty="0">
                <a:solidFill>
                  <a:srgbClr val="8BA0BC"/>
                </a:solidFill>
              </a:rPr>
              <a:t>Recall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5" name="Content Placeholder 7" descr="Data center and server racks">
            <a:extLst>
              <a:ext uri="{FF2B5EF4-FFF2-40B4-BE49-F238E27FC236}">
                <a16:creationId xmlns:a16="http://schemas.microsoft.com/office/drawing/2014/main" id="{ACEAA617-8E5A-00FB-1EB6-9DA5C22BF975}"/>
              </a:ext>
            </a:extLst>
          </p:cNvPr>
          <p:cNvPicPr>
            <a:picLocks noChangeAspect="1"/>
          </p:cNvPicPr>
          <p:nvPr/>
        </p:nvPicPr>
        <p:blipFill>
          <a:blip r:embed="rId3">
            <a:alphaModFix amt="20000"/>
          </a:blip>
          <a:srcRect l="11053" r="12156" b="-2"/>
          <a:stretch>
            <a:fillRect/>
          </a:stretch>
        </p:blipFill>
        <p:spPr>
          <a:xfrm>
            <a:off x="411480" y="1101344"/>
            <a:ext cx="4675632" cy="4049141"/>
          </a:xfrm>
          <a:prstGeom prst="rect">
            <a:avLst/>
          </a:prstGeom>
        </p:spPr>
      </p:pic>
      <p:sp>
        <p:nvSpPr>
          <p:cNvPr id="2" name="Shape 0"/>
          <p:cNvSpPr/>
          <p:nvPr/>
        </p:nvSpPr>
        <p:spPr>
          <a:xfrm>
            <a:off x="411480" y="201168"/>
            <a:ext cx="1463040" cy="228600"/>
          </a:xfrm>
          <a:prstGeom prst="rect">
            <a:avLst/>
          </a:prstGeom>
          <a:solidFill>
            <a:srgbClr val="17BDA0"/>
          </a:solidFill>
          <a:ln w="12700">
            <a:solidFill>
              <a:srgbClr val="17BDA0"/>
            </a:solidFill>
            <a:prstDash val="solid"/>
          </a:ln>
        </p:spPr>
        <p:txBody>
          <a:bodyPr/>
          <a:lstStyle/>
          <a:p>
            <a:endParaRPr lang="en-NZ"/>
          </a:p>
        </p:txBody>
      </p:sp>
      <p:sp>
        <p:nvSpPr>
          <p:cNvPr id="3" name="Text 1"/>
          <p:cNvSpPr/>
          <p:nvPr/>
        </p:nvSpPr>
        <p:spPr>
          <a:xfrm>
            <a:off x="411480" y="201168"/>
            <a:ext cx="1463040" cy="228600"/>
          </a:xfrm>
          <a:prstGeom prst="rect">
            <a:avLst/>
          </a:prstGeom>
          <a:noFill/>
          <a:ln/>
        </p:spPr>
        <p:txBody>
          <a:bodyPr wrap="square" lIns="0" tIns="0" rIns="0" bIns="0" rtlCol="0" anchor="ctr"/>
          <a:lstStyle/>
          <a:p>
            <a:pPr marL="0" indent="0" algn="ctr">
              <a:buNone/>
            </a:pPr>
            <a:r>
              <a:rPr lang="en-US" sz="800" b="1" dirty="0">
                <a:solidFill>
                  <a:srgbClr val="0D1B40"/>
                </a:solidFill>
              </a:rPr>
              <a:t>INTRODUCTION</a:t>
            </a:r>
            <a:endParaRPr lang="en-US" sz="800" dirty="0"/>
          </a:p>
        </p:txBody>
      </p:sp>
      <p:sp>
        <p:nvSpPr>
          <p:cNvPr id="4" name="Text 2"/>
          <p:cNvSpPr/>
          <p:nvPr/>
        </p:nvSpPr>
        <p:spPr>
          <a:xfrm>
            <a:off x="411480" y="502920"/>
            <a:ext cx="5486400" cy="594360"/>
          </a:xfrm>
          <a:prstGeom prst="rect">
            <a:avLst/>
          </a:prstGeom>
          <a:noFill/>
          <a:ln/>
        </p:spPr>
        <p:txBody>
          <a:bodyPr wrap="square" rtlCol="0" anchor="ctr"/>
          <a:lstStyle/>
          <a:p>
            <a:pPr marL="0" indent="0">
              <a:buNone/>
            </a:pPr>
            <a:r>
              <a:rPr lang="en-US" sz="3000" b="1" dirty="0">
                <a:solidFill>
                  <a:srgbClr val="0D1B40"/>
                </a:solidFill>
                <a:latin typeface="Trebuchet MS" pitchFamily="34" charset="0"/>
                <a:ea typeface="Trebuchet MS" pitchFamily="34" charset="-122"/>
                <a:cs typeface="Trebuchet MS" pitchFamily="34" charset="-120"/>
              </a:rPr>
              <a:t>Dataset &amp; Problem Statement</a:t>
            </a:r>
            <a:endParaRPr lang="en-US" sz="3000" dirty="0"/>
          </a:p>
        </p:txBody>
      </p:sp>
      <p:sp>
        <p:nvSpPr>
          <p:cNvPr id="6" name="Shape 4"/>
          <p:cNvSpPr/>
          <p:nvPr/>
        </p:nvSpPr>
        <p:spPr>
          <a:xfrm>
            <a:off x="411480" y="1234440"/>
            <a:ext cx="73152" cy="777240"/>
          </a:xfrm>
          <a:prstGeom prst="rect">
            <a:avLst/>
          </a:prstGeom>
          <a:solidFill>
            <a:srgbClr val="0F7E6E"/>
          </a:solidFill>
          <a:ln w="12700">
            <a:solidFill>
              <a:srgbClr val="0F7E6E"/>
            </a:solidFill>
            <a:prstDash val="solid"/>
          </a:ln>
        </p:spPr>
        <p:txBody>
          <a:bodyPr/>
          <a:lstStyle/>
          <a:p>
            <a:endParaRPr lang="en-NZ" sz="2400" b="1"/>
          </a:p>
        </p:txBody>
      </p:sp>
      <p:sp>
        <p:nvSpPr>
          <p:cNvPr id="7" name="Text 5"/>
          <p:cNvSpPr/>
          <p:nvPr/>
        </p:nvSpPr>
        <p:spPr>
          <a:xfrm>
            <a:off x="566928" y="1261872"/>
            <a:ext cx="1005840" cy="274320"/>
          </a:xfrm>
          <a:prstGeom prst="rect">
            <a:avLst/>
          </a:prstGeom>
          <a:noFill/>
          <a:ln/>
        </p:spPr>
        <p:txBody>
          <a:bodyPr wrap="square" lIns="0" tIns="0" rIns="0" bIns="0" rtlCol="0" anchor="ctr"/>
          <a:lstStyle/>
          <a:p>
            <a:pPr marL="0" indent="0">
              <a:buNone/>
            </a:pPr>
            <a:r>
              <a:rPr lang="en-US" sz="1400" b="1" dirty="0">
                <a:solidFill>
                  <a:srgbClr val="0F7E6E"/>
                </a:solidFill>
              </a:rPr>
              <a:t>Dataset</a:t>
            </a:r>
            <a:endParaRPr lang="en-US" sz="1400" b="1" dirty="0"/>
          </a:p>
        </p:txBody>
      </p:sp>
      <p:sp>
        <p:nvSpPr>
          <p:cNvPr id="8" name="Text 6"/>
          <p:cNvSpPr/>
          <p:nvPr/>
        </p:nvSpPr>
        <p:spPr>
          <a:xfrm>
            <a:off x="566928" y="1508760"/>
            <a:ext cx="4480560" cy="457200"/>
          </a:xfrm>
          <a:prstGeom prst="rect">
            <a:avLst/>
          </a:prstGeom>
          <a:noFill/>
          <a:ln/>
        </p:spPr>
        <p:txBody>
          <a:bodyPr wrap="square" lIns="0" tIns="0" rIns="0" bIns="0" rtlCol="0" anchor="ctr"/>
          <a:lstStyle/>
          <a:p>
            <a:pPr marL="0" indent="0">
              <a:buNone/>
            </a:pPr>
            <a:r>
              <a:rPr lang="en-US" sz="1100" b="1" dirty="0">
                <a:solidFill>
                  <a:srgbClr val="475569"/>
                </a:solidFill>
              </a:rPr>
              <a:t>European credit card transactions (Sep 2013). 284,807 records with 31 numeric features (Time, V1-V28 via PCA, Amount, Class).</a:t>
            </a:r>
            <a:endParaRPr lang="en-US" sz="1100" b="1" dirty="0"/>
          </a:p>
        </p:txBody>
      </p:sp>
      <p:sp>
        <p:nvSpPr>
          <p:cNvPr id="10" name="Shape 8"/>
          <p:cNvSpPr/>
          <p:nvPr/>
        </p:nvSpPr>
        <p:spPr>
          <a:xfrm>
            <a:off x="411480" y="2121408"/>
            <a:ext cx="73152" cy="777240"/>
          </a:xfrm>
          <a:prstGeom prst="rect">
            <a:avLst/>
          </a:prstGeom>
          <a:solidFill>
            <a:srgbClr val="0F7E6E"/>
          </a:solidFill>
          <a:ln w="12700">
            <a:solidFill>
              <a:srgbClr val="0F7E6E"/>
            </a:solidFill>
            <a:prstDash val="solid"/>
          </a:ln>
        </p:spPr>
        <p:txBody>
          <a:bodyPr/>
          <a:lstStyle/>
          <a:p>
            <a:endParaRPr lang="en-NZ" sz="2400" b="1"/>
          </a:p>
        </p:txBody>
      </p:sp>
      <p:sp>
        <p:nvSpPr>
          <p:cNvPr id="11" name="Text 9"/>
          <p:cNvSpPr/>
          <p:nvPr/>
        </p:nvSpPr>
        <p:spPr>
          <a:xfrm>
            <a:off x="566928" y="2148840"/>
            <a:ext cx="1005840" cy="274320"/>
          </a:xfrm>
          <a:prstGeom prst="rect">
            <a:avLst/>
          </a:prstGeom>
          <a:noFill/>
          <a:ln/>
        </p:spPr>
        <p:txBody>
          <a:bodyPr wrap="square" lIns="0" tIns="0" rIns="0" bIns="0" rtlCol="0" anchor="ctr"/>
          <a:lstStyle/>
          <a:p>
            <a:pPr marL="0" indent="0">
              <a:buNone/>
            </a:pPr>
            <a:r>
              <a:rPr lang="en-US" sz="1400" b="1" dirty="0">
                <a:solidFill>
                  <a:srgbClr val="0F7E6E"/>
                </a:solidFill>
              </a:rPr>
              <a:t>Problem</a:t>
            </a:r>
            <a:endParaRPr lang="en-US" sz="1400" b="1" dirty="0"/>
          </a:p>
        </p:txBody>
      </p:sp>
      <p:sp>
        <p:nvSpPr>
          <p:cNvPr id="12" name="Text 10"/>
          <p:cNvSpPr/>
          <p:nvPr/>
        </p:nvSpPr>
        <p:spPr>
          <a:xfrm>
            <a:off x="566928" y="2395728"/>
            <a:ext cx="4480560" cy="457200"/>
          </a:xfrm>
          <a:prstGeom prst="rect">
            <a:avLst/>
          </a:prstGeom>
          <a:noFill/>
          <a:ln/>
        </p:spPr>
        <p:txBody>
          <a:bodyPr wrap="square" lIns="0" tIns="0" rIns="0" bIns="0" rtlCol="0" anchor="ctr"/>
          <a:lstStyle/>
          <a:p>
            <a:pPr marL="0" indent="0">
              <a:buNone/>
            </a:pPr>
            <a:r>
              <a:rPr lang="en-US" sz="1100" b="1" dirty="0">
                <a:solidFill>
                  <a:srgbClr val="475569"/>
                </a:solidFill>
              </a:rPr>
              <a:t>Binary classification: detect fraudulent transactions (Class=1) among predominantly normal ones (Class=0).</a:t>
            </a:r>
            <a:endParaRPr lang="en-US" sz="1100" b="1" dirty="0"/>
          </a:p>
        </p:txBody>
      </p:sp>
      <p:sp>
        <p:nvSpPr>
          <p:cNvPr id="14" name="Shape 12"/>
          <p:cNvSpPr/>
          <p:nvPr/>
        </p:nvSpPr>
        <p:spPr>
          <a:xfrm>
            <a:off x="411480" y="3008376"/>
            <a:ext cx="73152" cy="777240"/>
          </a:xfrm>
          <a:prstGeom prst="rect">
            <a:avLst/>
          </a:prstGeom>
          <a:solidFill>
            <a:srgbClr val="0F7E6E"/>
          </a:solidFill>
          <a:ln w="12700">
            <a:solidFill>
              <a:srgbClr val="0F7E6E"/>
            </a:solidFill>
            <a:prstDash val="solid"/>
          </a:ln>
        </p:spPr>
        <p:txBody>
          <a:bodyPr/>
          <a:lstStyle/>
          <a:p>
            <a:endParaRPr lang="en-NZ" sz="2400" b="1"/>
          </a:p>
        </p:txBody>
      </p:sp>
      <p:sp>
        <p:nvSpPr>
          <p:cNvPr id="15" name="Text 13"/>
          <p:cNvSpPr/>
          <p:nvPr/>
        </p:nvSpPr>
        <p:spPr>
          <a:xfrm>
            <a:off x="566928" y="3035808"/>
            <a:ext cx="1005840" cy="274320"/>
          </a:xfrm>
          <a:prstGeom prst="rect">
            <a:avLst/>
          </a:prstGeom>
          <a:noFill/>
          <a:ln/>
        </p:spPr>
        <p:txBody>
          <a:bodyPr wrap="square" lIns="0" tIns="0" rIns="0" bIns="0" rtlCol="0" anchor="ctr"/>
          <a:lstStyle/>
          <a:p>
            <a:pPr marL="0" indent="0">
              <a:buNone/>
            </a:pPr>
            <a:r>
              <a:rPr lang="en-US" sz="1400" b="1" dirty="0">
                <a:solidFill>
                  <a:srgbClr val="0F7E6E"/>
                </a:solidFill>
              </a:rPr>
              <a:t>Challenge</a:t>
            </a:r>
            <a:endParaRPr lang="en-US" sz="1400" b="1" dirty="0"/>
          </a:p>
        </p:txBody>
      </p:sp>
      <p:sp>
        <p:nvSpPr>
          <p:cNvPr id="16" name="Text 14"/>
          <p:cNvSpPr/>
          <p:nvPr/>
        </p:nvSpPr>
        <p:spPr>
          <a:xfrm>
            <a:off x="566928" y="3282696"/>
            <a:ext cx="4480560" cy="457200"/>
          </a:xfrm>
          <a:prstGeom prst="rect">
            <a:avLst/>
          </a:prstGeom>
          <a:noFill/>
          <a:ln/>
        </p:spPr>
        <p:txBody>
          <a:bodyPr wrap="square" lIns="0" tIns="0" rIns="0" bIns="0" rtlCol="0" anchor="ctr"/>
          <a:lstStyle/>
          <a:p>
            <a:pPr marL="0" indent="0">
              <a:buNone/>
            </a:pPr>
            <a:r>
              <a:rPr lang="en-US" sz="1100" b="1" dirty="0">
                <a:solidFill>
                  <a:srgbClr val="475569"/>
                </a:solidFill>
              </a:rPr>
              <a:t>Highly imbalanced data, only 0.17% fraud. Accuracy alone is misleading; recall &amp; precision matter most.</a:t>
            </a:r>
            <a:endParaRPr lang="en-US" sz="1100" b="1" dirty="0"/>
          </a:p>
        </p:txBody>
      </p:sp>
      <p:sp>
        <p:nvSpPr>
          <p:cNvPr id="18" name="Shape 16"/>
          <p:cNvSpPr/>
          <p:nvPr/>
        </p:nvSpPr>
        <p:spPr>
          <a:xfrm>
            <a:off x="411480" y="3895344"/>
            <a:ext cx="73152" cy="777240"/>
          </a:xfrm>
          <a:prstGeom prst="rect">
            <a:avLst/>
          </a:prstGeom>
          <a:solidFill>
            <a:srgbClr val="0F7E6E"/>
          </a:solidFill>
          <a:ln w="12700">
            <a:solidFill>
              <a:srgbClr val="0F7E6E"/>
            </a:solidFill>
            <a:prstDash val="solid"/>
          </a:ln>
        </p:spPr>
        <p:txBody>
          <a:bodyPr/>
          <a:lstStyle/>
          <a:p>
            <a:endParaRPr lang="en-NZ" sz="2400" b="1"/>
          </a:p>
        </p:txBody>
      </p:sp>
      <p:sp>
        <p:nvSpPr>
          <p:cNvPr id="19" name="Text 17"/>
          <p:cNvSpPr/>
          <p:nvPr/>
        </p:nvSpPr>
        <p:spPr>
          <a:xfrm>
            <a:off x="566928" y="3922776"/>
            <a:ext cx="1005840" cy="274320"/>
          </a:xfrm>
          <a:prstGeom prst="rect">
            <a:avLst/>
          </a:prstGeom>
          <a:noFill/>
          <a:ln/>
        </p:spPr>
        <p:txBody>
          <a:bodyPr wrap="square" lIns="0" tIns="0" rIns="0" bIns="0" rtlCol="0" anchor="ctr"/>
          <a:lstStyle/>
          <a:p>
            <a:pPr marL="0" indent="0">
              <a:buNone/>
            </a:pPr>
            <a:r>
              <a:rPr lang="en-US" sz="1400" b="1" dirty="0">
                <a:solidFill>
                  <a:srgbClr val="0F7E6E"/>
                </a:solidFill>
              </a:rPr>
              <a:t>Approach</a:t>
            </a:r>
            <a:endParaRPr lang="en-US" sz="1400" b="1" dirty="0"/>
          </a:p>
        </p:txBody>
      </p:sp>
      <p:sp>
        <p:nvSpPr>
          <p:cNvPr id="20" name="Text 18"/>
          <p:cNvSpPr/>
          <p:nvPr/>
        </p:nvSpPr>
        <p:spPr>
          <a:xfrm>
            <a:off x="566928" y="4169664"/>
            <a:ext cx="4480560" cy="457200"/>
          </a:xfrm>
          <a:prstGeom prst="rect">
            <a:avLst/>
          </a:prstGeom>
          <a:noFill/>
          <a:ln/>
        </p:spPr>
        <p:txBody>
          <a:bodyPr wrap="square" lIns="0" tIns="0" rIns="0" bIns="0" rtlCol="0" anchor="ctr"/>
          <a:lstStyle/>
          <a:p>
            <a:pPr marL="0" indent="0">
              <a:buNone/>
            </a:pPr>
            <a:r>
              <a:rPr lang="en-US" sz="1100" b="1" dirty="0">
                <a:solidFill>
                  <a:srgbClr val="475569"/>
                </a:solidFill>
              </a:rPr>
              <a:t>LinearSVC with class balancing, StandardScaler pipeline, and multi-metric evaluation.</a:t>
            </a:r>
            <a:endParaRPr lang="en-US" sz="1100" b="1" dirty="0"/>
          </a:p>
        </p:txBody>
      </p:sp>
      <p:sp>
        <p:nvSpPr>
          <p:cNvPr id="21" name="Text 19"/>
          <p:cNvSpPr/>
          <p:nvPr/>
        </p:nvSpPr>
        <p:spPr>
          <a:xfrm>
            <a:off x="5394960" y="1188720"/>
            <a:ext cx="3474720" cy="320040"/>
          </a:xfrm>
          <a:prstGeom prst="rect">
            <a:avLst/>
          </a:prstGeom>
          <a:noFill/>
          <a:ln/>
        </p:spPr>
        <p:txBody>
          <a:bodyPr wrap="square" lIns="0" tIns="0" rIns="0" bIns="0" rtlCol="0" anchor="ctr"/>
          <a:lstStyle/>
          <a:p>
            <a:pPr marL="0" indent="0" algn="ctr">
              <a:buNone/>
            </a:pPr>
            <a:r>
              <a:rPr lang="en-US" sz="1200" b="1" dirty="0">
                <a:solidFill>
                  <a:srgbClr val="0D1B40"/>
                </a:solidFill>
              </a:rPr>
              <a:t>Class Distribution</a:t>
            </a:r>
            <a:endParaRPr lang="en-US" sz="1200" dirty="0"/>
          </a:p>
        </p:txBody>
      </p:sp>
      <p:pic>
        <p:nvPicPr>
          <p:cNvPr id="22" name="Image 0" descr="preencoded.png"/>
          <p:cNvPicPr>
            <a:picLocks noChangeAspect="1"/>
          </p:cNvPicPr>
          <p:nvPr/>
        </p:nvPicPr>
        <p:blipFill>
          <a:blip r:embed="rId4"/>
          <a:stretch>
            <a:fillRect/>
          </a:stretch>
        </p:blipFill>
        <p:spPr>
          <a:xfrm>
            <a:off x="5349240" y="1481328"/>
            <a:ext cx="3566160" cy="2743200"/>
          </a:xfrm>
          <a:prstGeom prst="rect">
            <a:avLst/>
          </a:prstGeom>
        </p:spPr>
      </p:pic>
      <p:sp>
        <p:nvSpPr>
          <p:cNvPr id="23" name="Shape 20"/>
          <p:cNvSpPr/>
          <p:nvPr/>
        </p:nvSpPr>
        <p:spPr>
          <a:xfrm>
            <a:off x="5349240" y="4297680"/>
            <a:ext cx="3566160" cy="457200"/>
          </a:xfrm>
          <a:prstGeom prst="rect">
            <a:avLst/>
          </a:prstGeom>
          <a:solidFill>
            <a:srgbClr val="FFF3CD"/>
          </a:solidFill>
          <a:ln w="12700">
            <a:solidFill>
              <a:srgbClr val="F0C040"/>
            </a:solidFill>
            <a:prstDash val="solid"/>
          </a:ln>
        </p:spPr>
        <p:txBody>
          <a:bodyPr/>
          <a:lstStyle/>
          <a:p>
            <a:endParaRPr lang="en-NZ"/>
          </a:p>
        </p:txBody>
      </p:sp>
      <p:sp>
        <p:nvSpPr>
          <p:cNvPr id="24" name="Text 21"/>
          <p:cNvSpPr/>
          <p:nvPr/>
        </p:nvSpPr>
        <p:spPr>
          <a:xfrm>
            <a:off x="5349240" y="4297680"/>
            <a:ext cx="3566160" cy="457200"/>
          </a:xfrm>
          <a:prstGeom prst="rect">
            <a:avLst/>
          </a:prstGeom>
          <a:noFill/>
          <a:ln/>
        </p:spPr>
        <p:txBody>
          <a:bodyPr wrap="square" lIns="0" tIns="0" rIns="0" bIns="0" rtlCol="0" anchor="ctr"/>
          <a:lstStyle/>
          <a:p>
            <a:pPr marL="0" indent="0" algn="ctr">
              <a:buNone/>
            </a:pPr>
            <a:r>
              <a:rPr lang="en-US" sz="950" b="1" dirty="0">
                <a:solidFill>
                  <a:srgbClr val="7A5200"/>
                </a:solidFill>
              </a:rPr>
              <a:t>⚠  Normal: 283,253 (99.83%)   |   Fraud: 492 (0.17%)</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35" name="Content Placeholder 7" descr="Shiny pyramid greenhouse sustainable growth and finance concept">
            <a:extLst>
              <a:ext uri="{FF2B5EF4-FFF2-40B4-BE49-F238E27FC236}">
                <a16:creationId xmlns:a16="http://schemas.microsoft.com/office/drawing/2014/main" id="{6D8E7A26-4AD8-DCF7-69D9-890F547685D7}"/>
              </a:ext>
            </a:extLst>
          </p:cNvPr>
          <p:cNvPicPr>
            <a:picLocks noChangeAspect="1"/>
          </p:cNvPicPr>
          <p:nvPr/>
        </p:nvPicPr>
        <p:blipFill>
          <a:blip r:embed="rId3">
            <a:alphaModFix amt="50000"/>
          </a:blip>
          <a:srcRect l="36007" r="7117" b="-1"/>
          <a:stretch>
            <a:fillRect/>
          </a:stretch>
        </p:blipFill>
        <p:spPr>
          <a:xfrm>
            <a:off x="4754880" y="-5418"/>
            <a:ext cx="4389120" cy="5151114"/>
          </a:xfrm>
          <a:prstGeom prst="rect">
            <a:avLst/>
          </a:prstGeom>
        </p:spPr>
      </p:pic>
      <p:sp>
        <p:nvSpPr>
          <p:cNvPr id="2" name="Shape 0"/>
          <p:cNvSpPr/>
          <p:nvPr/>
        </p:nvSpPr>
        <p:spPr>
          <a:xfrm>
            <a:off x="411480" y="201168"/>
            <a:ext cx="1463040" cy="228600"/>
          </a:xfrm>
          <a:prstGeom prst="rect">
            <a:avLst/>
          </a:prstGeom>
          <a:solidFill>
            <a:srgbClr val="17BDA0"/>
          </a:solidFill>
          <a:ln w="12700">
            <a:solidFill>
              <a:srgbClr val="17BDA0"/>
            </a:solidFill>
            <a:prstDash val="solid"/>
          </a:ln>
        </p:spPr>
        <p:txBody>
          <a:bodyPr/>
          <a:lstStyle/>
          <a:p>
            <a:endParaRPr lang="en-NZ"/>
          </a:p>
        </p:txBody>
      </p:sp>
      <p:sp>
        <p:nvSpPr>
          <p:cNvPr id="3" name="Text 1"/>
          <p:cNvSpPr/>
          <p:nvPr/>
        </p:nvSpPr>
        <p:spPr>
          <a:xfrm>
            <a:off x="411480" y="201168"/>
            <a:ext cx="1463040" cy="228600"/>
          </a:xfrm>
          <a:prstGeom prst="rect">
            <a:avLst/>
          </a:prstGeom>
          <a:noFill/>
          <a:ln/>
        </p:spPr>
        <p:txBody>
          <a:bodyPr wrap="square" lIns="0" tIns="0" rIns="0" bIns="0" rtlCol="0" anchor="ctr"/>
          <a:lstStyle/>
          <a:p>
            <a:pPr marL="0" indent="0" algn="ctr">
              <a:buNone/>
            </a:pPr>
            <a:r>
              <a:rPr lang="en-US" sz="800" b="1" dirty="0">
                <a:solidFill>
                  <a:srgbClr val="0D1B40"/>
                </a:solidFill>
              </a:rPr>
              <a:t>PREPROCESSING</a:t>
            </a:r>
            <a:endParaRPr lang="en-US" sz="800" dirty="0"/>
          </a:p>
        </p:txBody>
      </p:sp>
      <p:sp>
        <p:nvSpPr>
          <p:cNvPr id="4" name="Text 2"/>
          <p:cNvSpPr/>
          <p:nvPr/>
        </p:nvSpPr>
        <p:spPr>
          <a:xfrm>
            <a:off x="411480" y="502920"/>
            <a:ext cx="8229600" cy="594360"/>
          </a:xfrm>
          <a:prstGeom prst="rect">
            <a:avLst/>
          </a:prstGeom>
          <a:noFill/>
          <a:ln/>
        </p:spPr>
        <p:txBody>
          <a:bodyPr wrap="square" rtlCol="0" anchor="ctr"/>
          <a:lstStyle/>
          <a:p>
            <a:pPr marL="0" indent="0">
              <a:buNone/>
            </a:pPr>
            <a:r>
              <a:rPr lang="en-US" sz="3000" b="1" dirty="0">
                <a:solidFill>
                  <a:srgbClr val="0D1B40"/>
                </a:solidFill>
                <a:latin typeface="Trebuchet MS" pitchFamily="34" charset="0"/>
                <a:ea typeface="Trebuchet MS" pitchFamily="34" charset="-122"/>
                <a:cs typeface="Trebuchet MS" pitchFamily="34" charset="-120"/>
              </a:rPr>
              <a:t>Data Preprocessing &amp; Cleaning</a:t>
            </a:r>
            <a:endParaRPr lang="en-US" sz="3000" dirty="0"/>
          </a:p>
        </p:txBody>
      </p:sp>
      <p:sp>
        <p:nvSpPr>
          <p:cNvPr id="5" name="Shape 3"/>
          <p:cNvSpPr/>
          <p:nvPr/>
        </p:nvSpPr>
        <p:spPr>
          <a:xfrm>
            <a:off x="411480" y="1298448"/>
            <a:ext cx="4114800" cy="1005840"/>
          </a:xfrm>
          <a:prstGeom prst="rect">
            <a:avLst/>
          </a:prstGeom>
          <a:solidFill>
            <a:srgbClr val="E8F0FD"/>
          </a:solidFill>
          <a:ln w="12700">
            <a:solidFill>
              <a:srgbClr val="D0DDF5"/>
            </a:solidFill>
            <a:prstDash val="solid"/>
          </a:ln>
        </p:spPr>
        <p:txBody>
          <a:bodyPr/>
          <a:lstStyle/>
          <a:p>
            <a:endParaRPr lang="en-NZ"/>
          </a:p>
        </p:txBody>
      </p:sp>
      <p:sp>
        <p:nvSpPr>
          <p:cNvPr id="6" name="Shape 4"/>
          <p:cNvSpPr/>
          <p:nvPr/>
        </p:nvSpPr>
        <p:spPr>
          <a:xfrm>
            <a:off x="502920" y="1527048"/>
            <a:ext cx="502920" cy="502920"/>
          </a:xfrm>
          <a:prstGeom prst="ellipse">
            <a:avLst/>
          </a:prstGeom>
          <a:solidFill>
            <a:srgbClr val="0F7E6E"/>
          </a:solidFill>
          <a:ln w="12700">
            <a:solidFill>
              <a:srgbClr val="0F7E6E"/>
            </a:solidFill>
            <a:prstDash val="solid"/>
          </a:ln>
        </p:spPr>
        <p:txBody>
          <a:bodyPr/>
          <a:lstStyle/>
          <a:p>
            <a:endParaRPr lang="en-NZ"/>
          </a:p>
        </p:txBody>
      </p:sp>
      <p:sp>
        <p:nvSpPr>
          <p:cNvPr id="7" name="Text 5"/>
          <p:cNvSpPr/>
          <p:nvPr/>
        </p:nvSpPr>
        <p:spPr>
          <a:xfrm>
            <a:off x="502920" y="1527048"/>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rPr>
              <a:t>01</a:t>
            </a:r>
            <a:endParaRPr lang="en-US" sz="1300" dirty="0"/>
          </a:p>
        </p:txBody>
      </p:sp>
      <p:sp>
        <p:nvSpPr>
          <p:cNvPr id="8" name="Text 6"/>
          <p:cNvSpPr/>
          <p:nvPr/>
        </p:nvSpPr>
        <p:spPr>
          <a:xfrm>
            <a:off x="1097280" y="1371600"/>
            <a:ext cx="3291840" cy="320040"/>
          </a:xfrm>
          <a:prstGeom prst="rect">
            <a:avLst/>
          </a:prstGeom>
          <a:noFill/>
          <a:ln/>
        </p:spPr>
        <p:txBody>
          <a:bodyPr wrap="square" lIns="0" tIns="0" rIns="0" bIns="0" rtlCol="0" anchor="ctr"/>
          <a:lstStyle/>
          <a:p>
            <a:pPr marL="0" indent="0">
              <a:buNone/>
            </a:pPr>
            <a:r>
              <a:rPr lang="en-US" sz="1200" b="1" dirty="0">
                <a:solidFill>
                  <a:srgbClr val="0D1B40"/>
                </a:solidFill>
              </a:rPr>
              <a:t>Load Dataset</a:t>
            </a:r>
            <a:endParaRPr lang="en-US" sz="1200" dirty="0"/>
          </a:p>
        </p:txBody>
      </p:sp>
      <p:sp>
        <p:nvSpPr>
          <p:cNvPr id="9" name="Text 7"/>
          <p:cNvSpPr/>
          <p:nvPr/>
        </p:nvSpPr>
        <p:spPr>
          <a:xfrm>
            <a:off x="1097280" y="1682496"/>
            <a:ext cx="3291840" cy="530352"/>
          </a:xfrm>
          <a:prstGeom prst="rect">
            <a:avLst/>
          </a:prstGeom>
          <a:noFill/>
          <a:ln/>
        </p:spPr>
        <p:txBody>
          <a:bodyPr wrap="square" lIns="0" tIns="0" rIns="0" bIns="0" rtlCol="0" anchor="ctr"/>
          <a:lstStyle/>
          <a:p>
            <a:pPr marL="0" indent="0">
              <a:buNone/>
            </a:pPr>
            <a:r>
              <a:rPr lang="en-US" sz="1000" dirty="0">
                <a:solidFill>
                  <a:srgbClr val="475569"/>
                </a:solidFill>
              </a:rPr>
              <a:t>284,807 CSV rows read with Pandas. 31 columns: Time, V1-V28, Amount, Class.</a:t>
            </a:r>
            <a:endParaRPr lang="en-US" sz="1000" dirty="0"/>
          </a:p>
        </p:txBody>
      </p:sp>
      <p:sp>
        <p:nvSpPr>
          <p:cNvPr id="11" name="Shape 9"/>
          <p:cNvSpPr/>
          <p:nvPr/>
        </p:nvSpPr>
        <p:spPr>
          <a:xfrm>
            <a:off x="4846320" y="1527048"/>
            <a:ext cx="502920" cy="502920"/>
          </a:xfrm>
          <a:prstGeom prst="ellipse">
            <a:avLst/>
          </a:prstGeom>
          <a:solidFill>
            <a:srgbClr val="0F7E6E"/>
          </a:solidFill>
          <a:ln w="12700">
            <a:solidFill>
              <a:srgbClr val="0F7E6E"/>
            </a:solidFill>
            <a:prstDash val="solid"/>
          </a:ln>
        </p:spPr>
        <p:txBody>
          <a:bodyPr/>
          <a:lstStyle/>
          <a:p>
            <a:endParaRPr lang="en-NZ"/>
          </a:p>
        </p:txBody>
      </p:sp>
      <p:sp>
        <p:nvSpPr>
          <p:cNvPr id="12" name="Text 10"/>
          <p:cNvSpPr/>
          <p:nvPr/>
        </p:nvSpPr>
        <p:spPr>
          <a:xfrm>
            <a:off x="4846320" y="1527048"/>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rPr>
              <a:t>02</a:t>
            </a:r>
            <a:endParaRPr lang="en-US" sz="1300" dirty="0"/>
          </a:p>
        </p:txBody>
      </p:sp>
      <p:sp>
        <p:nvSpPr>
          <p:cNvPr id="13" name="Text 11"/>
          <p:cNvSpPr/>
          <p:nvPr/>
        </p:nvSpPr>
        <p:spPr>
          <a:xfrm>
            <a:off x="5440680" y="1371600"/>
            <a:ext cx="3291840" cy="320040"/>
          </a:xfrm>
          <a:prstGeom prst="rect">
            <a:avLst/>
          </a:prstGeom>
          <a:noFill/>
          <a:ln/>
        </p:spPr>
        <p:txBody>
          <a:bodyPr wrap="square" lIns="0" tIns="0" rIns="0" bIns="0" rtlCol="0" anchor="ctr"/>
          <a:lstStyle/>
          <a:p>
            <a:pPr marL="0" indent="0">
              <a:buNone/>
            </a:pPr>
            <a:r>
              <a:rPr lang="en-US" sz="1200" b="1" dirty="0">
                <a:solidFill>
                  <a:srgbClr val="0D1B40"/>
                </a:solidFill>
              </a:rPr>
              <a:t>Missing Values Check</a:t>
            </a:r>
            <a:endParaRPr lang="en-US" sz="1200" dirty="0"/>
          </a:p>
        </p:txBody>
      </p:sp>
      <p:sp>
        <p:nvSpPr>
          <p:cNvPr id="14" name="Text 12"/>
          <p:cNvSpPr/>
          <p:nvPr/>
        </p:nvSpPr>
        <p:spPr>
          <a:xfrm>
            <a:off x="5440680" y="1682496"/>
            <a:ext cx="3291840" cy="530352"/>
          </a:xfrm>
          <a:prstGeom prst="rect">
            <a:avLst/>
          </a:prstGeom>
          <a:noFill/>
          <a:ln/>
        </p:spPr>
        <p:txBody>
          <a:bodyPr wrap="square" lIns="0" tIns="0" rIns="0" bIns="0" rtlCol="0" anchor="ctr"/>
          <a:lstStyle/>
          <a:p>
            <a:pPr marL="0" indent="0">
              <a:buNone/>
            </a:pPr>
            <a:r>
              <a:rPr lang="en-US" sz="1000" dirty="0">
                <a:solidFill>
                  <a:srgbClr val="475569"/>
                </a:solidFill>
              </a:rPr>
              <a:t>Zero missing values found in all columns, no imputation needed.</a:t>
            </a:r>
            <a:endParaRPr lang="en-US" sz="1000" dirty="0"/>
          </a:p>
        </p:txBody>
      </p:sp>
      <p:sp>
        <p:nvSpPr>
          <p:cNvPr id="15" name="Shape 13"/>
          <p:cNvSpPr/>
          <p:nvPr/>
        </p:nvSpPr>
        <p:spPr>
          <a:xfrm>
            <a:off x="411480" y="2468880"/>
            <a:ext cx="4114800" cy="1005840"/>
          </a:xfrm>
          <a:prstGeom prst="rect">
            <a:avLst/>
          </a:prstGeom>
          <a:solidFill>
            <a:srgbClr val="E8F0FD"/>
          </a:solidFill>
          <a:ln w="12700">
            <a:solidFill>
              <a:srgbClr val="D0DDF5"/>
            </a:solidFill>
            <a:prstDash val="solid"/>
          </a:ln>
        </p:spPr>
        <p:txBody>
          <a:bodyPr/>
          <a:lstStyle/>
          <a:p>
            <a:endParaRPr lang="en-NZ"/>
          </a:p>
        </p:txBody>
      </p:sp>
      <p:sp>
        <p:nvSpPr>
          <p:cNvPr id="16" name="Shape 14"/>
          <p:cNvSpPr/>
          <p:nvPr/>
        </p:nvSpPr>
        <p:spPr>
          <a:xfrm>
            <a:off x="502920" y="2697480"/>
            <a:ext cx="502920" cy="502920"/>
          </a:xfrm>
          <a:prstGeom prst="ellipse">
            <a:avLst/>
          </a:prstGeom>
          <a:solidFill>
            <a:srgbClr val="0F7E6E"/>
          </a:solidFill>
          <a:ln w="12700">
            <a:solidFill>
              <a:srgbClr val="0F7E6E"/>
            </a:solidFill>
            <a:prstDash val="solid"/>
          </a:ln>
        </p:spPr>
        <p:txBody>
          <a:bodyPr/>
          <a:lstStyle/>
          <a:p>
            <a:endParaRPr lang="en-NZ"/>
          </a:p>
        </p:txBody>
      </p:sp>
      <p:sp>
        <p:nvSpPr>
          <p:cNvPr id="17" name="Text 15"/>
          <p:cNvSpPr/>
          <p:nvPr/>
        </p:nvSpPr>
        <p:spPr>
          <a:xfrm>
            <a:off x="502920" y="269748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rPr>
              <a:t>03</a:t>
            </a:r>
            <a:endParaRPr lang="en-US" sz="1300" dirty="0"/>
          </a:p>
        </p:txBody>
      </p:sp>
      <p:sp>
        <p:nvSpPr>
          <p:cNvPr id="18" name="Text 16"/>
          <p:cNvSpPr/>
          <p:nvPr/>
        </p:nvSpPr>
        <p:spPr>
          <a:xfrm>
            <a:off x="1097280" y="2542032"/>
            <a:ext cx="3291840" cy="320040"/>
          </a:xfrm>
          <a:prstGeom prst="rect">
            <a:avLst/>
          </a:prstGeom>
          <a:noFill/>
          <a:ln/>
        </p:spPr>
        <p:txBody>
          <a:bodyPr wrap="square" lIns="0" tIns="0" rIns="0" bIns="0" rtlCol="0" anchor="ctr"/>
          <a:lstStyle/>
          <a:p>
            <a:pPr marL="0" indent="0">
              <a:buNone/>
            </a:pPr>
            <a:r>
              <a:rPr lang="en-US" sz="1200" b="1" dirty="0">
                <a:solidFill>
                  <a:srgbClr val="0D1B40"/>
                </a:solidFill>
              </a:rPr>
              <a:t>Remove Duplicates</a:t>
            </a:r>
            <a:endParaRPr lang="en-US" sz="1200" dirty="0"/>
          </a:p>
        </p:txBody>
      </p:sp>
      <p:sp>
        <p:nvSpPr>
          <p:cNvPr id="19" name="Text 17"/>
          <p:cNvSpPr/>
          <p:nvPr/>
        </p:nvSpPr>
        <p:spPr>
          <a:xfrm>
            <a:off x="1097280" y="2852928"/>
            <a:ext cx="3291840" cy="530352"/>
          </a:xfrm>
          <a:prstGeom prst="rect">
            <a:avLst/>
          </a:prstGeom>
          <a:noFill/>
          <a:ln/>
        </p:spPr>
        <p:txBody>
          <a:bodyPr wrap="square" lIns="0" tIns="0" rIns="0" bIns="0" rtlCol="0" anchor="ctr"/>
          <a:lstStyle/>
          <a:p>
            <a:pPr marL="0" indent="0">
              <a:buNone/>
            </a:pPr>
            <a:r>
              <a:rPr lang="en-US" sz="1000" dirty="0">
                <a:solidFill>
                  <a:srgbClr val="475569"/>
                </a:solidFill>
              </a:rPr>
              <a:t>1,081 duplicate rows removed. Final dataset: 283,726 records.</a:t>
            </a:r>
            <a:endParaRPr lang="en-US" sz="1000" dirty="0"/>
          </a:p>
        </p:txBody>
      </p:sp>
      <p:sp>
        <p:nvSpPr>
          <p:cNvPr id="21" name="Shape 19"/>
          <p:cNvSpPr/>
          <p:nvPr/>
        </p:nvSpPr>
        <p:spPr>
          <a:xfrm>
            <a:off x="4846320" y="2697480"/>
            <a:ext cx="502920" cy="502920"/>
          </a:xfrm>
          <a:prstGeom prst="ellipse">
            <a:avLst/>
          </a:prstGeom>
          <a:solidFill>
            <a:srgbClr val="0F7E6E"/>
          </a:solidFill>
          <a:ln w="12700">
            <a:solidFill>
              <a:srgbClr val="0F7E6E"/>
            </a:solidFill>
            <a:prstDash val="solid"/>
          </a:ln>
        </p:spPr>
        <p:txBody>
          <a:bodyPr/>
          <a:lstStyle/>
          <a:p>
            <a:endParaRPr lang="en-NZ"/>
          </a:p>
        </p:txBody>
      </p:sp>
      <p:sp>
        <p:nvSpPr>
          <p:cNvPr id="22" name="Text 20"/>
          <p:cNvSpPr/>
          <p:nvPr/>
        </p:nvSpPr>
        <p:spPr>
          <a:xfrm>
            <a:off x="4846320" y="269748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rPr>
              <a:t>04</a:t>
            </a:r>
            <a:endParaRPr lang="en-US" sz="1300" dirty="0"/>
          </a:p>
        </p:txBody>
      </p:sp>
      <p:sp>
        <p:nvSpPr>
          <p:cNvPr id="23" name="Text 21"/>
          <p:cNvSpPr/>
          <p:nvPr/>
        </p:nvSpPr>
        <p:spPr>
          <a:xfrm>
            <a:off x="5440680" y="2542032"/>
            <a:ext cx="3291840" cy="320040"/>
          </a:xfrm>
          <a:prstGeom prst="rect">
            <a:avLst/>
          </a:prstGeom>
          <a:noFill/>
          <a:ln/>
        </p:spPr>
        <p:txBody>
          <a:bodyPr wrap="square" lIns="0" tIns="0" rIns="0" bIns="0" rtlCol="0" anchor="ctr"/>
          <a:lstStyle/>
          <a:p>
            <a:pPr marL="0" indent="0">
              <a:buNone/>
            </a:pPr>
            <a:r>
              <a:rPr lang="en-US" sz="1200" b="1" dirty="0">
                <a:solidFill>
                  <a:srgbClr val="0D1B40"/>
                </a:solidFill>
              </a:rPr>
              <a:t>Feature Selection</a:t>
            </a:r>
            <a:endParaRPr lang="en-US" sz="1200" dirty="0"/>
          </a:p>
        </p:txBody>
      </p:sp>
      <p:sp>
        <p:nvSpPr>
          <p:cNvPr id="24" name="Text 22"/>
          <p:cNvSpPr/>
          <p:nvPr/>
        </p:nvSpPr>
        <p:spPr>
          <a:xfrm>
            <a:off x="5440680" y="2852928"/>
            <a:ext cx="3291840" cy="530352"/>
          </a:xfrm>
          <a:prstGeom prst="rect">
            <a:avLst/>
          </a:prstGeom>
          <a:noFill/>
          <a:ln/>
        </p:spPr>
        <p:txBody>
          <a:bodyPr wrap="square" lIns="0" tIns="0" rIns="0" bIns="0" rtlCol="0" anchor="ctr"/>
          <a:lstStyle/>
          <a:p>
            <a:pPr marL="0" indent="0">
              <a:buNone/>
            </a:pPr>
            <a:r>
              <a:rPr lang="en-US" sz="1000" dirty="0">
                <a:solidFill>
                  <a:srgbClr val="475569"/>
                </a:solidFill>
              </a:rPr>
              <a:t>Class column isolated as target y. Remaining 30 columns used as features X.</a:t>
            </a:r>
            <a:endParaRPr lang="en-US" sz="1000" dirty="0"/>
          </a:p>
        </p:txBody>
      </p:sp>
      <p:sp>
        <p:nvSpPr>
          <p:cNvPr id="25" name="Shape 23"/>
          <p:cNvSpPr/>
          <p:nvPr/>
        </p:nvSpPr>
        <p:spPr>
          <a:xfrm>
            <a:off x="411480" y="3639312"/>
            <a:ext cx="4114800" cy="1005840"/>
          </a:xfrm>
          <a:prstGeom prst="rect">
            <a:avLst/>
          </a:prstGeom>
          <a:solidFill>
            <a:srgbClr val="E8F0FD"/>
          </a:solidFill>
          <a:ln w="12700">
            <a:solidFill>
              <a:srgbClr val="D0DDF5"/>
            </a:solidFill>
            <a:prstDash val="solid"/>
          </a:ln>
        </p:spPr>
        <p:txBody>
          <a:bodyPr/>
          <a:lstStyle/>
          <a:p>
            <a:endParaRPr lang="en-NZ"/>
          </a:p>
        </p:txBody>
      </p:sp>
      <p:sp>
        <p:nvSpPr>
          <p:cNvPr id="26" name="Shape 24"/>
          <p:cNvSpPr/>
          <p:nvPr/>
        </p:nvSpPr>
        <p:spPr>
          <a:xfrm>
            <a:off x="502920" y="3867912"/>
            <a:ext cx="502920" cy="502920"/>
          </a:xfrm>
          <a:prstGeom prst="ellipse">
            <a:avLst/>
          </a:prstGeom>
          <a:solidFill>
            <a:srgbClr val="0F7E6E"/>
          </a:solidFill>
          <a:ln w="12700">
            <a:solidFill>
              <a:srgbClr val="0F7E6E"/>
            </a:solidFill>
            <a:prstDash val="solid"/>
          </a:ln>
        </p:spPr>
        <p:txBody>
          <a:bodyPr/>
          <a:lstStyle/>
          <a:p>
            <a:endParaRPr lang="en-NZ"/>
          </a:p>
        </p:txBody>
      </p:sp>
      <p:sp>
        <p:nvSpPr>
          <p:cNvPr id="27" name="Text 25"/>
          <p:cNvSpPr/>
          <p:nvPr/>
        </p:nvSpPr>
        <p:spPr>
          <a:xfrm>
            <a:off x="502920" y="3867912"/>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rPr>
              <a:t>05</a:t>
            </a:r>
            <a:endParaRPr lang="en-US" sz="1300" dirty="0"/>
          </a:p>
        </p:txBody>
      </p:sp>
      <p:sp>
        <p:nvSpPr>
          <p:cNvPr id="28" name="Text 26"/>
          <p:cNvSpPr/>
          <p:nvPr/>
        </p:nvSpPr>
        <p:spPr>
          <a:xfrm>
            <a:off x="1097280" y="3712464"/>
            <a:ext cx="3291840" cy="320040"/>
          </a:xfrm>
          <a:prstGeom prst="rect">
            <a:avLst/>
          </a:prstGeom>
          <a:noFill/>
          <a:ln/>
        </p:spPr>
        <p:txBody>
          <a:bodyPr wrap="square" lIns="0" tIns="0" rIns="0" bIns="0" rtlCol="0" anchor="ctr"/>
          <a:lstStyle/>
          <a:p>
            <a:pPr marL="0" indent="0">
              <a:buNone/>
            </a:pPr>
            <a:r>
              <a:rPr lang="en-US" sz="1200" b="1" dirty="0">
                <a:solidFill>
                  <a:srgbClr val="0D1B40"/>
                </a:solidFill>
              </a:rPr>
              <a:t>StandardScaler</a:t>
            </a:r>
            <a:endParaRPr lang="en-US" sz="1200" dirty="0"/>
          </a:p>
        </p:txBody>
      </p:sp>
      <p:sp>
        <p:nvSpPr>
          <p:cNvPr id="29" name="Text 27"/>
          <p:cNvSpPr/>
          <p:nvPr/>
        </p:nvSpPr>
        <p:spPr>
          <a:xfrm>
            <a:off x="1097280" y="4023360"/>
            <a:ext cx="3291840" cy="530352"/>
          </a:xfrm>
          <a:prstGeom prst="rect">
            <a:avLst/>
          </a:prstGeom>
          <a:noFill/>
          <a:ln/>
        </p:spPr>
        <p:txBody>
          <a:bodyPr wrap="square" lIns="0" tIns="0" rIns="0" bIns="0" rtlCol="0" anchor="ctr"/>
          <a:lstStyle/>
          <a:p>
            <a:pPr marL="0" indent="0">
              <a:buNone/>
            </a:pPr>
            <a:r>
              <a:rPr lang="en-US" sz="1000" dirty="0">
                <a:solidFill>
                  <a:srgbClr val="475569"/>
                </a:solidFill>
              </a:rPr>
              <a:t>Applied to all features inside a Pipeline. Critical for SVM, equalize scale of Amount/Time vs V1–V28.</a:t>
            </a:r>
            <a:endParaRPr lang="en-US" sz="1000" dirty="0"/>
          </a:p>
        </p:txBody>
      </p:sp>
      <p:sp>
        <p:nvSpPr>
          <p:cNvPr id="31" name="Shape 29"/>
          <p:cNvSpPr/>
          <p:nvPr/>
        </p:nvSpPr>
        <p:spPr>
          <a:xfrm>
            <a:off x="4846320" y="3867912"/>
            <a:ext cx="502920" cy="502920"/>
          </a:xfrm>
          <a:prstGeom prst="ellipse">
            <a:avLst/>
          </a:prstGeom>
          <a:solidFill>
            <a:srgbClr val="0F7E6E"/>
          </a:solidFill>
          <a:ln w="12700">
            <a:solidFill>
              <a:srgbClr val="0F7E6E"/>
            </a:solidFill>
            <a:prstDash val="solid"/>
          </a:ln>
        </p:spPr>
        <p:txBody>
          <a:bodyPr/>
          <a:lstStyle/>
          <a:p>
            <a:endParaRPr lang="en-NZ"/>
          </a:p>
        </p:txBody>
      </p:sp>
      <p:sp>
        <p:nvSpPr>
          <p:cNvPr id="32" name="Text 30"/>
          <p:cNvSpPr/>
          <p:nvPr/>
        </p:nvSpPr>
        <p:spPr>
          <a:xfrm>
            <a:off x="4846320" y="3867912"/>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rPr>
              <a:t>06</a:t>
            </a:r>
            <a:endParaRPr lang="en-US" sz="1300" dirty="0"/>
          </a:p>
        </p:txBody>
      </p:sp>
      <p:sp>
        <p:nvSpPr>
          <p:cNvPr id="33" name="Text 31"/>
          <p:cNvSpPr/>
          <p:nvPr/>
        </p:nvSpPr>
        <p:spPr>
          <a:xfrm>
            <a:off x="5440680" y="3712464"/>
            <a:ext cx="3291840" cy="320040"/>
          </a:xfrm>
          <a:prstGeom prst="rect">
            <a:avLst/>
          </a:prstGeom>
          <a:noFill/>
          <a:ln/>
        </p:spPr>
        <p:txBody>
          <a:bodyPr wrap="square" lIns="0" tIns="0" rIns="0" bIns="0" rtlCol="0" anchor="ctr"/>
          <a:lstStyle/>
          <a:p>
            <a:pPr marL="0" indent="0">
              <a:buNone/>
            </a:pPr>
            <a:r>
              <a:rPr lang="en-US" sz="1200" b="1" dirty="0">
                <a:solidFill>
                  <a:srgbClr val="0D1B40"/>
                </a:solidFill>
              </a:rPr>
              <a:t>Stratified Split</a:t>
            </a:r>
            <a:endParaRPr lang="en-US" sz="1200" dirty="0"/>
          </a:p>
        </p:txBody>
      </p:sp>
      <p:sp>
        <p:nvSpPr>
          <p:cNvPr id="34" name="Text 32"/>
          <p:cNvSpPr/>
          <p:nvPr/>
        </p:nvSpPr>
        <p:spPr>
          <a:xfrm>
            <a:off x="5440680" y="4023360"/>
            <a:ext cx="3291840" cy="530352"/>
          </a:xfrm>
          <a:prstGeom prst="rect">
            <a:avLst/>
          </a:prstGeom>
          <a:noFill/>
          <a:ln/>
        </p:spPr>
        <p:txBody>
          <a:bodyPr wrap="square" lIns="0" tIns="0" rIns="0" bIns="0" rtlCol="0" anchor="ctr"/>
          <a:lstStyle/>
          <a:p>
            <a:pPr marL="0" indent="0">
              <a:buNone/>
            </a:pPr>
            <a:r>
              <a:rPr lang="en-US" sz="1000" dirty="0">
                <a:solidFill>
                  <a:srgbClr val="475569"/>
                </a:solidFill>
              </a:rPr>
              <a:t>70% train (198,608 rows) / 30% test (85,118 rows). Stratify=y preserves class ratio.</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01168"/>
            <a:ext cx="1463040" cy="228600"/>
          </a:xfrm>
          <a:prstGeom prst="rect">
            <a:avLst/>
          </a:prstGeom>
          <a:solidFill>
            <a:srgbClr val="17BDA0"/>
          </a:solidFill>
          <a:ln w="12700">
            <a:solidFill>
              <a:srgbClr val="17BDA0"/>
            </a:solidFill>
            <a:prstDash val="solid"/>
          </a:ln>
        </p:spPr>
        <p:txBody>
          <a:bodyPr/>
          <a:lstStyle/>
          <a:p>
            <a:endParaRPr lang="en-NZ"/>
          </a:p>
        </p:txBody>
      </p:sp>
      <p:sp>
        <p:nvSpPr>
          <p:cNvPr id="3" name="Text 1"/>
          <p:cNvSpPr/>
          <p:nvPr/>
        </p:nvSpPr>
        <p:spPr>
          <a:xfrm>
            <a:off x="411480" y="201168"/>
            <a:ext cx="1463040" cy="228600"/>
          </a:xfrm>
          <a:prstGeom prst="rect">
            <a:avLst/>
          </a:prstGeom>
          <a:noFill/>
          <a:ln/>
        </p:spPr>
        <p:txBody>
          <a:bodyPr wrap="square" lIns="0" tIns="0" rIns="0" bIns="0" rtlCol="0" anchor="ctr"/>
          <a:lstStyle/>
          <a:p>
            <a:pPr marL="0" indent="0" algn="ctr">
              <a:buNone/>
            </a:pPr>
            <a:r>
              <a:rPr lang="en-US" sz="800" b="1" dirty="0">
                <a:solidFill>
                  <a:srgbClr val="0D1B40"/>
                </a:solidFill>
              </a:rPr>
              <a:t>EDA</a:t>
            </a:r>
            <a:endParaRPr lang="en-US" sz="800" dirty="0"/>
          </a:p>
        </p:txBody>
      </p:sp>
      <p:sp>
        <p:nvSpPr>
          <p:cNvPr id="4" name="Text 2"/>
          <p:cNvSpPr/>
          <p:nvPr/>
        </p:nvSpPr>
        <p:spPr>
          <a:xfrm>
            <a:off x="411480" y="502920"/>
            <a:ext cx="8229600" cy="594360"/>
          </a:xfrm>
          <a:prstGeom prst="rect">
            <a:avLst/>
          </a:prstGeom>
          <a:noFill/>
          <a:ln/>
        </p:spPr>
        <p:txBody>
          <a:bodyPr wrap="square" rtlCol="0" anchor="ctr"/>
          <a:lstStyle/>
          <a:p>
            <a:pPr marL="0" indent="0">
              <a:buNone/>
            </a:pPr>
            <a:r>
              <a:rPr lang="en-US" sz="3000" b="1" dirty="0">
                <a:solidFill>
                  <a:srgbClr val="0D1B40"/>
                </a:solidFill>
                <a:latin typeface="Trebuchet MS" pitchFamily="34" charset="0"/>
                <a:ea typeface="Trebuchet MS" pitchFamily="34" charset="-122"/>
                <a:cs typeface="Trebuchet MS" pitchFamily="34" charset="-120"/>
              </a:rPr>
              <a:t>Exploratory Data Analysis</a:t>
            </a:r>
            <a:endParaRPr lang="en-US" sz="3000" dirty="0"/>
          </a:p>
        </p:txBody>
      </p:sp>
      <p:sp>
        <p:nvSpPr>
          <p:cNvPr id="5" name="Text 3"/>
          <p:cNvSpPr/>
          <p:nvPr/>
        </p:nvSpPr>
        <p:spPr>
          <a:xfrm>
            <a:off x="411480" y="1188720"/>
            <a:ext cx="4206240" cy="320040"/>
          </a:xfrm>
          <a:prstGeom prst="rect">
            <a:avLst/>
          </a:prstGeom>
          <a:noFill/>
          <a:ln/>
        </p:spPr>
        <p:txBody>
          <a:bodyPr wrap="square" lIns="0" tIns="0" rIns="0" bIns="0" rtlCol="0" anchor="ctr"/>
          <a:lstStyle/>
          <a:p>
            <a:pPr marL="0" indent="0" algn="ctr">
              <a:buNone/>
            </a:pPr>
            <a:r>
              <a:rPr lang="en-US" sz="1200" b="1" dirty="0">
                <a:solidFill>
                  <a:srgbClr val="0D1B40"/>
                </a:solidFill>
              </a:rPr>
              <a:t>Transaction Amount Distribution</a:t>
            </a:r>
            <a:endParaRPr lang="en-US" sz="1200" dirty="0"/>
          </a:p>
        </p:txBody>
      </p:sp>
      <p:pic>
        <p:nvPicPr>
          <p:cNvPr id="6" name="Image 0" descr="preencoded.png"/>
          <p:cNvPicPr>
            <a:picLocks noChangeAspect="1"/>
          </p:cNvPicPr>
          <p:nvPr/>
        </p:nvPicPr>
        <p:blipFill>
          <a:blip r:embed="rId3"/>
          <a:stretch>
            <a:fillRect/>
          </a:stretch>
        </p:blipFill>
        <p:spPr>
          <a:xfrm>
            <a:off x="411480" y="1508760"/>
            <a:ext cx="4206240" cy="2743200"/>
          </a:xfrm>
          <a:prstGeom prst="rect">
            <a:avLst/>
          </a:prstGeom>
        </p:spPr>
      </p:pic>
      <p:sp>
        <p:nvSpPr>
          <p:cNvPr id="7" name="Text 4"/>
          <p:cNvSpPr/>
          <p:nvPr/>
        </p:nvSpPr>
        <p:spPr>
          <a:xfrm>
            <a:off x="4800600" y="1188720"/>
            <a:ext cx="4023360" cy="320040"/>
          </a:xfrm>
          <a:prstGeom prst="rect">
            <a:avLst/>
          </a:prstGeom>
          <a:noFill/>
          <a:ln/>
        </p:spPr>
        <p:txBody>
          <a:bodyPr wrap="square" lIns="0" tIns="0" rIns="0" bIns="0" rtlCol="0" anchor="ctr"/>
          <a:lstStyle/>
          <a:p>
            <a:pPr marL="0" indent="0" algn="ctr">
              <a:buNone/>
            </a:pPr>
            <a:r>
              <a:rPr lang="en-US" sz="1200" b="1" dirty="0">
                <a:solidFill>
                  <a:srgbClr val="0D1B40"/>
                </a:solidFill>
              </a:rPr>
              <a:t>Amount by Class (Boxplot)</a:t>
            </a:r>
            <a:endParaRPr lang="en-US" sz="1200" dirty="0"/>
          </a:p>
        </p:txBody>
      </p:sp>
      <p:pic>
        <p:nvPicPr>
          <p:cNvPr id="8" name="Image 1" descr="preencoded.png"/>
          <p:cNvPicPr>
            <a:picLocks noChangeAspect="1"/>
          </p:cNvPicPr>
          <p:nvPr/>
        </p:nvPicPr>
        <p:blipFill>
          <a:blip r:embed="rId4"/>
          <a:stretch>
            <a:fillRect/>
          </a:stretch>
        </p:blipFill>
        <p:spPr>
          <a:xfrm>
            <a:off x="4754880" y="1508760"/>
            <a:ext cx="4114800" cy="2743200"/>
          </a:xfrm>
          <a:prstGeom prst="rect">
            <a:avLst/>
          </a:prstGeom>
        </p:spPr>
      </p:pic>
      <p:sp>
        <p:nvSpPr>
          <p:cNvPr id="9" name="Shape 5"/>
          <p:cNvSpPr/>
          <p:nvPr/>
        </p:nvSpPr>
        <p:spPr>
          <a:xfrm>
            <a:off x="411480" y="4389120"/>
            <a:ext cx="8321040" cy="502920"/>
          </a:xfrm>
          <a:prstGeom prst="rect">
            <a:avLst/>
          </a:prstGeom>
          <a:solidFill>
            <a:srgbClr val="0D1B40"/>
          </a:solidFill>
          <a:ln w="12700">
            <a:solidFill>
              <a:srgbClr val="0D1B40"/>
            </a:solidFill>
            <a:prstDash val="solid"/>
          </a:ln>
        </p:spPr>
        <p:txBody>
          <a:bodyPr/>
          <a:lstStyle/>
          <a:p>
            <a:endParaRPr lang="en-NZ"/>
          </a:p>
        </p:txBody>
      </p:sp>
      <p:sp>
        <p:nvSpPr>
          <p:cNvPr id="10" name="Text 6"/>
          <p:cNvSpPr/>
          <p:nvPr/>
        </p:nvSpPr>
        <p:spPr>
          <a:xfrm>
            <a:off x="548640" y="4389120"/>
            <a:ext cx="8046720" cy="502920"/>
          </a:xfrm>
          <a:prstGeom prst="rect">
            <a:avLst/>
          </a:prstGeom>
          <a:noFill/>
          <a:ln/>
        </p:spPr>
        <p:txBody>
          <a:bodyPr wrap="square" lIns="0" tIns="0" rIns="0" bIns="0" rtlCol="0" anchor="ctr"/>
          <a:lstStyle/>
          <a:p>
            <a:pPr marL="0" indent="0" algn="ctr">
              <a:buNone/>
            </a:pPr>
            <a:r>
              <a:rPr lang="en-US" sz="1000" dirty="0">
                <a:solidFill>
                  <a:srgbClr val="17BDA0"/>
                </a:solidFill>
              </a:rPr>
              <a:t>Key Insight: Most transactions are low-value (&lt; $100). Fraud transactions tend to cluster at lower amounts, making amount alone insufficient for detection.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01168"/>
            <a:ext cx="1463040" cy="228600"/>
          </a:xfrm>
          <a:prstGeom prst="rect">
            <a:avLst/>
          </a:prstGeom>
          <a:solidFill>
            <a:srgbClr val="17BDA0"/>
          </a:solidFill>
          <a:ln w="12700">
            <a:solidFill>
              <a:srgbClr val="17BDA0"/>
            </a:solidFill>
            <a:prstDash val="solid"/>
          </a:ln>
        </p:spPr>
        <p:txBody>
          <a:bodyPr/>
          <a:lstStyle/>
          <a:p>
            <a:endParaRPr lang="en-NZ"/>
          </a:p>
        </p:txBody>
      </p:sp>
      <p:sp>
        <p:nvSpPr>
          <p:cNvPr id="3" name="Text 1"/>
          <p:cNvSpPr/>
          <p:nvPr/>
        </p:nvSpPr>
        <p:spPr>
          <a:xfrm>
            <a:off x="411480" y="201168"/>
            <a:ext cx="1463040" cy="228600"/>
          </a:xfrm>
          <a:prstGeom prst="rect">
            <a:avLst/>
          </a:prstGeom>
          <a:noFill/>
          <a:ln/>
        </p:spPr>
        <p:txBody>
          <a:bodyPr wrap="square" lIns="0" tIns="0" rIns="0" bIns="0" rtlCol="0" anchor="ctr"/>
          <a:lstStyle/>
          <a:p>
            <a:pPr marL="0" indent="0" algn="ctr">
              <a:buNone/>
            </a:pPr>
            <a:r>
              <a:rPr lang="en-US" sz="800" b="1" dirty="0">
                <a:solidFill>
                  <a:srgbClr val="0D1B40"/>
                </a:solidFill>
              </a:rPr>
              <a:t>EDA</a:t>
            </a:r>
            <a:endParaRPr lang="en-US" sz="800" dirty="0"/>
          </a:p>
        </p:txBody>
      </p:sp>
      <p:sp>
        <p:nvSpPr>
          <p:cNvPr id="4" name="Text 2"/>
          <p:cNvSpPr/>
          <p:nvPr/>
        </p:nvSpPr>
        <p:spPr>
          <a:xfrm>
            <a:off x="411480" y="502920"/>
            <a:ext cx="8229600" cy="594360"/>
          </a:xfrm>
          <a:prstGeom prst="rect">
            <a:avLst/>
          </a:prstGeom>
          <a:noFill/>
          <a:ln/>
        </p:spPr>
        <p:txBody>
          <a:bodyPr wrap="square" rtlCol="0" anchor="ctr"/>
          <a:lstStyle/>
          <a:p>
            <a:pPr marL="0" indent="0">
              <a:buNone/>
            </a:pPr>
            <a:r>
              <a:rPr lang="en-US" sz="3000" b="1" dirty="0">
                <a:solidFill>
                  <a:srgbClr val="0D1B40"/>
                </a:solidFill>
                <a:latin typeface="Trebuchet MS" pitchFamily="34" charset="0"/>
                <a:ea typeface="Trebuchet MS" pitchFamily="34" charset="-122"/>
                <a:cs typeface="Trebuchet MS" pitchFamily="34" charset="-120"/>
              </a:rPr>
              <a:t>Feature Correlations &amp; Importance</a:t>
            </a:r>
            <a:endParaRPr lang="en-US" sz="3000" dirty="0"/>
          </a:p>
        </p:txBody>
      </p:sp>
      <p:sp>
        <p:nvSpPr>
          <p:cNvPr id="5" name="Text 3"/>
          <p:cNvSpPr/>
          <p:nvPr/>
        </p:nvSpPr>
        <p:spPr>
          <a:xfrm>
            <a:off x="411480" y="1170432"/>
            <a:ext cx="4206240" cy="292608"/>
          </a:xfrm>
          <a:prstGeom prst="rect">
            <a:avLst/>
          </a:prstGeom>
          <a:noFill/>
          <a:ln/>
        </p:spPr>
        <p:txBody>
          <a:bodyPr wrap="square" lIns="0" tIns="0" rIns="0" bIns="0" rtlCol="0" anchor="ctr"/>
          <a:lstStyle/>
          <a:p>
            <a:pPr marL="0" indent="0" algn="ctr">
              <a:buNone/>
            </a:pPr>
            <a:r>
              <a:rPr lang="en-US" sz="1200" b="1" dirty="0">
                <a:solidFill>
                  <a:srgbClr val="0D1B40"/>
                </a:solidFill>
              </a:rPr>
              <a:t>Correlation Heatmap</a:t>
            </a:r>
            <a:endParaRPr lang="en-US" sz="1200" dirty="0"/>
          </a:p>
        </p:txBody>
      </p:sp>
      <p:pic>
        <p:nvPicPr>
          <p:cNvPr id="6" name="Image 0" descr="preencoded.png"/>
          <p:cNvPicPr>
            <a:picLocks noChangeAspect="1"/>
          </p:cNvPicPr>
          <p:nvPr/>
        </p:nvPicPr>
        <p:blipFill>
          <a:blip r:embed="rId3"/>
          <a:stretch>
            <a:fillRect/>
          </a:stretch>
        </p:blipFill>
        <p:spPr>
          <a:xfrm>
            <a:off x="411480" y="1463040"/>
            <a:ext cx="4206240" cy="2834640"/>
          </a:xfrm>
          <a:prstGeom prst="rect">
            <a:avLst/>
          </a:prstGeom>
        </p:spPr>
      </p:pic>
      <p:sp>
        <p:nvSpPr>
          <p:cNvPr id="7" name="Text 4"/>
          <p:cNvSpPr/>
          <p:nvPr/>
        </p:nvSpPr>
        <p:spPr>
          <a:xfrm>
            <a:off x="4800600" y="1170432"/>
            <a:ext cx="4023360" cy="292608"/>
          </a:xfrm>
          <a:prstGeom prst="rect">
            <a:avLst/>
          </a:prstGeom>
          <a:noFill/>
          <a:ln/>
        </p:spPr>
        <p:txBody>
          <a:bodyPr wrap="square" lIns="0" tIns="0" rIns="0" bIns="0" rtlCol="0" anchor="ctr"/>
          <a:lstStyle/>
          <a:p>
            <a:pPr marL="0" indent="0" algn="ctr">
              <a:buNone/>
            </a:pPr>
            <a:r>
              <a:rPr lang="en-US" sz="1200" b="1" dirty="0">
                <a:solidFill>
                  <a:srgbClr val="0D1B40"/>
                </a:solidFill>
              </a:rPr>
              <a:t>Top 10 Features Correlated with Fraud</a:t>
            </a:r>
            <a:endParaRPr lang="en-US" sz="1200" dirty="0"/>
          </a:p>
        </p:txBody>
      </p:sp>
      <p:pic>
        <p:nvPicPr>
          <p:cNvPr id="8" name="Image 1" descr="preencoded.png"/>
          <p:cNvPicPr>
            <a:picLocks noChangeAspect="1"/>
          </p:cNvPicPr>
          <p:nvPr/>
        </p:nvPicPr>
        <p:blipFill>
          <a:blip r:embed="rId4"/>
          <a:stretch>
            <a:fillRect/>
          </a:stretch>
        </p:blipFill>
        <p:spPr>
          <a:xfrm>
            <a:off x="4754880" y="1463040"/>
            <a:ext cx="4114800" cy="2834640"/>
          </a:xfrm>
          <a:prstGeom prst="rect">
            <a:avLst/>
          </a:prstGeom>
        </p:spPr>
      </p:pic>
      <p:sp>
        <p:nvSpPr>
          <p:cNvPr id="9" name="Shape 5"/>
          <p:cNvSpPr/>
          <p:nvPr/>
        </p:nvSpPr>
        <p:spPr>
          <a:xfrm>
            <a:off x="411480" y="4407408"/>
            <a:ext cx="8321040" cy="502920"/>
          </a:xfrm>
          <a:prstGeom prst="rect">
            <a:avLst/>
          </a:prstGeom>
          <a:solidFill>
            <a:srgbClr val="0D1B40"/>
          </a:solidFill>
          <a:ln w="12700">
            <a:solidFill>
              <a:srgbClr val="0D1B40"/>
            </a:solidFill>
            <a:prstDash val="solid"/>
          </a:ln>
        </p:spPr>
        <p:txBody>
          <a:bodyPr/>
          <a:lstStyle/>
          <a:p>
            <a:endParaRPr lang="en-NZ"/>
          </a:p>
        </p:txBody>
      </p:sp>
      <p:sp>
        <p:nvSpPr>
          <p:cNvPr id="10" name="Text 6"/>
          <p:cNvSpPr/>
          <p:nvPr/>
        </p:nvSpPr>
        <p:spPr>
          <a:xfrm>
            <a:off x="548640" y="4407408"/>
            <a:ext cx="8046720" cy="502920"/>
          </a:xfrm>
          <a:prstGeom prst="rect">
            <a:avLst/>
          </a:prstGeom>
          <a:noFill/>
          <a:ln/>
        </p:spPr>
        <p:txBody>
          <a:bodyPr wrap="square" lIns="0" tIns="0" rIns="0" bIns="0" rtlCol="0" anchor="ctr"/>
          <a:lstStyle/>
          <a:p>
            <a:pPr marL="0" indent="0" algn="ctr">
              <a:buNone/>
            </a:pPr>
            <a:r>
              <a:rPr lang="en-US" sz="1000" dirty="0">
                <a:solidFill>
                  <a:srgbClr val="17BDA0"/>
                </a:solidFill>
              </a:rPr>
              <a:t>V17, V14, V12, and V10 have the strongest correlations with the fraud label (|r| &gt; 0.20), making them the most discriminative PCA features.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01168"/>
            <a:ext cx="1463040" cy="228600"/>
          </a:xfrm>
          <a:prstGeom prst="rect">
            <a:avLst/>
          </a:prstGeom>
          <a:solidFill>
            <a:srgbClr val="17BDA0"/>
          </a:solidFill>
          <a:ln w="12700">
            <a:solidFill>
              <a:srgbClr val="17BDA0"/>
            </a:solidFill>
            <a:prstDash val="solid"/>
          </a:ln>
        </p:spPr>
        <p:txBody>
          <a:bodyPr/>
          <a:lstStyle/>
          <a:p>
            <a:endParaRPr lang="en-NZ"/>
          </a:p>
        </p:txBody>
      </p:sp>
      <p:sp>
        <p:nvSpPr>
          <p:cNvPr id="3" name="Text 1"/>
          <p:cNvSpPr/>
          <p:nvPr/>
        </p:nvSpPr>
        <p:spPr>
          <a:xfrm>
            <a:off x="411480" y="201168"/>
            <a:ext cx="1463040" cy="228600"/>
          </a:xfrm>
          <a:prstGeom prst="rect">
            <a:avLst/>
          </a:prstGeom>
          <a:noFill/>
          <a:ln/>
        </p:spPr>
        <p:txBody>
          <a:bodyPr wrap="square" lIns="0" tIns="0" rIns="0" bIns="0" rtlCol="0" anchor="ctr"/>
          <a:lstStyle/>
          <a:p>
            <a:pPr marL="0" indent="0" algn="ctr">
              <a:buNone/>
            </a:pPr>
            <a:r>
              <a:rPr lang="en-US" sz="800" b="1" dirty="0">
                <a:solidFill>
                  <a:srgbClr val="0D1B40"/>
                </a:solidFill>
              </a:rPr>
              <a:t>MODEL</a:t>
            </a:r>
            <a:endParaRPr lang="en-US" sz="800" dirty="0"/>
          </a:p>
        </p:txBody>
      </p:sp>
      <p:sp>
        <p:nvSpPr>
          <p:cNvPr id="4" name="Text 2"/>
          <p:cNvSpPr/>
          <p:nvPr/>
        </p:nvSpPr>
        <p:spPr>
          <a:xfrm>
            <a:off x="411480" y="502920"/>
            <a:ext cx="8321040" cy="594360"/>
          </a:xfrm>
          <a:prstGeom prst="rect">
            <a:avLst/>
          </a:prstGeom>
          <a:noFill/>
          <a:ln/>
        </p:spPr>
        <p:txBody>
          <a:bodyPr wrap="square" rtlCol="0" anchor="ctr"/>
          <a:lstStyle/>
          <a:p>
            <a:pPr marL="0" indent="0">
              <a:buNone/>
            </a:pPr>
            <a:r>
              <a:rPr lang="en-US" sz="2800" b="1" dirty="0">
                <a:solidFill>
                  <a:srgbClr val="0D1B40"/>
                </a:solidFill>
                <a:latin typeface="Trebuchet MS" pitchFamily="34" charset="0"/>
                <a:ea typeface="Trebuchet MS" pitchFamily="34" charset="-122"/>
                <a:cs typeface="Trebuchet MS" pitchFamily="34" charset="-120"/>
              </a:rPr>
              <a:t>ML Model Development &amp; Implementation</a:t>
            </a:r>
            <a:endParaRPr lang="en-US" sz="2800" dirty="0"/>
          </a:p>
        </p:txBody>
      </p:sp>
      <p:sp>
        <p:nvSpPr>
          <p:cNvPr id="6" name="Shape 4"/>
          <p:cNvSpPr/>
          <p:nvPr/>
        </p:nvSpPr>
        <p:spPr>
          <a:xfrm>
            <a:off x="411480" y="1261872"/>
            <a:ext cx="64008" cy="777240"/>
          </a:xfrm>
          <a:prstGeom prst="rect">
            <a:avLst/>
          </a:prstGeom>
          <a:solidFill>
            <a:srgbClr val="0F7E6E"/>
          </a:solidFill>
          <a:ln w="12700">
            <a:solidFill>
              <a:srgbClr val="0F7E6E"/>
            </a:solidFill>
            <a:prstDash val="solid"/>
          </a:ln>
        </p:spPr>
        <p:txBody>
          <a:bodyPr/>
          <a:lstStyle/>
          <a:p>
            <a:endParaRPr lang="en-NZ" sz="2400" b="1"/>
          </a:p>
        </p:txBody>
      </p:sp>
      <p:sp>
        <p:nvSpPr>
          <p:cNvPr id="7" name="Text 5"/>
          <p:cNvSpPr/>
          <p:nvPr/>
        </p:nvSpPr>
        <p:spPr>
          <a:xfrm>
            <a:off x="548640" y="1298448"/>
            <a:ext cx="4297680" cy="274320"/>
          </a:xfrm>
          <a:prstGeom prst="rect">
            <a:avLst/>
          </a:prstGeom>
          <a:noFill/>
          <a:ln/>
        </p:spPr>
        <p:txBody>
          <a:bodyPr wrap="square" lIns="0" tIns="0" rIns="0" bIns="0" rtlCol="0" anchor="ctr"/>
          <a:lstStyle/>
          <a:p>
            <a:pPr marL="0" indent="0">
              <a:buNone/>
            </a:pPr>
            <a:r>
              <a:rPr lang="en-US" sz="1100" b="1" dirty="0">
                <a:solidFill>
                  <a:srgbClr val="0F7E6E"/>
                </a:solidFill>
              </a:rPr>
              <a:t>Algorithm: </a:t>
            </a:r>
            <a:endParaRPr lang="en-US" sz="1100" b="1" dirty="0"/>
          </a:p>
        </p:txBody>
      </p:sp>
      <p:sp>
        <p:nvSpPr>
          <p:cNvPr id="8" name="Text 6"/>
          <p:cNvSpPr/>
          <p:nvPr/>
        </p:nvSpPr>
        <p:spPr>
          <a:xfrm>
            <a:off x="548640" y="1490472"/>
            <a:ext cx="4297680" cy="256032"/>
          </a:xfrm>
          <a:prstGeom prst="rect">
            <a:avLst/>
          </a:prstGeom>
          <a:noFill/>
          <a:ln/>
        </p:spPr>
        <p:txBody>
          <a:bodyPr wrap="square" lIns="0" tIns="0" rIns="0" bIns="0" rtlCol="0" anchor="ctr"/>
          <a:lstStyle/>
          <a:p>
            <a:pPr marL="0" indent="0">
              <a:buNone/>
            </a:pPr>
            <a:r>
              <a:rPr lang="en-US" sz="1600" b="1" dirty="0">
                <a:solidFill>
                  <a:srgbClr val="0D1B40"/>
                </a:solidFill>
              </a:rPr>
              <a:t>LinearSVC</a:t>
            </a:r>
            <a:endParaRPr lang="en-US" sz="1600" b="1" dirty="0"/>
          </a:p>
        </p:txBody>
      </p:sp>
      <p:sp>
        <p:nvSpPr>
          <p:cNvPr id="9" name="Text 7"/>
          <p:cNvSpPr/>
          <p:nvPr/>
        </p:nvSpPr>
        <p:spPr>
          <a:xfrm>
            <a:off x="548640" y="1737360"/>
            <a:ext cx="4297680" cy="274320"/>
          </a:xfrm>
          <a:prstGeom prst="rect">
            <a:avLst/>
          </a:prstGeom>
          <a:noFill/>
          <a:ln/>
        </p:spPr>
        <p:txBody>
          <a:bodyPr wrap="square" lIns="0" tIns="0" rIns="0" bIns="0" rtlCol="0" anchor="ctr"/>
          <a:lstStyle/>
          <a:p>
            <a:pPr marL="0" indent="0">
              <a:buNone/>
            </a:pPr>
            <a:r>
              <a:rPr lang="en-US" sz="1050" b="1" dirty="0">
                <a:solidFill>
                  <a:srgbClr val="475569"/>
                </a:solidFill>
              </a:rPr>
              <a:t>Efficient linear SVM variant optimised for large datasets (283K rows). Uses squared hinge loss with dual=False for scalability.</a:t>
            </a:r>
            <a:endParaRPr lang="en-US" sz="1050" b="1" dirty="0"/>
          </a:p>
        </p:txBody>
      </p:sp>
      <p:sp>
        <p:nvSpPr>
          <p:cNvPr id="11" name="Shape 9"/>
          <p:cNvSpPr/>
          <p:nvPr/>
        </p:nvSpPr>
        <p:spPr>
          <a:xfrm>
            <a:off x="411480" y="2157984"/>
            <a:ext cx="64008" cy="777240"/>
          </a:xfrm>
          <a:prstGeom prst="rect">
            <a:avLst/>
          </a:prstGeom>
          <a:solidFill>
            <a:srgbClr val="0F7E6E"/>
          </a:solidFill>
          <a:ln w="12700">
            <a:solidFill>
              <a:srgbClr val="0F7E6E"/>
            </a:solidFill>
            <a:prstDash val="solid"/>
          </a:ln>
        </p:spPr>
        <p:txBody>
          <a:bodyPr/>
          <a:lstStyle/>
          <a:p>
            <a:endParaRPr lang="en-NZ" sz="2400" b="1"/>
          </a:p>
        </p:txBody>
      </p:sp>
      <p:sp>
        <p:nvSpPr>
          <p:cNvPr id="12" name="Text 10"/>
          <p:cNvSpPr/>
          <p:nvPr/>
        </p:nvSpPr>
        <p:spPr>
          <a:xfrm>
            <a:off x="548640" y="2194560"/>
            <a:ext cx="4297680" cy="274320"/>
          </a:xfrm>
          <a:prstGeom prst="rect">
            <a:avLst/>
          </a:prstGeom>
          <a:noFill/>
          <a:ln/>
        </p:spPr>
        <p:txBody>
          <a:bodyPr wrap="square" lIns="0" tIns="0" rIns="0" bIns="0" rtlCol="0" anchor="ctr"/>
          <a:lstStyle/>
          <a:p>
            <a:pPr marL="0" indent="0">
              <a:buNone/>
            </a:pPr>
            <a:r>
              <a:rPr lang="en-US" sz="1100" b="1" dirty="0">
                <a:solidFill>
                  <a:srgbClr val="0F7E6E"/>
                </a:solidFill>
              </a:rPr>
              <a:t>Class Weighting: </a:t>
            </a:r>
            <a:endParaRPr lang="en-US" sz="1100" b="1" dirty="0"/>
          </a:p>
        </p:txBody>
      </p:sp>
      <p:sp>
        <p:nvSpPr>
          <p:cNvPr id="13" name="Text 11"/>
          <p:cNvSpPr/>
          <p:nvPr/>
        </p:nvSpPr>
        <p:spPr>
          <a:xfrm>
            <a:off x="548640" y="2386584"/>
            <a:ext cx="4297680" cy="256032"/>
          </a:xfrm>
          <a:prstGeom prst="rect">
            <a:avLst/>
          </a:prstGeom>
          <a:noFill/>
          <a:ln/>
        </p:spPr>
        <p:txBody>
          <a:bodyPr wrap="square" lIns="0" tIns="0" rIns="0" bIns="0" rtlCol="0" anchor="ctr"/>
          <a:lstStyle/>
          <a:p>
            <a:pPr marL="0" indent="0">
              <a:buNone/>
            </a:pPr>
            <a:r>
              <a:rPr lang="en-US" sz="1600" b="1" dirty="0">
                <a:solidFill>
                  <a:srgbClr val="0D1B40"/>
                </a:solidFill>
              </a:rPr>
              <a:t>class_weight='balanced'</a:t>
            </a:r>
            <a:endParaRPr lang="en-US" sz="1600" b="1" dirty="0"/>
          </a:p>
        </p:txBody>
      </p:sp>
      <p:sp>
        <p:nvSpPr>
          <p:cNvPr id="14" name="Text 12"/>
          <p:cNvSpPr/>
          <p:nvPr/>
        </p:nvSpPr>
        <p:spPr>
          <a:xfrm>
            <a:off x="548640" y="2633472"/>
            <a:ext cx="4297680" cy="274320"/>
          </a:xfrm>
          <a:prstGeom prst="rect">
            <a:avLst/>
          </a:prstGeom>
          <a:noFill/>
          <a:ln/>
        </p:spPr>
        <p:txBody>
          <a:bodyPr wrap="square" lIns="0" tIns="0" rIns="0" bIns="0" rtlCol="0" anchor="ctr"/>
          <a:lstStyle/>
          <a:p>
            <a:pPr marL="0" indent="0">
              <a:buNone/>
            </a:pPr>
            <a:r>
              <a:rPr lang="en-US" sz="1050" b="1" dirty="0">
                <a:solidFill>
                  <a:srgbClr val="475569"/>
                </a:solidFill>
              </a:rPr>
              <a:t>Automatically adjusts weights inversely proportional to class frequency, boosting fraud detection on the minority class.</a:t>
            </a:r>
            <a:endParaRPr lang="en-US" sz="1050" b="1" dirty="0"/>
          </a:p>
        </p:txBody>
      </p:sp>
      <p:sp>
        <p:nvSpPr>
          <p:cNvPr id="16" name="Shape 14"/>
          <p:cNvSpPr/>
          <p:nvPr/>
        </p:nvSpPr>
        <p:spPr>
          <a:xfrm>
            <a:off x="411480" y="3054096"/>
            <a:ext cx="64008" cy="777240"/>
          </a:xfrm>
          <a:prstGeom prst="rect">
            <a:avLst/>
          </a:prstGeom>
          <a:solidFill>
            <a:srgbClr val="0F7E6E"/>
          </a:solidFill>
          <a:ln w="12700">
            <a:solidFill>
              <a:srgbClr val="0F7E6E"/>
            </a:solidFill>
            <a:prstDash val="solid"/>
          </a:ln>
        </p:spPr>
        <p:txBody>
          <a:bodyPr/>
          <a:lstStyle/>
          <a:p>
            <a:endParaRPr lang="en-NZ" sz="2400" b="1"/>
          </a:p>
        </p:txBody>
      </p:sp>
      <p:sp>
        <p:nvSpPr>
          <p:cNvPr id="17" name="Text 15"/>
          <p:cNvSpPr/>
          <p:nvPr/>
        </p:nvSpPr>
        <p:spPr>
          <a:xfrm>
            <a:off x="548640" y="3090672"/>
            <a:ext cx="4297680" cy="274320"/>
          </a:xfrm>
          <a:prstGeom prst="rect">
            <a:avLst/>
          </a:prstGeom>
          <a:noFill/>
          <a:ln/>
        </p:spPr>
        <p:txBody>
          <a:bodyPr wrap="square" lIns="0" tIns="0" rIns="0" bIns="0" rtlCol="0" anchor="ctr"/>
          <a:lstStyle/>
          <a:p>
            <a:pPr marL="0" indent="0">
              <a:buNone/>
            </a:pPr>
            <a:r>
              <a:rPr lang="en-US" sz="1100" b="1" dirty="0">
                <a:solidFill>
                  <a:srgbClr val="0F7E6E"/>
                </a:solidFill>
              </a:rPr>
              <a:t>Pipeline: </a:t>
            </a:r>
            <a:endParaRPr lang="en-US" sz="1100" b="1" dirty="0"/>
          </a:p>
        </p:txBody>
      </p:sp>
      <p:sp>
        <p:nvSpPr>
          <p:cNvPr id="18" name="Text 16"/>
          <p:cNvSpPr/>
          <p:nvPr/>
        </p:nvSpPr>
        <p:spPr>
          <a:xfrm>
            <a:off x="548640" y="3282696"/>
            <a:ext cx="4297680" cy="256032"/>
          </a:xfrm>
          <a:prstGeom prst="rect">
            <a:avLst/>
          </a:prstGeom>
          <a:noFill/>
          <a:ln/>
        </p:spPr>
        <p:txBody>
          <a:bodyPr wrap="square" lIns="0" tIns="0" rIns="0" bIns="0" rtlCol="0" anchor="ctr"/>
          <a:lstStyle/>
          <a:p>
            <a:pPr marL="0" indent="0">
              <a:buNone/>
            </a:pPr>
            <a:r>
              <a:rPr lang="en-US" sz="1600" b="1" dirty="0">
                <a:solidFill>
                  <a:srgbClr val="0D1B40"/>
                </a:solidFill>
              </a:rPr>
              <a:t>StandardScaler → LinearSVC</a:t>
            </a:r>
            <a:endParaRPr lang="en-US" sz="1600" b="1" dirty="0"/>
          </a:p>
        </p:txBody>
      </p:sp>
      <p:sp>
        <p:nvSpPr>
          <p:cNvPr id="19" name="Text 17"/>
          <p:cNvSpPr/>
          <p:nvPr/>
        </p:nvSpPr>
        <p:spPr>
          <a:xfrm>
            <a:off x="548640" y="3529584"/>
            <a:ext cx="4297680" cy="274320"/>
          </a:xfrm>
          <a:prstGeom prst="rect">
            <a:avLst/>
          </a:prstGeom>
          <a:noFill/>
          <a:ln/>
        </p:spPr>
        <p:txBody>
          <a:bodyPr wrap="square" lIns="0" tIns="0" rIns="0" bIns="0" rtlCol="0" anchor="ctr"/>
          <a:lstStyle/>
          <a:p>
            <a:pPr marL="0" indent="0">
              <a:buNone/>
            </a:pPr>
            <a:r>
              <a:rPr lang="en-US" sz="1050" b="1" dirty="0">
                <a:solidFill>
                  <a:srgbClr val="475569"/>
                </a:solidFill>
              </a:rPr>
              <a:t>Scaler normalises all features before the SVM sees them, essential since SVM is distance-based.</a:t>
            </a:r>
            <a:endParaRPr lang="en-US" sz="1050" b="1" dirty="0"/>
          </a:p>
        </p:txBody>
      </p:sp>
      <p:sp>
        <p:nvSpPr>
          <p:cNvPr id="21" name="Shape 19"/>
          <p:cNvSpPr/>
          <p:nvPr/>
        </p:nvSpPr>
        <p:spPr>
          <a:xfrm>
            <a:off x="411480" y="3950208"/>
            <a:ext cx="64008" cy="777240"/>
          </a:xfrm>
          <a:prstGeom prst="rect">
            <a:avLst/>
          </a:prstGeom>
          <a:solidFill>
            <a:srgbClr val="0F7E6E"/>
          </a:solidFill>
          <a:ln w="12700">
            <a:solidFill>
              <a:srgbClr val="0F7E6E"/>
            </a:solidFill>
            <a:prstDash val="solid"/>
          </a:ln>
        </p:spPr>
        <p:txBody>
          <a:bodyPr/>
          <a:lstStyle/>
          <a:p>
            <a:endParaRPr lang="en-NZ" sz="2400" b="1"/>
          </a:p>
        </p:txBody>
      </p:sp>
      <p:sp>
        <p:nvSpPr>
          <p:cNvPr id="22" name="Text 20"/>
          <p:cNvSpPr/>
          <p:nvPr/>
        </p:nvSpPr>
        <p:spPr>
          <a:xfrm>
            <a:off x="548640" y="3986784"/>
            <a:ext cx="4297680" cy="274320"/>
          </a:xfrm>
          <a:prstGeom prst="rect">
            <a:avLst/>
          </a:prstGeom>
          <a:noFill/>
          <a:ln/>
        </p:spPr>
        <p:txBody>
          <a:bodyPr wrap="square" lIns="0" tIns="0" rIns="0" bIns="0" rtlCol="0" anchor="ctr"/>
          <a:lstStyle/>
          <a:p>
            <a:pPr marL="0" indent="0">
              <a:buNone/>
            </a:pPr>
            <a:r>
              <a:rPr lang="en-US" sz="1100" b="1" dirty="0">
                <a:solidFill>
                  <a:srgbClr val="0F7E6E"/>
                </a:solidFill>
              </a:rPr>
              <a:t>Why not RBF-SVM?: </a:t>
            </a:r>
            <a:endParaRPr lang="en-US" sz="1100" b="1" dirty="0"/>
          </a:p>
        </p:txBody>
      </p:sp>
      <p:sp>
        <p:nvSpPr>
          <p:cNvPr id="23" name="Text 21"/>
          <p:cNvSpPr/>
          <p:nvPr/>
        </p:nvSpPr>
        <p:spPr>
          <a:xfrm>
            <a:off x="548640" y="4178808"/>
            <a:ext cx="4297680" cy="256032"/>
          </a:xfrm>
          <a:prstGeom prst="rect">
            <a:avLst/>
          </a:prstGeom>
          <a:noFill/>
          <a:ln/>
        </p:spPr>
        <p:txBody>
          <a:bodyPr wrap="square" lIns="0" tIns="0" rIns="0" bIns="0" rtlCol="0" anchor="ctr"/>
          <a:lstStyle/>
          <a:p>
            <a:pPr marL="0" indent="0">
              <a:buNone/>
            </a:pPr>
            <a:r>
              <a:rPr lang="en-US" sz="1600" b="1" dirty="0">
                <a:solidFill>
                  <a:srgbClr val="0D1B40"/>
                </a:solidFill>
              </a:rPr>
              <a:t>Computational cost</a:t>
            </a:r>
            <a:endParaRPr lang="en-US" sz="1600" b="1" dirty="0"/>
          </a:p>
        </p:txBody>
      </p:sp>
      <p:sp>
        <p:nvSpPr>
          <p:cNvPr id="24" name="Text 22"/>
          <p:cNvSpPr/>
          <p:nvPr/>
        </p:nvSpPr>
        <p:spPr>
          <a:xfrm>
            <a:off x="548640" y="4425696"/>
            <a:ext cx="4297680" cy="274320"/>
          </a:xfrm>
          <a:prstGeom prst="rect">
            <a:avLst/>
          </a:prstGeom>
          <a:noFill/>
          <a:ln/>
        </p:spPr>
        <p:txBody>
          <a:bodyPr wrap="square" lIns="0" tIns="0" rIns="0" bIns="0" rtlCol="0" anchor="ctr"/>
          <a:lstStyle/>
          <a:p>
            <a:pPr marL="0" indent="0">
              <a:buNone/>
            </a:pPr>
            <a:r>
              <a:rPr lang="en-US" sz="1050" b="1" dirty="0">
                <a:solidFill>
                  <a:srgbClr val="475569"/>
                </a:solidFill>
              </a:rPr>
              <a:t>Standard kernel SVM with 280K rows would take hours. LinearSVC trains in seconds with comparable performance.</a:t>
            </a:r>
            <a:endParaRPr lang="en-US" sz="1050" b="1" dirty="0"/>
          </a:p>
        </p:txBody>
      </p:sp>
      <p:sp>
        <p:nvSpPr>
          <p:cNvPr id="25" name="Shape 23"/>
          <p:cNvSpPr/>
          <p:nvPr/>
        </p:nvSpPr>
        <p:spPr>
          <a:xfrm>
            <a:off x="5166360" y="1261872"/>
            <a:ext cx="3657600" cy="3017520"/>
          </a:xfrm>
          <a:prstGeom prst="rect">
            <a:avLst/>
          </a:prstGeom>
          <a:solidFill>
            <a:srgbClr val="111827"/>
          </a:solidFill>
          <a:ln w="12700">
            <a:solidFill>
              <a:srgbClr val="2D3748"/>
            </a:solidFill>
            <a:prstDash val="solid"/>
          </a:ln>
        </p:spPr>
        <p:txBody>
          <a:bodyPr/>
          <a:lstStyle/>
          <a:p>
            <a:endParaRPr lang="en-NZ"/>
          </a:p>
        </p:txBody>
      </p:sp>
      <p:sp>
        <p:nvSpPr>
          <p:cNvPr id="26" name="Text 24"/>
          <p:cNvSpPr/>
          <p:nvPr/>
        </p:nvSpPr>
        <p:spPr>
          <a:xfrm>
            <a:off x="5257800" y="1371600"/>
            <a:ext cx="3474720" cy="274320"/>
          </a:xfrm>
          <a:prstGeom prst="rect">
            <a:avLst/>
          </a:prstGeom>
          <a:noFill/>
          <a:ln/>
        </p:spPr>
        <p:txBody>
          <a:bodyPr wrap="square" lIns="0" tIns="0" rIns="0" bIns="0" rtlCol="0" anchor="ctr"/>
          <a:lstStyle/>
          <a:p>
            <a:pPr marL="0" indent="0">
              <a:buNone/>
            </a:pPr>
            <a:r>
              <a:rPr lang="en-US" sz="950" dirty="0">
                <a:solidFill>
                  <a:srgbClr val="6B8EAE"/>
                </a:solidFill>
                <a:latin typeface="Consolas" pitchFamily="34" charset="0"/>
                <a:ea typeface="Consolas" pitchFamily="34" charset="-122"/>
                <a:cs typeface="Consolas" pitchFamily="34" charset="-120"/>
              </a:rPr>
              <a:t># SVM Fraud Detection Pipeline</a:t>
            </a:r>
            <a:endParaRPr lang="en-US" sz="950" dirty="0"/>
          </a:p>
        </p:txBody>
      </p:sp>
      <p:sp>
        <p:nvSpPr>
          <p:cNvPr id="27" name="Text 25"/>
          <p:cNvSpPr/>
          <p:nvPr/>
        </p:nvSpPr>
        <p:spPr>
          <a:xfrm>
            <a:off x="5257800" y="1673352"/>
            <a:ext cx="3474720" cy="182880"/>
          </a:xfrm>
          <a:prstGeom prst="rect">
            <a:avLst/>
          </a:prstGeom>
          <a:noFill/>
          <a:ln/>
        </p:spPr>
        <p:txBody>
          <a:bodyPr wrap="square" lIns="0" tIns="0" rIns="0" bIns="0" rtlCol="0" anchor="ctr"/>
          <a:lstStyle/>
          <a:p>
            <a:pPr marL="0" indent="0">
              <a:buNone/>
            </a:pPr>
            <a:r>
              <a:rPr lang="en-US" sz="850" dirty="0">
                <a:solidFill>
                  <a:srgbClr val="A8C8E8"/>
                </a:solidFill>
                <a:latin typeface="Consolas" pitchFamily="34" charset="0"/>
                <a:ea typeface="Consolas" pitchFamily="34" charset="-122"/>
                <a:cs typeface="Consolas" pitchFamily="34" charset="-120"/>
              </a:rPr>
              <a:t>from sklearn.pipeline import Pipeline</a:t>
            </a:r>
            <a:endParaRPr lang="en-US" sz="850" dirty="0"/>
          </a:p>
        </p:txBody>
      </p:sp>
      <p:sp>
        <p:nvSpPr>
          <p:cNvPr id="28" name="Text 26"/>
          <p:cNvSpPr/>
          <p:nvPr/>
        </p:nvSpPr>
        <p:spPr>
          <a:xfrm>
            <a:off x="5257800" y="1833372"/>
            <a:ext cx="3474720" cy="182880"/>
          </a:xfrm>
          <a:prstGeom prst="rect">
            <a:avLst/>
          </a:prstGeom>
          <a:noFill/>
          <a:ln/>
        </p:spPr>
        <p:txBody>
          <a:bodyPr wrap="square" lIns="0" tIns="0" rIns="0" bIns="0" rtlCol="0" anchor="ctr"/>
          <a:lstStyle/>
          <a:p>
            <a:pPr marL="0" indent="0">
              <a:buNone/>
            </a:pPr>
            <a:r>
              <a:rPr lang="en-US" sz="850" dirty="0">
                <a:solidFill>
                  <a:srgbClr val="A8C8E8"/>
                </a:solidFill>
                <a:latin typeface="Consolas" pitchFamily="34" charset="0"/>
                <a:ea typeface="Consolas" pitchFamily="34" charset="-122"/>
                <a:cs typeface="Consolas" pitchFamily="34" charset="-120"/>
              </a:rPr>
              <a:t>from sklearn.preprocessing import StandardScaler</a:t>
            </a:r>
            <a:endParaRPr lang="en-US" sz="850" dirty="0"/>
          </a:p>
        </p:txBody>
      </p:sp>
      <p:sp>
        <p:nvSpPr>
          <p:cNvPr id="29" name="Text 27"/>
          <p:cNvSpPr/>
          <p:nvPr/>
        </p:nvSpPr>
        <p:spPr>
          <a:xfrm>
            <a:off x="5257800" y="1993392"/>
            <a:ext cx="3474720" cy="182880"/>
          </a:xfrm>
          <a:prstGeom prst="rect">
            <a:avLst/>
          </a:prstGeom>
          <a:noFill/>
          <a:ln/>
        </p:spPr>
        <p:txBody>
          <a:bodyPr wrap="square" lIns="0" tIns="0" rIns="0" bIns="0" rtlCol="0" anchor="ctr"/>
          <a:lstStyle/>
          <a:p>
            <a:pPr marL="0" indent="0">
              <a:buNone/>
            </a:pPr>
            <a:r>
              <a:rPr lang="en-US" sz="850" dirty="0">
                <a:solidFill>
                  <a:srgbClr val="A8C8E8"/>
                </a:solidFill>
                <a:latin typeface="Consolas" pitchFamily="34" charset="0"/>
                <a:ea typeface="Consolas" pitchFamily="34" charset="-122"/>
                <a:cs typeface="Consolas" pitchFamily="34" charset="-120"/>
              </a:rPr>
              <a:t>from sklearn.svm import LinearSVC</a:t>
            </a:r>
            <a:endParaRPr lang="en-US" sz="850" dirty="0"/>
          </a:p>
        </p:txBody>
      </p:sp>
      <p:sp>
        <p:nvSpPr>
          <p:cNvPr id="30" name="Text 28"/>
          <p:cNvSpPr/>
          <p:nvPr/>
        </p:nvSpPr>
        <p:spPr>
          <a:xfrm>
            <a:off x="5257800" y="2313432"/>
            <a:ext cx="3474720" cy="182880"/>
          </a:xfrm>
          <a:prstGeom prst="rect">
            <a:avLst/>
          </a:prstGeom>
          <a:noFill/>
          <a:ln/>
        </p:spPr>
        <p:txBody>
          <a:bodyPr wrap="square" lIns="0" tIns="0" rIns="0" bIns="0" rtlCol="0" anchor="ctr"/>
          <a:lstStyle/>
          <a:p>
            <a:pPr marL="0" indent="0">
              <a:buNone/>
            </a:pPr>
            <a:r>
              <a:rPr lang="en-US" sz="850" dirty="0">
                <a:solidFill>
                  <a:srgbClr val="FFFFFF"/>
                </a:solidFill>
                <a:latin typeface="Consolas" pitchFamily="34" charset="0"/>
                <a:ea typeface="Consolas" pitchFamily="34" charset="-122"/>
                <a:cs typeface="Consolas" pitchFamily="34" charset="-120"/>
              </a:rPr>
              <a:t>pipeline = Pipeline([</a:t>
            </a:r>
            <a:endParaRPr lang="en-US" sz="850" dirty="0"/>
          </a:p>
        </p:txBody>
      </p:sp>
      <p:sp>
        <p:nvSpPr>
          <p:cNvPr id="31" name="Text 29"/>
          <p:cNvSpPr/>
          <p:nvPr/>
        </p:nvSpPr>
        <p:spPr>
          <a:xfrm>
            <a:off x="5257800" y="2473452"/>
            <a:ext cx="3474720" cy="182880"/>
          </a:xfrm>
          <a:prstGeom prst="rect">
            <a:avLst/>
          </a:prstGeom>
          <a:noFill/>
          <a:ln/>
        </p:spPr>
        <p:txBody>
          <a:bodyPr wrap="square" lIns="0" tIns="0" rIns="0" bIns="0" rtlCol="0" anchor="ctr"/>
          <a:lstStyle/>
          <a:p>
            <a:pPr marL="0" indent="0">
              <a:buNone/>
            </a:pPr>
            <a:r>
              <a:rPr lang="en-US" sz="850" dirty="0">
                <a:solidFill>
                  <a:srgbClr val="C8E88A"/>
                </a:solidFill>
                <a:latin typeface="Consolas" pitchFamily="34" charset="0"/>
                <a:ea typeface="Consolas" pitchFamily="34" charset="-122"/>
                <a:cs typeface="Consolas" pitchFamily="34" charset="-120"/>
              </a:rPr>
              <a:t>    ("scaler", StandardScaler()),</a:t>
            </a:r>
            <a:endParaRPr lang="en-US" sz="850" dirty="0"/>
          </a:p>
        </p:txBody>
      </p:sp>
      <p:sp>
        <p:nvSpPr>
          <p:cNvPr id="32" name="Text 30"/>
          <p:cNvSpPr/>
          <p:nvPr/>
        </p:nvSpPr>
        <p:spPr>
          <a:xfrm>
            <a:off x="5257800" y="2633472"/>
            <a:ext cx="3474720" cy="182880"/>
          </a:xfrm>
          <a:prstGeom prst="rect">
            <a:avLst/>
          </a:prstGeom>
          <a:noFill/>
          <a:ln/>
        </p:spPr>
        <p:txBody>
          <a:bodyPr wrap="square" lIns="0" tIns="0" rIns="0" bIns="0" rtlCol="0" anchor="ctr"/>
          <a:lstStyle/>
          <a:p>
            <a:pPr marL="0" indent="0">
              <a:buNone/>
            </a:pPr>
            <a:r>
              <a:rPr lang="en-US" sz="850" dirty="0">
                <a:solidFill>
                  <a:srgbClr val="C8E88A"/>
                </a:solidFill>
                <a:latin typeface="Consolas" pitchFamily="34" charset="0"/>
                <a:ea typeface="Consolas" pitchFamily="34" charset="-122"/>
                <a:cs typeface="Consolas" pitchFamily="34" charset="-120"/>
              </a:rPr>
              <a:t>    ("svm", LinearSVC(</a:t>
            </a:r>
            <a:endParaRPr lang="en-US" sz="850" dirty="0"/>
          </a:p>
        </p:txBody>
      </p:sp>
      <p:sp>
        <p:nvSpPr>
          <p:cNvPr id="33" name="Text 31"/>
          <p:cNvSpPr/>
          <p:nvPr/>
        </p:nvSpPr>
        <p:spPr>
          <a:xfrm>
            <a:off x="5257800" y="2793492"/>
            <a:ext cx="3474720" cy="182880"/>
          </a:xfrm>
          <a:prstGeom prst="rect">
            <a:avLst/>
          </a:prstGeom>
          <a:noFill/>
          <a:ln/>
        </p:spPr>
        <p:txBody>
          <a:bodyPr wrap="square" lIns="0" tIns="0" rIns="0" bIns="0" rtlCol="0" anchor="ctr"/>
          <a:lstStyle/>
          <a:p>
            <a:pPr marL="0" indent="0">
              <a:buNone/>
            </a:pPr>
            <a:r>
              <a:rPr lang="en-US" sz="850" dirty="0">
                <a:solidFill>
                  <a:srgbClr val="FFD080"/>
                </a:solidFill>
                <a:latin typeface="Consolas" pitchFamily="34" charset="0"/>
                <a:ea typeface="Consolas" pitchFamily="34" charset="-122"/>
                <a:cs typeface="Consolas" pitchFamily="34" charset="-120"/>
              </a:rPr>
              <a:t>        class_weight="balanced",</a:t>
            </a:r>
            <a:endParaRPr lang="en-US" sz="850" dirty="0"/>
          </a:p>
        </p:txBody>
      </p:sp>
      <p:sp>
        <p:nvSpPr>
          <p:cNvPr id="34" name="Text 32"/>
          <p:cNvSpPr/>
          <p:nvPr/>
        </p:nvSpPr>
        <p:spPr>
          <a:xfrm>
            <a:off x="5257800" y="2953512"/>
            <a:ext cx="3474720" cy="182880"/>
          </a:xfrm>
          <a:prstGeom prst="rect">
            <a:avLst/>
          </a:prstGeom>
          <a:noFill/>
          <a:ln/>
        </p:spPr>
        <p:txBody>
          <a:bodyPr wrap="square" lIns="0" tIns="0" rIns="0" bIns="0" rtlCol="0" anchor="ctr"/>
          <a:lstStyle/>
          <a:p>
            <a:pPr marL="0" indent="0">
              <a:buNone/>
            </a:pPr>
            <a:r>
              <a:rPr lang="en-US" sz="850" dirty="0">
                <a:solidFill>
                  <a:srgbClr val="FFD080"/>
                </a:solidFill>
                <a:latin typeface="Consolas" pitchFamily="34" charset="0"/>
                <a:ea typeface="Consolas" pitchFamily="34" charset="-122"/>
                <a:cs typeface="Consolas" pitchFamily="34" charset="-120"/>
              </a:rPr>
              <a:t>        max_iter=2000</a:t>
            </a:r>
            <a:endParaRPr lang="en-US" sz="850" dirty="0"/>
          </a:p>
        </p:txBody>
      </p:sp>
      <p:sp>
        <p:nvSpPr>
          <p:cNvPr id="35" name="Text 33"/>
          <p:cNvSpPr/>
          <p:nvPr/>
        </p:nvSpPr>
        <p:spPr>
          <a:xfrm>
            <a:off x="5257800" y="3113532"/>
            <a:ext cx="3474720" cy="182880"/>
          </a:xfrm>
          <a:prstGeom prst="rect">
            <a:avLst/>
          </a:prstGeom>
          <a:noFill/>
          <a:ln/>
        </p:spPr>
        <p:txBody>
          <a:bodyPr wrap="square" lIns="0" tIns="0" rIns="0" bIns="0" rtlCol="0" anchor="ctr"/>
          <a:lstStyle/>
          <a:p>
            <a:pPr marL="0" indent="0">
              <a:buNone/>
            </a:pPr>
            <a:r>
              <a:rPr lang="en-US" sz="850" dirty="0">
                <a:solidFill>
                  <a:srgbClr val="C8E88A"/>
                </a:solidFill>
                <a:latin typeface="Consolas" pitchFamily="34" charset="0"/>
                <a:ea typeface="Consolas" pitchFamily="34" charset="-122"/>
                <a:cs typeface="Consolas" pitchFamily="34" charset="-120"/>
              </a:rPr>
              <a:t>    ))</a:t>
            </a:r>
            <a:endParaRPr lang="en-US" sz="850" dirty="0"/>
          </a:p>
        </p:txBody>
      </p:sp>
      <p:sp>
        <p:nvSpPr>
          <p:cNvPr id="36" name="Text 34"/>
          <p:cNvSpPr/>
          <p:nvPr/>
        </p:nvSpPr>
        <p:spPr>
          <a:xfrm>
            <a:off x="5257800" y="3273552"/>
            <a:ext cx="3474720" cy="182880"/>
          </a:xfrm>
          <a:prstGeom prst="rect">
            <a:avLst/>
          </a:prstGeom>
          <a:noFill/>
          <a:ln/>
        </p:spPr>
        <p:txBody>
          <a:bodyPr wrap="square" lIns="0" tIns="0" rIns="0" bIns="0" rtlCol="0" anchor="ctr"/>
          <a:lstStyle/>
          <a:p>
            <a:pPr marL="0" indent="0">
              <a:buNone/>
            </a:pPr>
            <a:r>
              <a:rPr lang="en-US" sz="850" dirty="0">
                <a:solidFill>
                  <a:srgbClr val="FFFFFF"/>
                </a:solidFill>
                <a:latin typeface="Consolas" pitchFamily="34" charset="0"/>
                <a:ea typeface="Consolas" pitchFamily="34" charset="-122"/>
                <a:cs typeface="Consolas" pitchFamily="34" charset="-120"/>
              </a:rPr>
              <a:t>])</a:t>
            </a:r>
            <a:endParaRPr lang="en-US" sz="850" dirty="0"/>
          </a:p>
        </p:txBody>
      </p:sp>
      <p:sp>
        <p:nvSpPr>
          <p:cNvPr id="37" name="Text 35"/>
          <p:cNvSpPr/>
          <p:nvPr/>
        </p:nvSpPr>
        <p:spPr>
          <a:xfrm>
            <a:off x="5257800" y="3593592"/>
            <a:ext cx="3474720" cy="182880"/>
          </a:xfrm>
          <a:prstGeom prst="rect">
            <a:avLst/>
          </a:prstGeom>
          <a:noFill/>
          <a:ln/>
        </p:spPr>
        <p:txBody>
          <a:bodyPr wrap="square" lIns="0" tIns="0" rIns="0" bIns="0" rtlCol="0" anchor="ctr"/>
          <a:lstStyle/>
          <a:p>
            <a:pPr marL="0" indent="0">
              <a:buNone/>
            </a:pPr>
            <a:r>
              <a:rPr lang="en-US" sz="850" dirty="0">
                <a:solidFill>
                  <a:srgbClr val="80FFCA"/>
                </a:solidFill>
                <a:latin typeface="Consolas" pitchFamily="34" charset="0"/>
                <a:ea typeface="Consolas" pitchFamily="34" charset="-122"/>
                <a:cs typeface="Consolas" pitchFamily="34" charset="-120"/>
              </a:rPr>
              <a:t>pipeline.fit(X_train, y_train)</a:t>
            </a:r>
            <a:endParaRPr lang="en-US" sz="850" dirty="0"/>
          </a:p>
        </p:txBody>
      </p:sp>
      <p:sp>
        <p:nvSpPr>
          <p:cNvPr id="38" name="Text 36"/>
          <p:cNvSpPr/>
          <p:nvPr/>
        </p:nvSpPr>
        <p:spPr>
          <a:xfrm>
            <a:off x="5257800" y="3753612"/>
            <a:ext cx="3474720" cy="182880"/>
          </a:xfrm>
          <a:prstGeom prst="rect">
            <a:avLst/>
          </a:prstGeom>
          <a:noFill/>
          <a:ln/>
        </p:spPr>
        <p:txBody>
          <a:bodyPr wrap="square" lIns="0" tIns="0" rIns="0" bIns="0" rtlCol="0" anchor="ctr"/>
          <a:lstStyle/>
          <a:p>
            <a:pPr marL="0" indent="0">
              <a:buNone/>
            </a:pPr>
            <a:r>
              <a:rPr lang="en-US" sz="850" dirty="0">
                <a:solidFill>
                  <a:srgbClr val="80FFCA"/>
                </a:solidFill>
                <a:latin typeface="Consolas" pitchFamily="34" charset="0"/>
                <a:ea typeface="Consolas" pitchFamily="34" charset="-122"/>
                <a:cs typeface="Consolas" pitchFamily="34" charset="-120"/>
              </a:rPr>
              <a:t>y_pred = pipeline.predict(X_test)</a:t>
            </a:r>
            <a:endParaRPr lang="en-US" sz="850" dirty="0"/>
          </a:p>
        </p:txBody>
      </p:sp>
      <p:sp>
        <p:nvSpPr>
          <p:cNvPr id="39" name="Shape 37"/>
          <p:cNvSpPr/>
          <p:nvPr/>
        </p:nvSpPr>
        <p:spPr>
          <a:xfrm>
            <a:off x="5166360" y="4407408"/>
            <a:ext cx="3657600" cy="502920"/>
          </a:xfrm>
          <a:prstGeom prst="rect">
            <a:avLst/>
          </a:prstGeom>
          <a:solidFill>
            <a:srgbClr val="0F7E6E"/>
          </a:solidFill>
          <a:ln w="12700">
            <a:solidFill>
              <a:srgbClr val="0F7E6E"/>
            </a:solidFill>
            <a:prstDash val="solid"/>
          </a:ln>
        </p:spPr>
        <p:txBody>
          <a:bodyPr/>
          <a:lstStyle/>
          <a:p>
            <a:endParaRPr lang="en-NZ"/>
          </a:p>
        </p:txBody>
      </p:sp>
      <p:sp>
        <p:nvSpPr>
          <p:cNvPr id="40" name="Text 38"/>
          <p:cNvSpPr/>
          <p:nvPr/>
        </p:nvSpPr>
        <p:spPr>
          <a:xfrm>
            <a:off x="5166360" y="4407408"/>
            <a:ext cx="3657600" cy="502920"/>
          </a:xfrm>
          <a:prstGeom prst="rect">
            <a:avLst/>
          </a:prstGeom>
          <a:noFill/>
          <a:ln/>
        </p:spPr>
        <p:txBody>
          <a:bodyPr wrap="square" lIns="0" tIns="0" rIns="0" bIns="0" rtlCol="0" anchor="ctr"/>
          <a:lstStyle/>
          <a:p>
            <a:pPr marL="0" indent="0" algn="ctr">
              <a:buNone/>
            </a:pPr>
            <a:r>
              <a:rPr lang="en-US" sz="950" b="1" dirty="0">
                <a:solidFill>
                  <a:srgbClr val="FFFFFF"/>
                </a:solidFill>
              </a:rPr>
              <a:t>Train: 198,608 rows  ·  Test: 85,118 rows  ·  Stratified 70/30</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01168"/>
            <a:ext cx="1463040" cy="228600"/>
          </a:xfrm>
          <a:prstGeom prst="rect">
            <a:avLst/>
          </a:prstGeom>
          <a:solidFill>
            <a:srgbClr val="17BDA0"/>
          </a:solidFill>
          <a:ln w="12700">
            <a:solidFill>
              <a:srgbClr val="17BDA0"/>
            </a:solidFill>
            <a:prstDash val="solid"/>
          </a:ln>
        </p:spPr>
        <p:txBody>
          <a:bodyPr/>
          <a:lstStyle/>
          <a:p>
            <a:endParaRPr lang="en-NZ"/>
          </a:p>
        </p:txBody>
      </p:sp>
      <p:sp>
        <p:nvSpPr>
          <p:cNvPr id="3" name="Text 1"/>
          <p:cNvSpPr/>
          <p:nvPr/>
        </p:nvSpPr>
        <p:spPr>
          <a:xfrm>
            <a:off x="411480" y="201168"/>
            <a:ext cx="1463040" cy="228600"/>
          </a:xfrm>
          <a:prstGeom prst="rect">
            <a:avLst/>
          </a:prstGeom>
          <a:noFill/>
          <a:ln/>
        </p:spPr>
        <p:txBody>
          <a:bodyPr wrap="square" lIns="0" tIns="0" rIns="0" bIns="0" rtlCol="0" anchor="ctr"/>
          <a:lstStyle/>
          <a:p>
            <a:pPr marL="0" indent="0" algn="ctr">
              <a:buNone/>
            </a:pPr>
            <a:r>
              <a:rPr lang="en-US" sz="800" b="1" dirty="0">
                <a:solidFill>
                  <a:srgbClr val="0D1B40"/>
                </a:solidFill>
              </a:rPr>
              <a:t>TRAINING</a:t>
            </a:r>
            <a:endParaRPr lang="en-US" sz="800" dirty="0"/>
          </a:p>
        </p:txBody>
      </p:sp>
      <p:sp>
        <p:nvSpPr>
          <p:cNvPr id="4" name="Text 2"/>
          <p:cNvSpPr/>
          <p:nvPr/>
        </p:nvSpPr>
        <p:spPr>
          <a:xfrm>
            <a:off x="411480" y="502920"/>
            <a:ext cx="8229600" cy="594360"/>
          </a:xfrm>
          <a:prstGeom prst="rect">
            <a:avLst/>
          </a:prstGeom>
          <a:noFill/>
          <a:ln/>
        </p:spPr>
        <p:txBody>
          <a:bodyPr wrap="square" rtlCol="0" anchor="ctr"/>
          <a:lstStyle/>
          <a:p>
            <a:pPr marL="0" indent="0">
              <a:buNone/>
            </a:pPr>
            <a:r>
              <a:rPr lang="en-US" sz="3000" b="1" dirty="0">
                <a:solidFill>
                  <a:srgbClr val="0D1B40"/>
                </a:solidFill>
                <a:latin typeface="Trebuchet MS" pitchFamily="34" charset="0"/>
                <a:ea typeface="Trebuchet MS" pitchFamily="34" charset="-122"/>
                <a:cs typeface="Trebuchet MS" pitchFamily="34" charset="-120"/>
              </a:rPr>
              <a:t>Training &amp; Testing Process</a:t>
            </a:r>
            <a:endParaRPr lang="en-US" sz="3000" dirty="0"/>
          </a:p>
        </p:txBody>
      </p:sp>
      <p:sp>
        <p:nvSpPr>
          <p:cNvPr id="5" name="Shape 3"/>
          <p:cNvSpPr/>
          <p:nvPr/>
        </p:nvSpPr>
        <p:spPr>
          <a:xfrm>
            <a:off x="274320" y="1298448"/>
            <a:ext cx="1051560" cy="749808"/>
          </a:xfrm>
          <a:prstGeom prst="rect">
            <a:avLst/>
          </a:prstGeom>
          <a:solidFill>
            <a:srgbClr val="475569"/>
          </a:solidFill>
          <a:ln w="12700">
            <a:solidFill>
              <a:srgbClr val="475569"/>
            </a:solidFill>
            <a:prstDash val="solid"/>
          </a:ln>
        </p:spPr>
        <p:txBody>
          <a:bodyPr/>
          <a:lstStyle/>
          <a:p>
            <a:endParaRPr lang="en-NZ"/>
          </a:p>
        </p:txBody>
      </p:sp>
      <p:sp>
        <p:nvSpPr>
          <p:cNvPr id="6" name="Text 4"/>
          <p:cNvSpPr/>
          <p:nvPr/>
        </p:nvSpPr>
        <p:spPr>
          <a:xfrm>
            <a:off x="274320" y="1298448"/>
            <a:ext cx="1051560" cy="749808"/>
          </a:xfrm>
          <a:prstGeom prst="rect">
            <a:avLst/>
          </a:prstGeom>
          <a:noFill/>
          <a:ln/>
        </p:spPr>
        <p:txBody>
          <a:bodyPr wrap="square" lIns="0" tIns="0" rIns="0" bIns="0" rtlCol="0" anchor="ctr"/>
          <a:lstStyle/>
          <a:p>
            <a:pPr marL="0" indent="0" algn="ctr">
              <a:buNone/>
            </a:pPr>
            <a:r>
              <a:rPr lang="en-US" sz="800" b="1" dirty="0">
                <a:solidFill>
                  <a:srgbClr val="FFFFFF"/>
                </a:solidFill>
              </a:rPr>
              <a:t>Raw Data</a:t>
            </a:r>
            <a:endParaRPr lang="en-US" sz="800" dirty="0"/>
          </a:p>
          <a:p>
            <a:pPr marL="0" indent="0" algn="ctr">
              <a:buNone/>
            </a:pPr>
            <a:r>
              <a:rPr lang="en-US" sz="800" b="1" dirty="0">
                <a:solidFill>
                  <a:srgbClr val="FFFFFF"/>
                </a:solidFill>
              </a:rPr>
              <a:t>(283,726 rows)</a:t>
            </a:r>
            <a:endParaRPr lang="en-US" sz="800" dirty="0"/>
          </a:p>
        </p:txBody>
      </p:sp>
      <p:sp>
        <p:nvSpPr>
          <p:cNvPr id="7" name="Shape 5"/>
          <p:cNvSpPr/>
          <p:nvPr/>
        </p:nvSpPr>
        <p:spPr>
          <a:xfrm>
            <a:off x="1325880" y="1673352"/>
            <a:ext cx="429768" cy="0"/>
          </a:xfrm>
          <a:prstGeom prst="line">
            <a:avLst/>
          </a:prstGeom>
          <a:noFill/>
          <a:ln w="19050">
            <a:solidFill>
              <a:srgbClr val="475569"/>
            </a:solidFill>
            <a:prstDash val="solid"/>
          </a:ln>
        </p:spPr>
        <p:txBody>
          <a:bodyPr/>
          <a:lstStyle/>
          <a:p>
            <a:endParaRPr lang="en-NZ"/>
          </a:p>
        </p:txBody>
      </p:sp>
      <p:sp>
        <p:nvSpPr>
          <p:cNvPr id="8" name="Shape 6"/>
          <p:cNvSpPr/>
          <p:nvPr/>
        </p:nvSpPr>
        <p:spPr>
          <a:xfrm>
            <a:off x="1481328" y="1298448"/>
            <a:ext cx="1051560" cy="749808"/>
          </a:xfrm>
          <a:prstGeom prst="rect">
            <a:avLst/>
          </a:prstGeom>
          <a:solidFill>
            <a:srgbClr val="0F7E6E"/>
          </a:solidFill>
          <a:ln w="12700">
            <a:solidFill>
              <a:srgbClr val="0F7E6E"/>
            </a:solidFill>
            <a:prstDash val="solid"/>
          </a:ln>
        </p:spPr>
        <p:txBody>
          <a:bodyPr/>
          <a:lstStyle/>
          <a:p>
            <a:endParaRPr lang="en-NZ"/>
          </a:p>
        </p:txBody>
      </p:sp>
      <p:sp>
        <p:nvSpPr>
          <p:cNvPr id="9" name="Text 7"/>
          <p:cNvSpPr/>
          <p:nvPr/>
        </p:nvSpPr>
        <p:spPr>
          <a:xfrm>
            <a:off x="1481328" y="1298448"/>
            <a:ext cx="1051560" cy="749808"/>
          </a:xfrm>
          <a:prstGeom prst="rect">
            <a:avLst/>
          </a:prstGeom>
          <a:noFill/>
          <a:ln/>
        </p:spPr>
        <p:txBody>
          <a:bodyPr wrap="square" lIns="0" tIns="0" rIns="0" bIns="0" rtlCol="0" anchor="ctr"/>
          <a:lstStyle/>
          <a:p>
            <a:pPr marL="0" indent="0" algn="ctr">
              <a:buNone/>
            </a:pPr>
            <a:r>
              <a:rPr lang="en-US" sz="800" b="1" dirty="0">
                <a:solidFill>
                  <a:srgbClr val="FFFFFF"/>
                </a:solidFill>
              </a:rPr>
              <a:t>Feature</a:t>
            </a:r>
            <a:endParaRPr lang="en-US" sz="800" dirty="0"/>
          </a:p>
          <a:p>
            <a:pPr marL="0" indent="0" algn="ctr">
              <a:buNone/>
            </a:pPr>
            <a:r>
              <a:rPr lang="en-US" sz="800" b="1" dirty="0">
                <a:solidFill>
                  <a:srgbClr val="FFFFFF"/>
                </a:solidFill>
              </a:rPr>
              <a:t>Engineering</a:t>
            </a:r>
            <a:endParaRPr lang="en-US" sz="800" dirty="0"/>
          </a:p>
        </p:txBody>
      </p:sp>
      <p:sp>
        <p:nvSpPr>
          <p:cNvPr id="10" name="Shape 8"/>
          <p:cNvSpPr/>
          <p:nvPr/>
        </p:nvSpPr>
        <p:spPr>
          <a:xfrm>
            <a:off x="2532888" y="1673352"/>
            <a:ext cx="429768" cy="0"/>
          </a:xfrm>
          <a:prstGeom prst="line">
            <a:avLst/>
          </a:prstGeom>
          <a:noFill/>
          <a:ln w="19050">
            <a:solidFill>
              <a:srgbClr val="475569"/>
            </a:solidFill>
            <a:prstDash val="solid"/>
          </a:ln>
        </p:spPr>
        <p:txBody>
          <a:bodyPr/>
          <a:lstStyle/>
          <a:p>
            <a:endParaRPr lang="en-NZ"/>
          </a:p>
        </p:txBody>
      </p:sp>
      <p:sp>
        <p:nvSpPr>
          <p:cNvPr id="11" name="Shape 9"/>
          <p:cNvSpPr/>
          <p:nvPr/>
        </p:nvSpPr>
        <p:spPr>
          <a:xfrm>
            <a:off x="2688336" y="1298448"/>
            <a:ext cx="1051560" cy="749808"/>
          </a:xfrm>
          <a:prstGeom prst="rect">
            <a:avLst/>
          </a:prstGeom>
          <a:solidFill>
            <a:srgbClr val="0F7E6E"/>
          </a:solidFill>
          <a:ln w="12700">
            <a:solidFill>
              <a:srgbClr val="0F7E6E"/>
            </a:solidFill>
            <a:prstDash val="solid"/>
          </a:ln>
        </p:spPr>
        <p:txBody>
          <a:bodyPr/>
          <a:lstStyle/>
          <a:p>
            <a:endParaRPr lang="en-NZ"/>
          </a:p>
        </p:txBody>
      </p:sp>
      <p:sp>
        <p:nvSpPr>
          <p:cNvPr id="12" name="Text 10"/>
          <p:cNvSpPr/>
          <p:nvPr/>
        </p:nvSpPr>
        <p:spPr>
          <a:xfrm>
            <a:off x="2688336" y="1298448"/>
            <a:ext cx="1051560" cy="749808"/>
          </a:xfrm>
          <a:prstGeom prst="rect">
            <a:avLst/>
          </a:prstGeom>
          <a:noFill/>
          <a:ln/>
        </p:spPr>
        <p:txBody>
          <a:bodyPr wrap="square" lIns="0" tIns="0" rIns="0" bIns="0" rtlCol="0" anchor="ctr"/>
          <a:lstStyle/>
          <a:p>
            <a:pPr marL="0" indent="0" algn="ctr">
              <a:buNone/>
            </a:pPr>
            <a:r>
              <a:rPr lang="en-US" sz="800" b="1" dirty="0">
                <a:solidFill>
                  <a:srgbClr val="FFFFFF"/>
                </a:solidFill>
              </a:rPr>
              <a:t>Stratified</a:t>
            </a:r>
            <a:endParaRPr lang="en-US" sz="800" dirty="0"/>
          </a:p>
          <a:p>
            <a:pPr marL="0" indent="0" algn="ctr">
              <a:buNone/>
            </a:pPr>
            <a:r>
              <a:rPr lang="en-US" sz="800" b="1" dirty="0">
                <a:solidFill>
                  <a:srgbClr val="FFFFFF"/>
                </a:solidFill>
              </a:rPr>
              <a:t>Train/Test Split</a:t>
            </a:r>
            <a:endParaRPr lang="en-US" sz="800" dirty="0"/>
          </a:p>
        </p:txBody>
      </p:sp>
      <p:sp>
        <p:nvSpPr>
          <p:cNvPr id="13" name="Shape 11"/>
          <p:cNvSpPr/>
          <p:nvPr/>
        </p:nvSpPr>
        <p:spPr>
          <a:xfrm>
            <a:off x="3739896" y="1673352"/>
            <a:ext cx="429768" cy="0"/>
          </a:xfrm>
          <a:prstGeom prst="line">
            <a:avLst/>
          </a:prstGeom>
          <a:noFill/>
          <a:ln w="19050">
            <a:solidFill>
              <a:srgbClr val="475569"/>
            </a:solidFill>
            <a:prstDash val="solid"/>
          </a:ln>
        </p:spPr>
        <p:txBody>
          <a:bodyPr/>
          <a:lstStyle/>
          <a:p>
            <a:endParaRPr lang="en-NZ"/>
          </a:p>
        </p:txBody>
      </p:sp>
      <p:sp>
        <p:nvSpPr>
          <p:cNvPr id="14" name="Shape 12"/>
          <p:cNvSpPr/>
          <p:nvPr/>
        </p:nvSpPr>
        <p:spPr>
          <a:xfrm>
            <a:off x="3895344" y="1298448"/>
            <a:ext cx="1051560" cy="749808"/>
          </a:xfrm>
          <a:prstGeom prst="rect">
            <a:avLst/>
          </a:prstGeom>
          <a:solidFill>
            <a:srgbClr val="17BDA0"/>
          </a:solidFill>
          <a:ln w="12700">
            <a:solidFill>
              <a:srgbClr val="17BDA0"/>
            </a:solidFill>
            <a:prstDash val="solid"/>
          </a:ln>
        </p:spPr>
        <p:txBody>
          <a:bodyPr/>
          <a:lstStyle/>
          <a:p>
            <a:endParaRPr lang="en-NZ"/>
          </a:p>
        </p:txBody>
      </p:sp>
      <p:sp>
        <p:nvSpPr>
          <p:cNvPr id="15" name="Text 13"/>
          <p:cNvSpPr/>
          <p:nvPr/>
        </p:nvSpPr>
        <p:spPr>
          <a:xfrm>
            <a:off x="3895344" y="1298448"/>
            <a:ext cx="1051560" cy="749808"/>
          </a:xfrm>
          <a:prstGeom prst="rect">
            <a:avLst/>
          </a:prstGeom>
          <a:noFill/>
          <a:ln/>
        </p:spPr>
        <p:txBody>
          <a:bodyPr wrap="square" lIns="0" tIns="0" rIns="0" bIns="0" rtlCol="0" anchor="ctr"/>
          <a:lstStyle/>
          <a:p>
            <a:pPr marL="0" indent="0" algn="ctr">
              <a:buNone/>
            </a:pPr>
            <a:r>
              <a:rPr lang="en-US" sz="800" b="1" dirty="0">
                <a:solidFill>
                  <a:srgbClr val="FFFFFF"/>
                </a:solidFill>
              </a:rPr>
              <a:t>StandardScaler</a:t>
            </a:r>
            <a:endParaRPr lang="en-US" sz="800" dirty="0"/>
          </a:p>
          <a:p>
            <a:pPr marL="0" indent="0" algn="ctr">
              <a:buNone/>
            </a:pPr>
            <a:r>
              <a:rPr lang="en-US" sz="800" b="1" dirty="0">
                <a:solidFill>
                  <a:srgbClr val="FFFFFF"/>
                </a:solidFill>
              </a:rPr>
              <a:t>Fit on Train</a:t>
            </a:r>
            <a:endParaRPr lang="en-US" sz="800" dirty="0"/>
          </a:p>
        </p:txBody>
      </p:sp>
      <p:sp>
        <p:nvSpPr>
          <p:cNvPr id="16" name="Shape 14"/>
          <p:cNvSpPr/>
          <p:nvPr/>
        </p:nvSpPr>
        <p:spPr>
          <a:xfrm>
            <a:off x="4946904" y="1673352"/>
            <a:ext cx="429768" cy="0"/>
          </a:xfrm>
          <a:prstGeom prst="line">
            <a:avLst/>
          </a:prstGeom>
          <a:noFill/>
          <a:ln w="19050">
            <a:solidFill>
              <a:srgbClr val="475569"/>
            </a:solidFill>
            <a:prstDash val="solid"/>
          </a:ln>
        </p:spPr>
        <p:txBody>
          <a:bodyPr/>
          <a:lstStyle/>
          <a:p>
            <a:endParaRPr lang="en-NZ"/>
          </a:p>
        </p:txBody>
      </p:sp>
      <p:sp>
        <p:nvSpPr>
          <p:cNvPr id="17" name="Shape 15"/>
          <p:cNvSpPr/>
          <p:nvPr/>
        </p:nvSpPr>
        <p:spPr>
          <a:xfrm>
            <a:off x="5102352" y="1298448"/>
            <a:ext cx="1051560" cy="749808"/>
          </a:xfrm>
          <a:prstGeom prst="rect">
            <a:avLst/>
          </a:prstGeom>
          <a:solidFill>
            <a:srgbClr val="17BDA0"/>
          </a:solidFill>
          <a:ln w="12700">
            <a:solidFill>
              <a:srgbClr val="17BDA0"/>
            </a:solidFill>
            <a:prstDash val="solid"/>
          </a:ln>
        </p:spPr>
        <p:txBody>
          <a:bodyPr/>
          <a:lstStyle/>
          <a:p>
            <a:endParaRPr lang="en-NZ"/>
          </a:p>
        </p:txBody>
      </p:sp>
      <p:sp>
        <p:nvSpPr>
          <p:cNvPr id="18" name="Text 16"/>
          <p:cNvSpPr/>
          <p:nvPr/>
        </p:nvSpPr>
        <p:spPr>
          <a:xfrm>
            <a:off x="5102352" y="1298448"/>
            <a:ext cx="1051560" cy="749808"/>
          </a:xfrm>
          <a:prstGeom prst="rect">
            <a:avLst/>
          </a:prstGeom>
          <a:noFill/>
          <a:ln/>
        </p:spPr>
        <p:txBody>
          <a:bodyPr wrap="square" lIns="0" tIns="0" rIns="0" bIns="0" rtlCol="0" anchor="ctr"/>
          <a:lstStyle/>
          <a:p>
            <a:pPr marL="0" indent="0" algn="ctr">
              <a:buNone/>
            </a:pPr>
            <a:r>
              <a:rPr lang="en-US" sz="800" b="1" dirty="0">
                <a:solidFill>
                  <a:srgbClr val="FFFFFF"/>
                </a:solidFill>
              </a:rPr>
              <a:t>LinearSVC</a:t>
            </a:r>
            <a:endParaRPr lang="en-US" sz="800" dirty="0"/>
          </a:p>
          <a:p>
            <a:pPr marL="0" indent="0" algn="ctr">
              <a:buNone/>
            </a:pPr>
            <a:r>
              <a:rPr lang="en-US" sz="800" b="1" dirty="0">
                <a:solidFill>
                  <a:srgbClr val="FFFFFF"/>
                </a:solidFill>
              </a:rPr>
              <a:t>Training</a:t>
            </a:r>
            <a:endParaRPr lang="en-US" sz="800" dirty="0"/>
          </a:p>
        </p:txBody>
      </p:sp>
      <p:sp>
        <p:nvSpPr>
          <p:cNvPr id="19" name="Shape 17"/>
          <p:cNvSpPr/>
          <p:nvPr/>
        </p:nvSpPr>
        <p:spPr>
          <a:xfrm>
            <a:off x="6153912" y="1673352"/>
            <a:ext cx="429768" cy="0"/>
          </a:xfrm>
          <a:prstGeom prst="line">
            <a:avLst/>
          </a:prstGeom>
          <a:noFill/>
          <a:ln w="19050">
            <a:solidFill>
              <a:srgbClr val="475569"/>
            </a:solidFill>
            <a:prstDash val="solid"/>
          </a:ln>
        </p:spPr>
        <p:txBody>
          <a:bodyPr/>
          <a:lstStyle/>
          <a:p>
            <a:endParaRPr lang="en-NZ"/>
          </a:p>
        </p:txBody>
      </p:sp>
      <p:sp>
        <p:nvSpPr>
          <p:cNvPr id="20" name="Shape 18"/>
          <p:cNvSpPr/>
          <p:nvPr/>
        </p:nvSpPr>
        <p:spPr>
          <a:xfrm>
            <a:off x="6309360" y="1298448"/>
            <a:ext cx="1051560" cy="749808"/>
          </a:xfrm>
          <a:prstGeom prst="rect">
            <a:avLst/>
          </a:prstGeom>
          <a:solidFill>
            <a:srgbClr val="0F7E6E"/>
          </a:solidFill>
          <a:ln w="12700">
            <a:solidFill>
              <a:srgbClr val="0F7E6E"/>
            </a:solidFill>
            <a:prstDash val="solid"/>
          </a:ln>
        </p:spPr>
        <p:txBody>
          <a:bodyPr/>
          <a:lstStyle/>
          <a:p>
            <a:endParaRPr lang="en-NZ"/>
          </a:p>
        </p:txBody>
      </p:sp>
      <p:sp>
        <p:nvSpPr>
          <p:cNvPr id="21" name="Text 19"/>
          <p:cNvSpPr/>
          <p:nvPr/>
        </p:nvSpPr>
        <p:spPr>
          <a:xfrm>
            <a:off x="6309360" y="1298448"/>
            <a:ext cx="1051560" cy="749808"/>
          </a:xfrm>
          <a:prstGeom prst="rect">
            <a:avLst/>
          </a:prstGeom>
          <a:noFill/>
          <a:ln/>
        </p:spPr>
        <p:txBody>
          <a:bodyPr wrap="square" lIns="0" tIns="0" rIns="0" bIns="0" rtlCol="0" anchor="ctr"/>
          <a:lstStyle/>
          <a:p>
            <a:pPr marL="0" indent="0" algn="ctr">
              <a:buNone/>
            </a:pPr>
            <a:r>
              <a:rPr lang="en-US" sz="800" b="1" dirty="0">
                <a:solidFill>
                  <a:srgbClr val="FFFFFF"/>
                </a:solidFill>
              </a:rPr>
              <a:t>Predictions</a:t>
            </a:r>
            <a:endParaRPr lang="en-US" sz="800" dirty="0"/>
          </a:p>
          <a:p>
            <a:pPr marL="0" indent="0" algn="ctr">
              <a:buNone/>
            </a:pPr>
            <a:r>
              <a:rPr lang="en-US" sz="800" b="1" dirty="0">
                <a:solidFill>
                  <a:srgbClr val="FFFFFF"/>
                </a:solidFill>
              </a:rPr>
              <a:t>on Test Set</a:t>
            </a:r>
            <a:endParaRPr lang="en-US" sz="800" dirty="0"/>
          </a:p>
        </p:txBody>
      </p:sp>
      <p:sp>
        <p:nvSpPr>
          <p:cNvPr id="22" name="Shape 20"/>
          <p:cNvSpPr/>
          <p:nvPr/>
        </p:nvSpPr>
        <p:spPr>
          <a:xfrm>
            <a:off x="7360920" y="1673352"/>
            <a:ext cx="429768" cy="0"/>
          </a:xfrm>
          <a:prstGeom prst="line">
            <a:avLst/>
          </a:prstGeom>
          <a:noFill/>
          <a:ln w="19050">
            <a:solidFill>
              <a:srgbClr val="475569"/>
            </a:solidFill>
            <a:prstDash val="solid"/>
          </a:ln>
        </p:spPr>
        <p:txBody>
          <a:bodyPr/>
          <a:lstStyle/>
          <a:p>
            <a:endParaRPr lang="en-NZ"/>
          </a:p>
        </p:txBody>
      </p:sp>
      <p:sp>
        <p:nvSpPr>
          <p:cNvPr id="23" name="Shape 21"/>
          <p:cNvSpPr/>
          <p:nvPr/>
        </p:nvSpPr>
        <p:spPr>
          <a:xfrm>
            <a:off x="7516368" y="1298448"/>
            <a:ext cx="1051560" cy="749808"/>
          </a:xfrm>
          <a:prstGeom prst="rect">
            <a:avLst/>
          </a:prstGeom>
          <a:solidFill>
            <a:srgbClr val="E05C00"/>
          </a:solidFill>
          <a:ln w="12700">
            <a:solidFill>
              <a:srgbClr val="E05C00"/>
            </a:solidFill>
            <a:prstDash val="solid"/>
          </a:ln>
        </p:spPr>
        <p:txBody>
          <a:bodyPr/>
          <a:lstStyle/>
          <a:p>
            <a:endParaRPr lang="en-NZ"/>
          </a:p>
        </p:txBody>
      </p:sp>
      <p:sp>
        <p:nvSpPr>
          <p:cNvPr id="24" name="Text 22"/>
          <p:cNvSpPr/>
          <p:nvPr/>
        </p:nvSpPr>
        <p:spPr>
          <a:xfrm>
            <a:off x="7516368" y="1298448"/>
            <a:ext cx="1051560" cy="749808"/>
          </a:xfrm>
          <a:prstGeom prst="rect">
            <a:avLst/>
          </a:prstGeom>
          <a:noFill/>
          <a:ln/>
        </p:spPr>
        <p:txBody>
          <a:bodyPr wrap="square" lIns="0" tIns="0" rIns="0" bIns="0" rtlCol="0" anchor="ctr"/>
          <a:lstStyle/>
          <a:p>
            <a:pPr marL="0" indent="0" algn="ctr">
              <a:buNone/>
            </a:pPr>
            <a:r>
              <a:rPr lang="en-US" sz="800" b="1" dirty="0">
                <a:solidFill>
                  <a:srgbClr val="FFFFFF"/>
                </a:solidFill>
              </a:rPr>
              <a:t>Evaluation</a:t>
            </a:r>
            <a:endParaRPr lang="en-US" sz="800" dirty="0"/>
          </a:p>
          <a:p>
            <a:pPr marL="0" indent="0" algn="ctr">
              <a:buNone/>
            </a:pPr>
            <a:r>
              <a:rPr lang="en-US" sz="800" b="1" dirty="0">
                <a:solidFill>
                  <a:srgbClr val="FFFFFF"/>
                </a:solidFill>
              </a:rPr>
              <a:t>&amp; Metrics</a:t>
            </a:r>
            <a:endParaRPr lang="en-US" sz="800" dirty="0"/>
          </a:p>
        </p:txBody>
      </p:sp>
      <p:sp>
        <p:nvSpPr>
          <p:cNvPr id="26" name="Text 24"/>
          <p:cNvSpPr/>
          <p:nvPr/>
        </p:nvSpPr>
        <p:spPr>
          <a:xfrm>
            <a:off x="521208" y="2350008"/>
            <a:ext cx="2377440" cy="256032"/>
          </a:xfrm>
          <a:prstGeom prst="rect">
            <a:avLst/>
          </a:prstGeom>
          <a:noFill/>
          <a:ln/>
        </p:spPr>
        <p:txBody>
          <a:bodyPr wrap="square" lIns="0" tIns="0" rIns="0" bIns="0" rtlCol="0" anchor="ctr"/>
          <a:lstStyle/>
          <a:p>
            <a:pPr marL="0" indent="0">
              <a:buNone/>
            </a:pPr>
            <a:r>
              <a:rPr lang="en-US" sz="1600" b="1" dirty="0">
                <a:solidFill>
                  <a:srgbClr val="0F7E6E"/>
                </a:solidFill>
              </a:rPr>
              <a:t>Training Set</a:t>
            </a:r>
            <a:endParaRPr lang="en-US" sz="1600" b="1" dirty="0"/>
          </a:p>
        </p:txBody>
      </p:sp>
      <p:sp>
        <p:nvSpPr>
          <p:cNvPr id="27" name="Text 25"/>
          <p:cNvSpPr/>
          <p:nvPr/>
        </p:nvSpPr>
        <p:spPr>
          <a:xfrm>
            <a:off x="521208" y="2596896"/>
            <a:ext cx="1554480" cy="457200"/>
          </a:xfrm>
          <a:prstGeom prst="rect">
            <a:avLst/>
          </a:prstGeom>
          <a:noFill/>
          <a:ln/>
        </p:spPr>
        <p:txBody>
          <a:bodyPr wrap="square" lIns="0" tIns="0" rIns="0" bIns="0" rtlCol="0" anchor="ctr"/>
          <a:lstStyle/>
          <a:p>
            <a:pPr marL="0" indent="0">
              <a:buNone/>
            </a:pPr>
            <a:r>
              <a:rPr lang="en-US" b="1" dirty="0">
                <a:solidFill>
                  <a:srgbClr val="111827"/>
                </a:solidFill>
              </a:rPr>
              <a:t>198,608</a:t>
            </a:r>
            <a:endParaRPr lang="en-US" b="1" dirty="0"/>
          </a:p>
          <a:p>
            <a:pPr marL="0" indent="0">
              <a:buNone/>
            </a:pPr>
            <a:r>
              <a:rPr lang="en-US" b="1" dirty="0">
                <a:solidFill>
                  <a:srgbClr val="111827"/>
                </a:solidFill>
              </a:rPr>
              <a:t>Records</a:t>
            </a:r>
            <a:endParaRPr lang="en-US" b="1" dirty="0"/>
          </a:p>
        </p:txBody>
      </p:sp>
      <p:sp>
        <p:nvSpPr>
          <p:cNvPr id="28" name="Shape 26"/>
          <p:cNvSpPr/>
          <p:nvPr/>
        </p:nvSpPr>
        <p:spPr>
          <a:xfrm>
            <a:off x="2148840" y="2624328"/>
            <a:ext cx="685800" cy="347472"/>
          </a:xfrm>
          <a:prstGeom prst="rect">
            <a:avLst/>
          </a:prstGeom>
          <a:solidFill>
            <a:srgbClr val="0F7E6E"/>
          </a:solidFill>
          <a:ln w="12700">
            <a:solidFill>
              <a:srgbClr val="0F7E6E"/>
            </a:solidFill>
            <a:prstDash val="solid"/>
          </a:ln>
        </p:spPr>
        <p:txBody>
          <a:bodyPr/>
          <a:lstStyle/>
          <a:p>
            <a:endParaRPr lang="en-NZ" sz="2800" b="1"/>
          </a:p>
        </p:txBody>
      </p:sp>
      <p:sp>
        <p:nvSpPr>
          <p:cNvPr id="29" name="Text 27"/>
          <p:cNvSpPr/>
          <p:nvPr/>
        </p:nvSpPr>
        <p:spPr>
          <a:xfrm>
            <a:off x="2148840" y="2624328"/>
            <a:ext cx="685800" cy="347472"/>
          </a:xfrm>
          <a:prstGeom prst="rect">
            <a:avLst/>
          </a:prstGeom>
          <a:noFill/>
          <a:ln/>
        </p:spPr>
        <p:txBody>
          <a:bodyPr wrap="square" lIns="0" tIns="0" rIns="0" bIns="0" rtlCol="0" anchor="ctr"/>
          <a:lstStyle/>
          <a:p>
            <a:pPr marL="0" indent="0" algn="ctr">
              <a:buNone/>
            </a:pPr>
            <a:r>
              <a:rPr lang="en-US" b="1" dirty="0">
                <a:solidFill>
                  <a:srgbClr val="FFFFFF"/>
                </a:solidFill>
              </a:rPr>
              <a:t>70%</a:t>
            </a:r>
            <a:endParaRPr lang="en-US" b="1" dirty="0"/>
          </a:p>
        </p:txBody>
      </p:sp>
      <p:sp>
        <p:nvSpPr>
          <p:cNvPr id="31" name="Text 29"/>
          <p:cNvSpPr/>
          <p:nvPr/>
        </p:nvSpPr>
        <p:spPr>
          <a:xfrm>
            <a:off x="3355848" y="2350008"/>
            <a:ext cx="2377440" cy="256032"/>
          </a:xfrm>
          <a:prstGeom prst="rect">
            <a:avLst/>
          </a:prstGeom>
          <a:noFill/>
          <a:ln/>
        </p:spPr>
        <p:txBody>
          <a:bodyPr wrap="square" lIns="0" tIns="0" rIns="0" bIns="0" rtlCol="0" anchor="ctr"/>
          <a:lstStyle/>
          <a:p>
            <a:pPr marL="0" indent="0">
              <a:buNone/>
            </a:pPr>
            <a:r>
              <a:rPr lang="en-US" sz="1600" b="1" dirty="0">
                <a:solidFill>
                  <a:srgbClr val="475569"/>
                </a:solidFill>
              </a:rPr>
              <a:t>Normal (Train)</a:t>
            </a:r>
            <a:endParaRPr lang="en-US" sz="1600" b="1" dirty="0"/>
          </a:p>
        </p:txBody>
      </p:sp>
      <p:sp>
        <p:nvSpPr>
          <p:cNvPr id="32" name="Text 30"/>
          <p:cNvSpPr/>
          <p:nvPr/>
        </p:nvSpPr>
        <p:spPr>
          <a:xfrm>
            <a:off x="3355848" y="2596896"/>
            <a:ext cx="1554480" cy="457200"/>
          </a:xfrm>
          <a:prstGeom prst="rect">
            <a:avLst/>
          </a:prstGeom>
          <a:noFill/>
          <a:ln/>
        </p:spPr>
        <p:txBody>
          <a:bodyPr wrap="square" lIns="0" tIns="0" rIns="0" bIns="0" rtlCol="0" anchor="ctr"/>
          <a:lstStyle/>
          <a:p>
            <a:pPr marL="0" indent="0">
              <a:buNone/>
            </a:pPr>
            <a:r>
              <a:rPr lang="en-US" b="1" dirty="0">
                <a:solidFill>
                  <a:srgbClr val="111827"/>
                </a:solidFill>
              </a:rPr>
              <a:t>198,319</a:t>
            </a:r>
            <a:endParaRPr lang="en-US" b="1" dirty="0"/>
          </a:p>
          <a:p>
            <a:pPr marL="0" indent="0">
              <a:buNone/>
            </a:pPr>
            <a:r>
              <a:rPr lang="en-US" b="1" dirty="0">
                <a:solidFill>
                  <a:srgbClr val="111827"/>
                </a:solidFill>
              </a:rPr>
              <a:t>Records</a:t>
            </a:r>
            <a:endParaRPr lang="en-US" b="1" dirty="0"/>
          </a:p>
        </p:txBody>
      </p:sp>
      <p:sp>
        <p:nvSpPr>
          <p:cNvPr id="33" name="Shape 31"/>
          <p:cNvSpPr/>
          <p:nvPr/>
        </p:nvSpPr>
        <p:spPr>
          <a:xfrm>
            <a:off x="4983480" y="2624328"/>
            <a:ext cx="685800" cy="347472"/>
          </a:xfrm>
          <a:prstGeom prst="rect">
            <a:avLst/>
          </a:prstGeom>
          <a:solidFill>
            <a:srgbClr val="475569"/>
          </a:solidFill>
          <a:ln w="12700">
            <a:solidFill>
              <a:srgbClr val="475569"/>
            </a:solidFill>
            <a:prstDash val="solid"/>
          </a:ln>
        </p:spPr>
        <p:txBody>
          <a:bodyPr/>
          <a:lstStyle/>
          <a:p>
            <a:endParaRPr lang="en-NZ" sz="2800" b="1"/>
          </a:p>
        </p:txBody>
      </p:sp>
      <p:sp>
        <p:nvSpPr>
          <p:cNvPr id="34" name="Text 32"/>
          <p:cNvSpPr/>
          <p:nvPr/>
        </p:nvSpPr>
        <p:spPr>
          <a:xfrm>
            <a:off x="4983480" y="2624328"/>
            <a:ext cx="685800" cy="347472"/>
          </a:xfrm>
          <a:prstGeom prst="rect">
            <a:avLst/>
          </a:prstGeom>
          <a:noFill/>
          <a:ln/>
        </p:spPr>
        <p:txBody>
          <a:bodyPr wrap="square" lIns="0" tIns="0" rIns="0" bIns="0" rtlCol="0" anchor="ctr"/>
          <a:lstStyle/>
          <a:p>
            <a:pPr marL="0" indent="0" algn="ctr">
              <a:buNone/>
            </a:pPr>
            <a:r>
              <a:rPr lang="en-US" b="1" dirty="0">
                <a:solidFill>
                  <a:srgbClr val="FFFFFF"/>
                </a:solidFill>
              </a:rPr>
              <a:t>99.9%</a:t>
            </a:r>
            <a:endParaRPr lang="en-US" b="1" dirty="0"/>
          </a:p>
        </p:txBody>
      </p:sp>
      <p:sp>
        <p:nvSpPr>
          <p:cNvPr id="36" name="Text 34"/>
          <p:cNvSpPr/>
          <p:nvPr/>
        </p:nvSpPr>
        <p:spPr>
          <a:xfrm>
            <a:off x="6190488" y="2350008"/>
            <a:ext cx="2377440" cy="256032"/>
          </a:xfrm>
          <a:prstGeom prst="rect">
            <a:avLst/>
          </a:prstGeom>
          <a:noFill/>
          <a:ln/>
        </p:spPr>
        <p:txBody>
          <a:bodyPr wrap="square" lIns="0" tIns="0" rIns="0" bIns="0" rtlCol="0" anchor="ctr"/>
          <a:lstStyle/>
          <a:p>
            <a:pPr marL="0" indent="0">
              <a:buNone/>
            </a:pPr>
            <a:r>
              <a:rPr lang="en-US" sz="1600" b="1" dirty="0">
                <a:solidFill>
                  <a:srgbClr val="C0392B"/>
                </a:solidFill>
              </a:rPr>
              <a:t>Fraud (Train)</a:t>
            </a:r>
            <a:endParaRPr lang="en-US" sz="1600" b="1" dirty="0"/>
          </a:p>
        </p:txBody>
      </p:sp>
      <p:sp>
        <p:nvSpPr>
          <p:cNvPr id="37" name="Text 35"/>
          <p:cNvSpPr/>
          <p:nvPr/>
        </p:nvSpPr>
        <p:spPr>
          <a:xfrm>
            <a:off x="6190488" y="2596896"/>
            <a:ext cx="1554480" cy="457200"/>
          </a:xfrm>
          <a:prstGeom prst="rect">
            <a:avLst/>
          </a:prstGeom>
          <a:noFill/>
          <a:ln/>
        </p:spPr>
        <p:txBody>
          <a:bodyPr wrap="square" lIns="0" tIns="0" rIns="0" bIns="0" rtlCol="0" anchor="ctr"/>
          <a:lstStyle/>
          <a:p>
            <a:pPr marL="0" indent="0">
              <a:buNone/>
            </a:pPr>
            <a:r>
              <a:rPr lang="en-US" b="1" dirty="0">
                <a:solidFill>
                  <a:srgbClr val="111827"/>
                </a:solidFill>
              </a:rPr>
              <a:t>344</a:t>
            </a:r>
            <a:endParaRPr lang="en-US" b="1" dirty="0"/>
          </a:p>
          <a:p>
            <a:pPr marL="0" indent="0">
              <a:buNone/>
            </a:pPr>
            <a:r>
              <a:rPr lang="en-US" b="1" dirty="0">
                <a:solidFill>
                  <a:srgbClr val="111827"/>
                </a:solidFill>
              </a:rPr>
              <a:t>Records</a:t>
            </a:r>
            <a:endParaRPr lang="en-US" b="1" dirty="0"/>
          </a:p>
        </p:txBody>
      </p:sp>
      <p:sp>
        <p:nvSpPr>
          <p:cNvPr id="38" name="Shape 36"/>
          <p:cNvSpPr/>
          <p:nvPr/>
        </p:nvSpPr>
        <p:spPr>
          <a:xfrm>
            <a:off x="7818120" y="2624328"/>
            <a:ext cx="685800" cy="347472"/>
          </a:xfrm>
          <a:prstGeom prst="rect">
            <a:avLst/>
          </a:prstGeom>
          <a:solidFill>
            <a:srgbClr val="C0392B"/>
          </a:solidFill>
          <a:ln w="12700">
            <a:solidFill>
              <a:srgbClr val="C0392B"/>
            </a:solidFill>
            <a:prstDash val="solid"/>
          </a:ln>
        </p:spPr>
        <p:txBody>
          <a:bodyPr/>
          <a:lstStyle/>
          <a:p>
            <a:endParaRPr lang="en-NZ" sz="2800" b="1"/>
          </a:p>
        </p:txBody>
      </p:sp>
      <p:sp>
        <p:nvSpPr>
          <p:cNvPr id="39" name="Text 37"/>
          <p:cNvSpPr/>
          <p:nvPr/>
        </p:nvSpPr>
        <p:spPr>
          <a:xfrm>
            <a:off x="7818120" y="2624328"/>
            <a:ext cx="685800" cy="347472"/>
          </a:xfrm>
          <a:prstGeom prst="rect">
            <a:avLst/>
          </a:prstGeom>
          <a:noFill/>
          <a:ln/>
        </p:spPr>
        <p:txBody>
          <a:bodyPr wrap="square" lIns="0" tIns="0" rIns="0" bIns="0" rtlCol="0" anchor="ctr"/>
          <a:lstStyle/>
          <a:p>
            <a:pPr marL="0" indent="0" algn="ctr">
              <a:buNone/>
            </a:pPr>
            <a:r>
              <a:rPr lang="en-US" b="1" dirty="0">
                <a:solidFill>
                  <a:srgbClr val="FFFFFF"/>
                </a:solidFill>
              </a:rPr>
              <a:t>0.17%</a:t>
            </a:r>
            <a:endParaRPr lang="en-US" b="1" dirty="0"/>
          </a:p>
        </p:txBody>
      </p:sp>
      <p:sp>
        <p:nvSpPr>
          <p:cNvPr id="40" name="Shape 38"/>
          <p:cNvSpPr/>
          <p:nvPr/>
        </p:nvSpPr>
        <p:spPr>
          <a:xfrm>
            <a:off x="411480" y="3401568"/>
            <a:ext cx="2606040" cy="822960"/>
          </a:xfrm>
          <a:prstGeom prst="rect">
            <a:avLst/>
          </a:prstGeom>
          <a:solidFill>
            <a:srgbClr val="E8F0FD"/>
          </a:solidFill>
          <a:ln w="25400">
            <a:solidFill>
              <a:srgbClr val="E05C00"/>
            </a:solidFill>
            <a:prstDash val="solid"/>
          </a:ln>
        </p:spPr>
        <p:txBody>
          <a:bodyPr/>
          <a:lstStyle/>
          <a:p>
            <a:endParaRPr lang="en-NZ" sz="2800" b="1"/>
          </a:p>
        </p:txBody>
      </p:sp>
      <p:sp>
        <p:nvSpPr>
          <p:cNvPr id="41" name="Text 39"/>
          <p:cNvSpPr/>
          <p:nvPr/>
        </p:nvSpPr>
        <p:spPr>
          <a:xfrm>
            <a:off x="521208" y="3447288"/>
            <a:ext cx="2377440" cy="256032"/>
          </a:xfrm>
          <a:prstGeom prst="rect">
            <a:avLst/>
          </a:prstGeom>
          <a:noFill/>
          <a:ln/>
        </p:spPr>
        <p:txBody>
          <a:bodyPr wrap="square" lIns="0" tIns="0" rIns="0" bIns="0" rtlCol="0" anchor="ctr"/>
          <a:lstStyle/>
          <a:p>
            <a:pPr marL="0" indent="0">
              <a:buNone/>
            </a:pPr>
            <a:r>
              <a:rPr lang="en-US" sz="1600" b="1" dirty="0">
                <a:solidFill>
                  <a:srgbClr val="E05C00"/>
                </a:solidFill>
              </a:rPr>
              <a:t>Testing Set</a:t>
            </a:r>
            <a:endParaRPr lang="en-US" sz="1600" b="1" dirty="0"/>
          </a:p>
        </p:txBody>
      </p:sp>
      <p:sp>
        <p:nvSpPr>
          <p:cNvPr id="42" name="Text 40"/>
          <p:cNvSpPr/>
          <p:nvPr/>
        </p:nvSpPr>
        <p:spPr>
          <a:xfrm>
            <a:off x="521208" y="3694176"/>
            <a:ext cx="1554480" cy="457200"/>
          </a:xfrm>
          <a:prstGeom prst="rect">
            <a:avLst/>
          </a:prstGeom>
          <a:noFill/>
          <a:ln/>
        </p:spPr>
        <p:txBody>
          <a:bodyPr wrap="square" lIns="0" tIns="0" rIns="0" bIns="0" rtlCol="0" anchor="ctr"/>
          <a:lstStyle/>
          <a:p>
            <a:pPr marL="0" indent="0">
              <a:buNone/>
            </a:pPr>
            <a:r>
              <a:rPr lang="en-US" b="1" dirty="0">
                <a:solidFill>
                  <a:srgbClr val="111827"/>
                </a:solidFill>
              </a:rPr>
              <a:t>85,118</a:t>
            </a:r>
            <a:endParaRPr lang="en-US" b="1" dirty="0"/>
          </a:p>
          <a:p>
            <a:pPr marL="0" indent="0">
              <a:buNone/>
            </a:pPr>
            <a:r>
              <a:rPr lang="en-US" b="1" dirty="0">
                <a:solidFill>
                  <a:srgbClr val="111827"/>
                </a:solidFill>
              </a:rPr>
              <a:t>Records</a:t>
            </a:r>
            <a:endParaRPr lang="en-US" b="1" dirty="0"/>
          </a:p>
        </p:txBody>
      </p:sp>
      <p:sp>
        <p:nvSpPr>
          <p:cNvPr id="43" name="Shape 41"/>
          <p:cNvSpPr/>
          <p:nvPr/>
        </p:nvSpPr>
        <p:spPr>
          <a:xfrm>
            <a:off x="2148840" y="3721608"/>
            <a:ext cx="685800" cy="347472"/>
          </a:xfrm>
          <a:prstGeom prst="rect">
            <a:avLst/>
          </a:prstGeom>
          <a:solidFill>
            <a:srgbClr val="E05C00"/>
          </a:solidFill>
          <a:ln w="12700">
            <a:solidFill>
              <a:srgbClr val="E05C00"/>
            </a:solidFill>
            <a:prstDash val="solid"/>
          </a:ln>
        </p:spPr>
        <p:txBody>
          <a:bodyPr/>
          <a:lstStyle/>
          <a:p>
            <a:endParaRPr lang="en-NZ" sz="2800" b="1"/>
          </a:p>
        </p:txBody>
      </p:sp>
      <p:sp>
        <p:nvSpPr>
          <p:cNvPr id="44" name="Text 42"/>
          <p:cNvSpPr/>
          <p:nvPr/>
        </p:nvSpPr>
        <p:spPr>
          <a:xfrm>
            <a:off x="2148840" y="3721608"/>
            <a:ext cx="685800" cy="347472"/>
          </a:xfrm>
          <a:prstGeom prst="rect">
            <a:avLst/>
          </a:prstGeom>
          <a:noFill/>
          <a:ln/>
        </p:spPr>
        <p:txBody>
          <a:bodyPr wrap="square" lIns="0" tIns="0" rIns="0" bIns="0" rtlCol="0" anchor="ctr"/>
          <a:lstStyle/>
          <a:p>
            <a:pPr marL="0" indent="0" algn="ctr">
              <a:buNone/>
            </a:pPr>
            <a:r>
              <a:rPr lang="en-US" b="1" dirty="0">
                <a:solidFill>
                  <a:srgbClr val="FFFFFF"/>
                </a:solidFill>
              </a:rPr>
              <a:t>30%</a:t>
            </a:r>
            <a:endParaRPr lang="en-US" b="1" dirty="0"/>
          </a:p>
        </p:txBody>
      </p:sp>
      <p:sp>
        <p:nvSpPr>
          <p:cNvPr id="45" name="Shape 43"/>
          <p:cNvSpPr/>
          <p:nvPr/>
        </p:nvSpPr>
        <p:spPr>
          <a:xfrm>
            <a:off x="3246120" y="3401568"/>
            <a:ext cx="2606040" cy="822960"/>
          </a:xfrm>
          <a:prstGeom prst="rect">
            <a:avLst/>
          </a:prstGeom>
          <a:solidFill>
            <a:srgbClr val="E8F0FD"/>
          </a:solidFill>
          <a:ln w="25400">
            <a:solidFill>
              <a:srgbClr val="475569"/>
            </a:solidFill>
            <a:prstDash val="solid"/>
          </a:ln>
        </p:spPr>
        <p:txBody>
          <a:bodyPr/>
          <a:lstStyle/>
          <a:p>
            <a:endParaRPr lang="en-NZ" sz="2800" b="1"/>
          </a:p>
        </p:txBody>
      </p:sp>
      <p:sp>
        <p:nvSpPr>
          <p:cNvPr id="46" name="Text 44"/>
          <p:cNvSpPr/>
          <p:nvPr/>
        </p:nvSpPr>
        <p:spPr>
          <a:xfrm>
            <a:off x="3355848" y="3447288"/>
            <a:ext cx="2377440" cy="256032"/>
          </a:xfrm>
          <a:prstGeom prst="rect">
            <a:avLst/>
          </a:prstGeom>
          <a:noFill/>
          <a:ln/>
        </p:spPr>
        <p:txBody>
          <a:bodyPr wrap="square" lIns="0" tIns="0" rIns="0" bIns="0" rtlCol="0" anchor="ctr"/>
          <a:lstStyle/>
          <a:p>
            <a:pPr marL="0" indent="0">
              <a:buNone/>
            </a:pPr>
            <a:r>
              <a:rPr lang="en-US" sz="1600" b="1" dirty="0">
                <a:solidFill>
                  <a:srgbClr val="475569"/>
                </a:solidFill>
              </a:rPr>
              <a:t>Normal (Test)</a:t>
            </a:r>
            <a:endParaRPr lang="en-US" sz="1600" b="1" dirty="0"/>
          </a:p>
        </p:txBody>
      </p:sp>
      <p:sp>
        <p:nvSpPr>
          <p:cNvPr id="47" name="Text 45"/>
          <p:cNvSpPr/>
          <p:nvPr/>
        </p:nvSpPr>
        <p:spPr>
          <a:xfrm>
            <a:off x="3355848" y="3694176"/>
            <a:ext cx="1554480" cy="457200"/>
          </a:xfrm>
          <a:prstGeom prst="rect">
            <a:avLst/>
          </a:prstGeom>
          <a:noFill/>
          <a:ln/>
        </p:spPr>
        <p:txBody>
          <a:bodyPr wrap="square" lIns="0" tIns="0" rIns="0" bIns="0" rtlCol="0" anchor="ctr"/>
          <a:lstStyle/>
          <a:p>
            <a:pPr marL="0" indent="0">
              <a:buNone/>
            </a:pPr>
            <a:r>
              <a:rPr lang="en-US" b="1" dirty="0">
                <a:solidFill>
                  <a:srgbClr val="111827"/>
                </a:solidFill>
              </a:rPr>
              <a:t>84,976</a:t>
            </a:r>
            <a:endParaRPr lang="en-US" b="1" dirty="0"/>
          </a:p>
          <a:p>
            <a:pPr marL="0" indent="0">
              <a:buNone/>
            </a:pPr>
            <a:r>
              <a:rPr lang="en-US" b="1" dirty="0">
                <a:solidFill>
                  <a:srgbClr val="111827"/>
                </a:solidFill>
              </a:rPr>
              <a:t>Records</a:t>
            </a:r>
            <a:endParaRPr lang="en-US" b="1" dirty="0"/>
          </a:p>
        </p:txBody>
      </p:sp>
      <p:sp>
        <p:nvSpPr>
          <p:cNvPr id="48" name="Shape 46"/>
          <p:cNvSpPr/>
          <p:nvPr/>
        </p:nvSpPr>
        <p:spPr>
          <a:xfrm>
            <a:off x="4983480" y="3721608"/>
            <a:ext cx="685800" cy="347472"/>
          </a:xfrm>
          <a:prstGeom prst="rect">
            <a:avLst/>
          </a:prstGeom>
          <a:solidFill>
            <a:srgbClr val="475569"/>
          </a:solidFill>
          <a:ln w="12700">
            <a:solidFill>
              <a:srgbClr val="475569"/>
            </a:solidFill>
            <a:prstDash val="solid"/>
          </a:ln>
        </p:spPr>
        <p:txBody>
          <a:bodyPr/>
          <a:lstStyle/>
          <a:p>
            <a:endParaRPr lang="en-NZ" sz="2800" b="1"/>
          </a:p>
        </p:txBody>
      </p:sp>
      <p:sp>
        <p:nvSpPr>
          <p:cNvPr id="49" name="Text 47"/>
          <p:cNvSpPr/>
          <p:nvPr/>
        </p:nvSpPr>
        <p:spPr>
          <a:xfrm>
            <a:off x="4983480" y="3721608"/>
            <a:ext cx="685800" cy="347472"/>
          </a:xfrm>
          <a:prstGeom prst="rect">
            <a:avLst/>
          </a:prstGeom>
          <a:noFill/>
          <a:ln/>
        </p:spPr>
        <p:txBody>
          <a:bodyPr wrap="square" lIns="0" tIns="0" rIns="0" bIns="0" rtlCol="0" anchor="ctr"/>
          <a:lstStyle/>
          <a:p>
            <a:pPr marL="0" indent="0" algn="ctr">
              <a:buNone/>
            </a:pPr>
            <a:r>
              <a:rPr lang="en-US" b="1" dirty="0">
                <a:solidFill>
                  <a:srgbClr val="FFFFFF"/>
                </a:solidFill>
              </a:rPr>
              <a:t>99.8%</a:t>
            </a:r>
            <a:endParaRPr lang="en-US" b="1" dirty="0"/>
          </a:p>
        </p:txBody>
      </p:sp>
      <p:sp>
        <p:nvSpPr>
          <p:cNvPr id="50" name="Shape 48"/>
          <p:cNvSpPr/>
          <p:nvPr/>
        </p:nvSpPr>
        <p:spPr>
          <a:xfrm>
            <a:off x="6080760" y="3401568"/>
            <a:ext cx="2606040" cy="822960"/>
          </a:xfrm>
          <a:prstGeom prst="rect">
            <a:avLst/>
          </a:prstGeom>
          <a:solidFill>
            <a:srgbClr val="E8F0FD"/>
          </a:solidFill>
          <a:ln w="25400">
            <a:solidFill>
              <a:srgbClr val="C0392B"/>
            </a:solidFill>
            <a:prstDash val="solid"/>
          </a:ln>
        </p:spPr>
        <p:txBody>
          <a:bodyPr/>
          <a:lstStyle/>
          <a:p>
            <a:endParaRPr lang="en-NZ" sz="2800" b="1"/>
          </a:p>
        </p:txBody>
      </p:sp>
      <p:sp>
        <p:nvSpPr>
          <p:cNvPr id="51" name="Text 49"/>
          <p:cNvSpPr/>
          <p:nvPr/>
        </p:nvSpPr>
        <p:spPr>
          <a:xfrm>
            <a:off x="6190488" y="3447288"/>
            <a:ext cx="2377440" cy="256032"/>
          </a:xfrm>
          <a:prstGeom prst="rect">
            <a:avLst/>
          </a:prstGeom>
          <a:noFill/>
          <a:ln/>
        </p:spPr>
        <p:txBody>
          <a:bodyPr wrap="square" lIns="0" tIns="0" rIns="0" bIns="0" rtlCol="0" anchor="ctr"/>
          <a:lstStyle/>
          <a:p>
            <a:pPr marL="0" indent="0">
              <a:buNone/>
            </a:pPr>
            <a:r>
              <a:rPr lang="en-US" sz="1600" b="1" dirty="0">
                <a:solidFill>
                  <a:srgbClr val="C0392B"/>
                </a:solidFill>
              </a:rPr>
              <a:t>Fraud (Test)</a:t>
            </a:r>
            <a:endParaRPr lang="en-US" sz="1600" b="1" dirty="0"/>
          </a:p>
        </p:txBody>
      </p:sp>
      <p:sp>
        <p:nvSpPr>
          <p:cNvPr id="52" name="Text 50"/>
          <p:cNvSpPr/>
          <p:nvPr/>
        </p:nvSpPr>
        <p:spPr>
          <a:xfrm>
            <a:off x="6190488" y="3694176"/>
            <a:ext cx="1554480" cy="457200"/>
          </a:xfrm>
          <a:prstGeom prst="rect">
            <a:avLst/>
          </a:prstGeom>
          <a:noFill/>
          <a:ln/>
        </p:spPr>
        <p:txBody>
          <a:bodyPr wrap="square" lIns="0" tIns="0" rIns="0" bIns="0" rtlCol="0" anchor="ctr"/>
          <a:lstStyle/>
          <a:p>
            <a:pPr marL="0" indent="0">
              <a:buNone/>
            </a:pPr>
            <a:r>
              <a:rPr lang="en-US" b="1" dirty="0">
                <a:solidFill>
                  <a:srgbClr val="111827"/>
                </a:solidFill>
              </a:rPr>
              <a:t>142</a:t>
            </a:r>
            <a:endParaRPr lang="en-US" b="1" dirty="0"/>
          </a:p>
          <a:p>
            <a:pPr marL="0" indent="0">
              <a:buNone/>
            </a:pPr>
            <a:r>
              <a:rPr lang="en-US" b="1" dirty="0">
                <a:solidFill>
                  <a:srgbClr val="111827"/>
                </a:solidFill>
              </a:rPr>
              <a:t>Records</a:t>
            </a:r>
            <a:endParaRPr lang="en-US" b="1" dirty="0"/>
          </a:p>
        </p:txBody>
      </p:sp>
      <p:sp>
        <p:nvSpPr>
          <p:cNvPr id="53" name="Shape 51"/>
          <p:cNvSpPr/>
          <p:nvPr/>
        </p:nvSpPr>
        <p:spPr>
          <a:xfrm>
            <a:off x="7818120" y="3721608"/>
            <a:ext cx="685800" cy="347472"/>
          </a:xfrm>
          <a:prstGeom prst="rect">
            <a:avLst/>
          </a:prstGeom>
          <a:solidFill>
            <a:srgbClr val="C0392B"/>
          </a:solidFill>
          <a:ln w="12700">
            <a:solidFill>
              <a:srgbClr val="C0392B"/>
            </a:solidFill>
            <a:prstDash val="solid"/>
          </a:ln>
        </p:spPr>
        <p:txBody>
          <a:bodyPr/>
          <a:lstStyle/>
          <a:p>
            <a:endParaRPr lang="en-NZ" sz="2800" b="1"/>
          </a:p>
        </p:txBody>
      </p:sp>
      <p:sp>
        <p:nvSpPr>
          <p:cNvPr id="54" name="Text 52"/>
          <p:cNvSpPr/>
          <p:nvPr/>
        </p:nvSpPr>
        <p:spPr>
          <a:xfrm>
            <a:off x="7818120" y="3721608"/>
            <a:ext cx="685800" cy="347472"/>
          </a:xfrm>
          <a:prstGeom prst="rect">
            <a:avLst/>
          </a:prstGeom>
          <a:noFill/>
          <a:ln/>
        </p:spPr>
        <p:txBody>
          <a:bodyPr wrap="square" lIns="0" tIns="0" rIns="0" bIns="0" rtlCol="0" anchor="ctr"/>
          <a:lstStyle/>
          <a:p>
            <a:pPr marL="0" indent="0" algn="ctr">
              <a:buNone/>
            </a:pPr>
            <a:r>
              <a:rPr lang="en-US" b="1" dirty="0">
                <a:solidFill>
                  <a:srgbClr val="FFFFFF"/>
                </a:solidFill>
              </a:rPr>
              <a:t>0.17%</a:t>
            </a:r>
            <a:endParaRPr lang="en-US" b="1" dirty="0"/>
          </a:p>
        </p:txBody>
      </p:sp>
      <p:sp>
        <p:nvSpPr>
          <p:cNvPr id="55" name="Shape 53"/>
          <p:cNvSpPr/>
          <p:nvPr/>
        </p:nvSpPr>
        <p:spPr>
          <a:xfrm>
            <a:off x="411480" y="4407408"/>
            <a:ext cx="8321040" cy="475488"/>
          </a:xfrm>
          <a:prstGeom prst="rect">
            <a:avLst/>
          </a:prstGeom>
          <a:solidFill>
            <a:srgbClr val="FFF3CD"/>
          </a:solidFill>
          <a:ln w="12700">
            <a:solidFill>
              <a:srgbClr val="F0C040"/>
            </a:solidFill>
            <a:prstDash val="solid"/>
          </a:ln>
        </p:spPr>
        <p:txBody>
          <a:bodyPr/>
          <a:lstStyle/>
          <a:p>
            <a:endParaRPr lang="en-NZ" sz="2800" b="1"/>
          </a:p>
        </p:txBody>
      </p:sp>
      <p:sp>
        <p:nvSpPr>
          <p:cNvPr id="56" name="Text 54"/>
          <p:cNvSpPr/>
          <p:nvPr/>
        </p:nvSpPr>
        <p:spPr>
          <a:xfrm>
            <a:off x="502920" y="4407408"/>
            <a:ext cx="8229600" cy="475488"/>
          </a:xfrm>
          <a:prstGeom prst="rect">
            <a:avLst/>
          </a:prstGeom>
          <a:noFill/>
          <a:ln/>
        </p:spPr>
        <p:txBody>
          <a:bodyPr wrap="square" lIns="0" tIns="0" rIns="0" bIns="0" rtlCol="0" anchor="ctr"/>
          <a:lstStyle/>
          <a:p>
            <a:pPr marL="0" indent="0" algn="ctr">
              <a:buNone/>
            </a:pPr>
            <a:r>
              <a:rPr lang="en-US" sz="1200" b="1" dirty="0">
                <a:solidFill>
                  <a:srgbClr val="7A5200"/>
                </a:solidFill>
              </a:rPr>
              <a:t>Stratify=y ensures both train and test sets maintain the same 0.17% fraud ratio, preventing data leakage and biased evaluation.</a:t>
            </a:r>
            <a:endParaRPr lang="en-US" sz="12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01168"/>
            <a:ext cx="1463040" cy="228600"/>
          </a:xfrm>
          <a:prstGeom prst="rect">
            <a:avLst/>
          </a:prstGeom>
          <a:solidFill>
            <a:srgbClr val="17BDA0"/>
          </a:solidFill>
          <a:ln w="12700">
            <a:solidFill>
              <a:srgbClr val="17BDA0"/>
            </a:solidFill>
            <a:prstDash val="solid"/>
          </a:ln>
        </p:spPr>
        <p:txBody>
          <a:bodyPr/>
          <a:lstStyle/>
          <a:p>
            <a:endParaRPr lang="en-NZ"/>
          </a:p>
        </p:txBody>
      </p:sp>
      <p:sp>
        <p:nvSpPr>
          <p:cNvPr id="3" name="Text 1"/>
          <p:cNvSpPr/>
          <p:nvPr/>
        </p:nvSpPr>
        <p:spPr>
          <a:xfrm>
            <a:off x="411480" y="201168"/>
            <a:ext cx="1463040" cy="228600"/>
          </a:xfrm>
          <a:prstGeom prst="rect">
            <a:avLst/>
          </a:prstGeom>
          <a:noFill/>
          <a:ln/>
        </p:spPr>
        <p:txBody>
          <a:bodyPr wrap="square" lIns="0" tIns="0" rIns="0" bIns="0" rtlCol="0" anchor="ctr"/>
          <a:lstStyle/>
          <a:p>
            <a:pPr marL="0" indent="0" algn="ctr">
              <a:buNone/>
            </a:pPr>
            <a:r>
              <a:rPr lang="en-US" sz="800" b="1" dirty="0">
                <a:solidFill>
                  <a:srgbClr val="0D1B40"/>
                </a:solidFill>
              </a:rPr>
              <a:t>EVALUATION</a:t>
            </a:r>
            <a:endParaRPr lang="en-US" sz="800" dirty="0"/>
          </a:p>
        </p:txBody>
      </p:sp>
      <p:sp>
        <p:nvSpPr>
          <p:cNvPr id="4" name="Text 2"/>
          <p:cNvSpPr/>
          <p:nvPr/>
        </p:nvSpPr>
        <p:spPr>
          <a:xfrm>
            <a:off x="411480" y="502920"/>
            <a:ext cx="8229600" cy="594360"/>
          </a:xfrm>
          <a:prstGeom prst="rect">
            <a:avLst/>
          </a:prstGeom>
          <a:noFill/>
          <a:ln/>
        </p:spPr>
        <p:txBody>
          <a:bodyPr wrap="square" rtlCol="0" anchor="ctr"/>
          <a:lstStyle/>
          <a:p>
            <a:pPr marL="0" indent="0">
              <a:buNone/>
            </a:pPr>
            <a:r>
              <a:rPr lang="en-US" sz="3000" b="1" dirty="0">
                <a:solidFill>
                  <a:srgbClr val="0D1B40"/>
                </a:solidFill>
                <a:latin typeface="Trebuchet MS" pitchFamily="34" charset="0"/>
                <a:ea typeface="Trebuchet MS" pitchFamily="34" charset="-122"/>
                <a:cs typeface="Trebuchet MS" pitchFamily="34" charset="-120"/>
              </a:rPr>
              <a:t>Evaluation Metrics &amp; Results</a:t>
            </a:r>
            <a:endParaRPr lang="en-US" sz="3000" dirty="0"/>
          </a:p>
        </p:txBody>
      </p:sp>
      <p:sp>
        <p:nvSpPr>
          <p:cNvPr id="5" name="Shape 3"/>
          <p:cNvSpPr/>
          <p:nvPr/>
        </p:nvSpPr>
        <p:spPr>
          <a:xfrm>
            <a:off x="411480" y="1261872"/>
            <a:ext cx="1554480" cy="914400"/>
          </a:xfrm>
          <a:prstGeom prst="rect">
            <a:avLst/>
          </a:prstGeom>
          <a:solidFill>
            <a:srgbClr val="0D1B40"/>
          </a:solidFill>
          <a:ln w="25400">
            <a:solidFill>
              <a:srgbClr val="17BDA0"/>
            </a:solidFill>
            <a:prstDash val="solid"/>
          </a:ln>
          <a:effectLst>
            <a:outerShdw blurRad="76200" dist="38100" dir="8100000" algn="bl" rotWithShape="0">
              <a:srgbClr val="000000">
                <a:alpha val="18000"/>
              </a:srgbClr>
            </a:outerShdw>
          </a:effectLst>
        </p:spPr>
        <p:txBody>
          <a:bodyPr/>
          <a:lstStyle/>
          <a:p>
            <a:endParaRPr lang="en-NZ" sz="2400" b="1"/>
          </a:p>
        </p:txBody>
      </p:sp>
      <p:sp>
        <p:nvSpPr>
          <p:cNvPr id="6" name="Text 4"/>
          <p:cNvSpPr/>
          <p:nvPr/>
        </p:nvSpPr>
        <p:spPr>
          <a:xfrm>
            <a:off x="411480" y="1335024"/>
            <a:ext cx="1554480" cy="475488"/>
          </a:xfrm>
          <a:prstGeom prst="rect">
            <a:avLst/>
          </a:prstGeom>
          <a:noFill/>
          <a:ln/>
        </p:spPr>
        <p:txBody>
          <a:bodyPr wrap="square" lIns="0" tIns="0" rIns="0" bIns="0" rtlCol="0" anchor="ctr"/>
          <a:lstStyle/>
          <a:p>
            <a:pPr marL="0" indent="0" algn="ctr">
              <a:buNone/>
            </a:pPr>
            <a:r>
              <a:rPr lang="en-US" sz="3200" b="1" dirty="0">
                <a:solidFill>
                  <a:srgbClr val="17BDA0"/>
                </a:solidFill>
              </a:rPr>
              <a:t>97.9%</a:t>
            </a:r>
            <a:endParaRPr lang="en-US" sz="3200" b="1" dirty="0"/>
          </a:p>
        </p:txBody>
      </p:sp>
      <p:sp>
        <p:nvSpPr>
          <p:cNvPr id="7" name="Text 5"/>
          <p:cNvSpPr/>
          <p:nvPr/>
        </p:nvSpPr>
        <p:spPr>
          <a:xfrm>
            <a:off x="411480" y="1792224"/>
            <a:ext cx="1554480" cy="310896"/>
          </a:xfrm>
          <a:prstGeom prst="rect">
            <a:avLst/>
          </a:prstGeom>
          <a:noFill/>
          <a:ln/>
        </p:spPr>
        <p:txBody>
          <a:bodyPr wrap="square" lIns="0" tIns="0" rIns="0" bIns="0" rtlCol="0" anchor="ctr"/>
          <a:lstStyle/>
          <a:p>
            <a:pPr marL="0" indent="0" algn="ctr">
              <a:buNone/>
            </a:pPr>
            <a:r>
              <a:rPr lang="en-US" sz="1100" b="1" dirty="0">
                <a:solidFill>
                  <a:srgbClr val="A8BFDC"/>
                </a:solidFill>
              </a:rPr>
              <a:t>Accuracy</a:t>
            </a:r>
            <a:endParaRPr lang="en-US" sz="1100" b="1" dirty="0"/>
          </a:p>
        </p:txBody>
      </p:sp>
      <p:sp>
        <p:nvSpPr>
          <p:cNvPr id="8" name="Shape 6"/>
          <p:cNvSpPr/>
          <p:nvPr/>
        </p:nvSpPr>
        <p:spPr>
          <a:xfrm>
            <a:off x="2057400" y="1261872"/>
            <a:ext cx="1554480" cy="914400"/>
          </a:xfrm>
          <a:prstGeom prst="rect">
            <a:avLst/>
          </a:prstGeom>
          <a:solidFill>
            <a:srgbClr val="0D1B40"/>
          </a:solidFill>
          <a:ln w="25400">
            <a:solidFill>
              <a:srgbClr val="17BDA0"/>
            </a:solidFill>
            <a:prstDash val="solid"/>
          </a:ln>
          <a:effectLst>
            <a:outerShdw blurRad="76200" dist="38100" dir="8100000" algn="bl" rotWithShape="0">
              <a:srgbClr val="000000">
                <a:alpha val="18000"/>
              </a:srgbClr>
            </a:outerShdw>
          </a:effectLst>
        </p:spPr>
        <p:txBody>
          <a:bodyPr/>
          <a:lstStyle/>
          <a:p>
            <a:endParaRPr lang="en-NZ" sz="2400" b="1"/>
          </a:p>
        </p:txBody>
      </p:sp>
      <p:sp>
        <p:nvSpPr>
          <p:cNvPr id="9" name="Text 7"/>
          <p:cNvSpPr/>
          <p:nvPr/>
        </p:nvSpPr>
        <p:spPr>
          <a:xfrm>
            <a:off x="2057400" y="1335024"/>
            <a:ext cx="1554480" cy="475488"/>
          </a:xfrm>
          <a:prstGeom prst="rect">
            <a:avLst/>
          </a:prstGeom>
          <a:noFill/>
          <a:ln/>
        </p:spPr>
        <p:txBody>
          <a:bodyPr wrap="square" lIns="0" tIns="0" rIns="0" bIns="0" rtlCol="0" anchor="ctr"/>
          <a:lstStyle/>
          <a:p>
            <a:pPr marL="0" indent="0" algn="ctr">
              <a:buNone/>
            </a:pPr>
            <a:r>
              <a:rPr lang="en-US" sz="3200" b="1" dirty="0">
                <a:solidFill>
                  <a:srgbClr val="17BDA0"/>
                </a:solidFill>
              </a:rPr>
              <a:t>88.7%</a:t>
            </a:r>
            <a:endParaRPr lang="en-US" sz="3200" b="1" dirty="0"/>
          </a:p>
        </p:txBody>
      </p:sp>
      <p:sp>
        <p:nvSpPr>
          <p:cNvPr id="10" name="Text 8"/>
          <p:cNvSpPr/>
          <p:nvPr/>
        </p:nvSpPr>
        <p:spPr>
          <a:xfrm>
            <a:off x="2057400" y="1792224"/>
            <a:ext cx="1554480" cy="310896"/>
          </a:xfrm>
          <a:prstGeom prst="rect">
            <a:avLst/>
          </a:prstGeom>
          <a:noFill/>
          <a:ln/>
        </p:spPr>
        <p:txBody>
          <a:bodyPr wrap="square" lIns="0" tIns="0" rIns="0" bIns="0" rtlCol="0" anchor="ctr"/>
          <a:lstStyle/>
          <a:p>
            <a:pPr marL="0" indent="0" algn="ctr">
              <a:buNone/>
            </a:pPr>
            <a:r>
              <a:rPr lang="en-US" sz="1100" b="1" dirty="0">
                <a:solidFill>
                  <a:srgbClr val="A8BFDC"/>
                </a:solidFill>
              </a:rPr>
              <a:t>Recall</a:t>
            </a:r>
            <a:endParaRPr lang="en-US" sz="1100" b="1" dirty="0"/>
          </a:p>
        </p:txBody>
      </p:sp>
      <p:sp>
        <p:nvSpPr>
          <p:cNvPr id="11" name="Shape 9"/>
          <p:cNvSpPr/>
          <p:nvPr/>
        </p:nvSpPr>
        <p:spPr>
          <a:xfrm>
            <a:off x="3703320" y="1261872"/>
            <a:ext cx="1554480" cy="914400"/>
          </a:xfrm>
          <a:prstGeom prst="rect">
            <a:avLst/>
          </a:prstGeom>
          <a:solidFill>
            <a:srgbClr val="0D1B40"/>
          </a:solidFill>
          <a:ln w="25400">
            <a:solidFill>
              <a:srgbClr val="17BDA0"/>
            </a:solidFill>
            <a:prstDash val="solid"/>
          </a:ln>
          <a:effectLst>
            <a:outerShdw blurRad="76200" dist="38100" dir="8100000" algn="bl" rotWithShape="0">
              <a:srgbClr val="000000">
                <a:alpha val="18000"/>
              </a:srgbClr>
            </a:outerShdw>
          </a:effectLst>
        </p:spPr>
        <p:txBody>
          <a:bodyPr/>
          <a:lstStyle/>
          <a:p>
            <a:endParaRPr lang="en-NZ" sz="2400" b="1"/>
          </a:p>
        </p:txBody>
      </p:sp>
      <p:sp>
        <p:nvSpPr>
          <p:cNvPr id="12" name="Text 10"/>
          <p:cNvSpPr/>
          <p:nvPr/>
        </p:nvSpPr>
        <p:spPr>
          <a:xfrm>
            <a:off x="3703320" y="1335024"/>
            <a:ext cx="1554480" cy="475488"/>
          </a:xfrm>
          <a:prstGeom prst="rect">
            <a:avLst/>
          </a:prstGeom>
          <a:noFill/>
          <a:ln/>
        </p:spPr>
        <p:txBody>
          <a:bodyPr wrap="square" lIns="0" tIns="0" rIns="0" bIns="0" rtlCol="0" anchor="ctr"/>
          <a:lstStyle/>
          <a:p>
            <a:pPr marL="0" indent="0" algn="ctr">
              <a:buNone/>
            </a:pPr>
            <a:r>
              <a:rPr lang="en-US" sz="3200" b="1" dirty="0">
                <a:solidFill>
                  <a:srgbClr val="17BDA0"/>
                </a:solidFill>
              </a:rPr>
              <a:t>96.8%</a:t>
            </a:r>
            <a:endParaRPr lang="en-US" sz="3200" b="1" dirty="0"/>
          </a:p>
        </p:txBody>
      </p:sp>
      <p:sp>
        <p:nvSpPr>
          <p:cNvPr id="13" name="Text 11"/>
          <p:cNvSpPr/>
          <p:nvPr/>
        </p:nvSpPr>
        <p:spPr>
          <a:xfrm>
            <a:off x="3703320" y="1792224"/>
            <a:ext cx="1554480" cy="310896"/>
          </a:xfrm>
          <a:prstGeom prst="rect">
            <a:avLst/>
          </a:prstGeom>
          <a:noFill/>
          <a:ln/>
        </p:spPr>
        <p:txBody>
          <a:bodyPr wrap="square" lIns="0" tIns="0" rIns="0" bIns="0" rtlCol="0" anchor="ctr"/>
          <a:lstStyle/>
          <a:p>
            <a:pPr marL="0" indent="0" algn="ctr">
              <a:buNone/>
            </a:pPr>
            <a:r>
              <a:rPr lang="en-US" sz="1100" b="1" dirty="0">
                <a:solidFill>
                  <a:srgbClr val="A8BFDC"/>
                </a:solidFill>
              </a:rPr>
              <a:t>ROC-AUC</a:t>
            </a:r>
            <a:endParaRPr lang="en-US" sz="1100" b="1" dirty="0"/>
          </a:p>
        </p:txBody>
      </p:sp>
      <p:sp>
        <p:nvSpPr>
          <p:cNvPr id="14" name="Shape 12"/>
          <p:cNvSpPr/>
          <p:nvPr/>
        </p:nvSpPr>
        <p:spPr>
          <a:xfrm>
            <a:off x="5349240" y="1261872"/>
            <a:ext cx="1554480" cy="914400"/>
          </a:xfrm>
          <a:prstGeom prst="rect">
            <a:avLst/>
          </a:prstGeom>
          <a:solidFill>
            <a:srgbClr val="0D1B40"/>
          </a:solidFill>
          <a:ln w="25400">
            <a:solidFill>
              <a:srgbClr val="F0C040"/>
            </a:solidFill>
            <a:prstDash val="solid"/>
          </a:ln>
          <a:effectLst>
            <a:outerShdw blurRad="76200" dist="38100" dir="8100000" algn="bl" rotWithShape="0">
              <a:srgbClr val="000000">
                <a:alpha val="18000"/>
              </a:srgbClr>
            </a:outerShdw>
          </a:effectLst>
        </p:spPr>
        <p:txBody>
          <a:bodyPr/>
          <a:lstStyle/>
          <a:p>
            <a:endParaRPr lang="en-NZ" sz="2400" b="1"/>
          </a:p>
        </p:txBody>
      </p:sp>
      <p:sp>
        <p:nvSpPr>
          <p:cNvPr id="15" name="Text 13"/>
          <p:cNvSpPr/>
          <p:nvPr/>
        </p:nvSpPr>
        <p:spPr>
          <a:xfrm>
            <a:off x="5349240" y="1335024"/>
            <a:ext cx="1554480" cy="475488"/>
          </a:xfrm>
          <a:prstGeom prst="rect">
            <a:avLst/>
          </a:prstGeom>
          <a:noFill/>
          <a:ln/>
        </p:spPr>
        <p:txBody>
          <a:bodyPr wrap="square" lIns="0" tIns="0" rIns="0" bIns="0" rtlCol="0" anchor="ctr"/>
          <a:lstStyle/>
          <a:p>
            <a:pPr marL="0" indent="0" algn="ctr">
              <a:buNone/>
            </a:pPr>
            <a:r>
              <a:rPr lang="en-US" sz="3200" b="1" dirty="0">
                <a:solidFill>
                  <a:srgbClr val="F0C040"/>
                </a:solidFill>
              </a:rPr>
              <a:t>64.6%</a:t>
            </a:r>
            <a:endParaRPr lang="en-US" sz="3200" b="1" dirty="0"/>
          </a:p>
        </p:txBody>
      </p:sp>
      <p:sp>
        <p:nvSpPr>
          <p:cNvPr id="16" name="Text 14"/>
          <p:cNvSpPr/>
          <p:nvPr/>
        </p:nvSpPr>
        <p:spPr>
          <a:xfrm>
            <a:off x="5349240" y="1792224"/>
            <a:ext cx="1554480" cy="310896"/>
          </a:xfrm>
          <a:prstGeom prst="rect">
            <a:avLst/>
          </a:prstGeom>
          <a:noFill/>
          <a:ln/>
        </p:spPr>
        <p:txBody>
          <a:bodyPr wrap="square" lIns="0" tIns="0" rIns="0" bIns="0" rtlCol="0" anchor="ctr"/>
          <a:lstStyle/>
          <a:p>
            <a:pPr marL="0" indent="0" algn="ctr">
              <a:buNone/>
            </a:pPr>
            <a:r>
              <a:rPr lang="en-US" sz="1100" b="1" dirty="0">
                <a:solidFill>
                  <a:srgbClr val="A8BFDC"/>
                </a:solidFill>
              </a:rPr>
              <a:t>PR-AUC</a:t>
            </a:r>
            <a:endParaRPr lang="en-US" sz="1100" b="1" dirty="0"/>
          </a:p>
        </p:txBody>
      </p:sp>
      <p:sp>
        <p:nvSpPr>
          <p:cNvPr id="17" name="Shape 15"/>
          <p:cNvSpPr/>
          <p:nvPr/>
        </p:nvSpPr>
        <p:spPr>
          <a:xfrm>
            <a:off x="6995160" y="1261872"/>
            <a:ext cx="1554480" cy="914400"/>
          </a:xfrm>
          <a:prstGeom prst="rect">
            <a:avLst/>
          </a:prstGeom>
          <a:solidFill>
            <a:srgbClr val="0D1B40"/>
          </a:solidFill>
          <a:ln w="25400">
            <a:solidFill>
              <a:srgbClr val="E05C00"/>
            </a:solidFill>
            <a:prstDash val="solid"/>
          </a:ln>
          <a:effectLst>
            <a:outerShdw blurRad="76200" dist="38100" dir="8100000" algn="bl" rotWithShape="0">
              <a:srgbClr val="000000">
                <a:alpha val="18000"/>
              </a:srgbClr>
            </a:outerShdw>
          </a:effectLst>
        </p:spPr>
        <p:txBody>
          <a:bodyPr/>
          <a:lstStyle/>
          <a:p>
            <a:endParaRPr lang="en-NZ" sz="2400" b="1"/>
          </a:p>
        </p:txBody>
      </p:sp>
      <p:sp>
        <p:nvSpPr>
          <p:cNvPr id="18" name="Text 16"/>
          <p:cNvSpPr/>
          <p:nvPr/>
        </p:nvSpPr>
        <p:spPr>
          <a:xfrm>
            <a:off x="6995160" y="1335024"/>
            <a:ext cx="1554480" cy="475488"/>
          </a:xfrm>
          <a:prstGeom prst="rect">
            <a:avLst/>
          </a:prstGeom>
          <a:noFill/>
          <a:ln/>
        </p:spPr>
        <p:txBody>
          <a:bodyPr wrap="square" lIns="0" tIns="0" rIns="0" bIns="0" rtlCol="0" anchor="ctr"/>
          <a:lstStyle/>
          <a:p>
            <a:pPr marL="0" indent="0" algn="ctr">
              <a:buNone/>
            </a:pPr>
            <a:r>
              <a:rPr lang="en-US" sz="3200" b="1" dirty="0">
                <a:solidFill>
                  <a:srgbClr val="E05C00"/>
                </a:solidFill>
              </a:rPr>
              <a:t>12.5%</a:t>
            </a:r>
            <a:endParaRPr lang="en-US" sz="3200" b="1" dirty="0"/>
          </a:p>
        </p:txBody>
      </p:sp>
      <p:sp>
        <p:nvSpPr>
          <p:cNvPr id="19" name="Text 17"/>
          <p:cNvSpPr/>
          <p:nvPr/>
        </p:nvSpPr>
        <p:spPr>
          <a:xfrm>
            <a:off x="6995160" y="1792224"/>
            <a:ext cx="1554480" cy="310896"/>
          </a:xfrm>
          <a:prstGeom prst="rect">
            <a:avLst/>
          </a:prstGeom>
          <a:noFill/>
          <a:ln/>
        </p:spPr>
        <p:txBody>
          <a:bodyPr wrap="square" lIns="0" tIns="0" rIns="0" bIns="0" rtlCol="0" anchor="ctr"/>
          <a:lstStyle/>
          <a:p>
            <a:pPr marL="0" indent="0" algn="ctr">
              <a:buNone/>
            </a:pPr>
            <a:r>
              <a:rPr lang="en-US" sz="1100" b="1" dirty="0">
                <a:solidFill>
                  <a:srgbClr val="A8BFDC"/>
                </a:solidFill>
              </a:rPr>
              <a:t>F1-Score</a:t>
            </a:r>
            <a:endParaRPr lang="en-US" sz="1100" b="1" dirty="0"/>
          </a:p>
        </p:txBody>
      </p:sp>
      <p:sp>
        <p:nvSpPr>
          <p:cNvPr id="21" name="Text 19"/>
          <p:cNvSpPr/>
          <p:nvPr/>
        </p:nvSpPr>
        <p:spPr>
          <a:xfrm>
            <a:off x="548640" y="2331720"/>
            <a:ext cx="8229600" cy="384048"/>
          </a:xfrm>
          <a:prstGeom prst="rect">
            <a:avLst/>
          </a:prstGeom>
          <a:noFill/>
          <a:ln/>
        </p:spPr>
        <p:txBody>
          <a:bodyPr wrap="square" lIns="0" tIns="0" rIns="0" bIns="0" rtlCol="0" anchor="ctr"/>
          <a:lstStyle/>
          <a:p>
            <a:pPr marL="0" indent="0" algn="ctr">
              <a:buNone/>
            </a:pPr>
            <a:r>
              <a:rPr lang="en-US" sz="1100" b="1" dirty="0">
                <a:solidFill>
                  <a:srgbClr val="8B1A1A"/>
                </a:solidFill>
              </a:rPr>
              <a:t>⚠  Precision: 6.7%  — Low precision means many false alarms. Acceptable trade-off when missing fraud is far costlier.</a:t>
            </a:r>
            <a:endParaRPr lang="en-US" sz="1100" b="1" dirty="0"/>
          </a:p>
        </p:txBody>
      </p:sp>
      <p:sp>
        <p:nvSpPr>
          <p:cNvPr id="22" name="Text 20"/>
          <p:cNvSpPr/>
          <p:nvPr/>
        </p:nvSpPr>
        <p:spPr>
          <a:xfrm>
            <a:off x="4846320" y="2834640"/>
            <a:ext cx="3931920" cy="292608"/>
          </a:xfrm>
          <a:prstGeom prst="rect">
            <a:avLst/>
          </a:prstGeom>
          <a:noFill/>
          <a:ln/>
        </p:spPr>
        <p:txBody>
          <a:bodyPr wrap="square" lIns="0" tIns="0" rIns="0" bIns="0" rtlCol="0" anchor="ctr"/>
          <a:lstStyle/>
          <a:p>
            <a:pPr marL="0" indent="0" algn="ctr">
              <a:buNone/>
            </a:pPr>
            <a:r>
              <a:rPr lang="en-US" sz="1600" b="1" dirty="0">
                <a:solidFill>
                  <a:srgbClr val="0D1B40"/>
                </a:solidFill>
              </a:rPr>
              <a:t>Confusion Matrix</a:t>
            </a:r>
            <a:endParaRPr lang="en-US" sz="1600" b="1" dirty="0"/>
          </a:p>
        </p:txBody>
      </p:sp>
      <p:pic>
        <p:nvPicPr>
          <p:cNvPr id="23" name="Image 0" descr="preencoded.png"/>
          <p:cNvPicPr>
            <a:picLocks noChangeAspect="1"/>
          </p:cNvPicPr>
          <p:nvPr/>
        </p:nvPicPr>
        <p:blipFill>
          <a:blip r:embed="rId3"/>
          <a:stretch>
            <a:fillRect/>
          </a:stretch>
        </p:blipFill>
        <p:spPr>
          <a:xfrm>
            <a:off x="4846320" y="3127248"/>
            <a:ext cx="3977640" cy="1737360"/>
          </a:xfrm>
          <a:prstGeom prst="rect">
            <a:avLst/>
          </a:prstGeom>
        </p:spPr>
      </p:pic>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11480" y="2834640"/>
          <a:ext cx="4206240" cy="2011680"/>
        </p:xfrm>
        <a:graphic>
          <a:graphicData uri="http://schemas.openxmlformats.org/drawingml/2006/table">
            <a:tbl>
              <a:tblPr/>
              <a:tblGrid>
                <a:gridCol w="1051560">
                  <a:extLst>
                    <a:ext uri="{9D8B030D-6E8A-4147-A177-3AD203B41FA5}">
                      <a16:colId xmlns:a16="http://schemas.microsoft.com/office/drawing/2014/main" val="20000"/>
                    </a:ext>
                  </a:extLst>
                </a:gridCol>
                <a:gridCol w="795528">
                  <a:extLst>
                    <a:ext uri="{9D8B030D-6E8A-4147-A177-3AD203B41FA5}">
                      <a16:colId xmlns:a16="http://schemas.microsoft.com/office/drawing/2014/main" val="20001"/>
                    </a:ext>
                  </a:extLst>
                </a:gridCol>
                <a:gridCol w="795528">
                  <a:extLst>
                    <a:ext uri="{9D8B030D-6E8A-4147-A177-3AD203B41FA5}">
                      <a16:colId xmlns:a16="http://schemas.microsoft.com/office/drawing/2014/main" val="20002"/>
                    </a:ext>
                  </a:extLst>
                </a:gridCol>
                <a:gridCol w="795528">
                  <a:extLst>
                    <a:ext uri="{9D8B030D-6E8A-4147-A177-3AD203B41FA5}">
                      <a16:colId xmlns:a16="http://schemas.microsoft.com/office/drawing/2014/main" val="20003"/>
                    </a:ext>
                  </a:extLst>
                </a:gridCol>
                <a:gridCol w="768096">
                  <a:extLst>
                    <a:ext uri="{9D8B030D-6E8A-4147-A177-3AD203B41FA5}">
                      <a16:colId xmlns:a16="http://schemas.microsoft.com/office/drawing/2014/main" val="20004"/>
                    </a:ext>
                  </a:extLst>
                </a:gridCol>
              </a:tblGrid>
              <a:tr h="502920">
                <a:tc>
                  <a:txBody>
                    <a:bodyPr/>
                    <a:lstStyle/>
                    <a:p>
                      <a:pPr marL="0" indent="0" algn="ctr">
                        <a:buNone/>
                      </a:pPr>
                      <a:r>
                        <a:rPr lang="en-US" sz="1100" b="1" dirty="0">
                          <a:solidFill>
                            <a:srgbClr val="FFFFFF"/>
                          </a:solidFill>
                        </a:rPr>
                        <a:t>Class</a:t>
                      </a:r>
                      <a:endParaRPr lang="en-US" sz="1100" dirty="0"/>
                    </a:p>
                  </a:txBody>
                  <a:tcPr anchor="ctr">
                    <a:lnL w="6350" cap="flat" cmpd="sng" algn="ctr">
                      <a:solidFill>
                        <a:srgbClr val="D0DDF5"/>
                      </a:solidFill>
                      <a:prstDash val="solid"/>
                      <a:round/>
                      <a:headEnd type="none" w="med" len="med"/>
                      <a:tailEnd type="none" w="med" len="med"/>
                    </a:lnL>
                    <a:lnR w="6350" cap="flat" cmpd="sng" algn="ctr">
                      <a:solidFill>
                        <a:srgbClr val="D0DDF5"/>
                      </a:solidFill>
                      <a:prstDash val="solid"/>
                      <a:round/>
                      <a:headEnd type="none" w="med" len="med"/>
                      <a:tailEnd type="none" w="med" len="med"/>
                    </a:lnR>
                    <a:lnT w="6350" cap="flat" cmpd="sng" algn="ctr">
                      <a:solidFill>
                        <a:srgbClr val="D0DDF5"/>
                      </a:solidFill>
                      <a:prstDash val="solid"/>
                      <a:round/>
                      <a:headEnd type="none" w="med" len="med"/>
                      <a:tailEnd type="none" w="med" len="med"/>
                    </a:lnT>
                    <a:lnB w="6350" cap="flat" cmpd="sng" algn="ctr">
                      <a:solidFill>
                        <a:srgbClr val="D0DDF5"/>
                      </a:solidFill>
                      <a:prstDash val="solid"/>
                      <a:round/>
                      <a:headEnd type="none" w="med" len="med"/>
                      <a:tailEnd type="none" w="med" len="med"/>
                    </a:lnB>
                    <a:solidFill>
                      <a:srgbClr val="0D1B40"/>
                    </a:solidFill>
                  </a:tcPr>
                </a:tc>
                <a:tc>
                  <a:txBody>
                    <a:bodyPr/>
                    <a:lstStyle/>
                    <a:p>
                      <a:pPr marL="0" indent="0" algn="ctr">
                        <a:buNone/>
                      </a:pPr>
                      <a:r>
                        <a:rPr lang="en-US" sz="1100" b="1" dirty="0">
                          <a:solidFill>
                            <a:srgbClr val="FFFFFF"/>
                          </a:solidFill>
                        </a:rPr>
                        <a:t>Precision</a:t>
                      </a:r>
                      <a:endParaRPr lang="en-US" sz="1100" dirty="0"/>
                    </a:p>
                  </a:txBody>
                  <a:tcPr anchor="ctr">
                    <a:lnL w="6350" cap="flat" cmpd="sng" algn="ctr">
                      <a:solidFill>
                        <a:srgbClr val="D0DDF5"/>
                      </a:solidFill>
                      <a:prstDash val="solid"/>
                      <a:round/>
                      <a:headEnd type="none" w="med" len="med"/>
                      <a:tailEnd type="none" w="med" len="med"/>
                    </a:lnL>
                    <a:lnR w="6350" cap="flat" cmpd="sng" algn="ctr">
                      <a:solidFill>
                        <a:srgbClr val="D0DDF5"/>
                      </a:solidFill>
                      <a:prstDash val="solid"/>
                      <a:round/>
                      <a:headEnd type="none" w="med" len="med"/>
                      <a:tailEnd type="none" w="med" len="med"/>
                    </a:lnR>
                    <a:lnT w="6350" cap="flat" cmpd="sng" algn="ctr">
                      <a:solidFill>
                        <a:srgbClr val="D0DDF5"/>
                      </a:solidFill>
                      <a:prstDash val="solid"/>
                      <a:round/>
                      <a:headEnd type="none" w="med" len="med"/>
                      <a:tailEnd type="none" w="med" len="med"/>
                    </a:lnT>
                    <a:lnB w="6350" cap="flat" cmpd="sng" algn="ctr">
                      <a:solidFill>
                        <a:srgbClr val="D0DDF5"/>
                      </a:solidFill>
                      <a:prstDash val="solid"/>
                      <a:round/>
                      <a:headEnd type="none" w="med" len="med"/>
                      <a:tailEnd type="none" w="med" len="med"/>
                    </a:lnB>
                    <a:solidFill>
                      <a:srgbClr val="0D1B40"/>
                    </a:solidFill>
                  </a:tcPr>
                </a:tc>
                <a:tc>
                  <a:txBody>
                    <a:bodyPr/>
                    <a:lstStyle/>
                    <a:p>
                      <a:pPr marL="0" indent="0" algn="ctr">
                        <a:buNone/>
                      </a:pPr>
                      <a:r>
                        <a:rPr lang="en-US" sz="1100" b="1" dirty="0">
                          <a:solidFill>
                            <a:srgbClr val="FFFFFF"/>
                          </a:solidFill>
                        </a:rPr>
                        <a:t>Recall</a:t>
                      </a:r>
                      <a:endParaRPr lang="en-US" sz="1100" dirty="0"/>
                    </a:p>
                  </a:txBody>
                  <a:tcPr anchor="ctr">
                    <a:lnL w="6350" cap="flat" cmpd="sng" algn="ctr">
                      <a:solidFill>
                        <a:srgbClr val="D0DDF5"/>
                      </a:solidFill>
                      <a:prstDash val="solid"/>
                      <a:round/>
                      <a:headEnd type="none" w="med" len="med"/>
                      <a:tailEnd type="none" w="med" len="med"/>
                    </a:lnL>
                    <a:lnR w="6350" cap="flat" cmpd="sng" algn="ctr">
                      <a:solidFill>
                        <a:srgbClr val="D0DDF5"/>
                      </a:solidFill>
                      <a:prstDash val="solid"/>
                      <a:round/>
                      <a:headEnd type="none" w="med" len="med"/>
                      <a:tailEnd type="none" w="med" len="med"/>
                    </a:lnR>
                    <a:lnT w="6350" cap="flat" cmpd="sng" algn="ctr">
                      <a:solidFill>
                        <a:srgbClr val="D0DDF5"/>
                      </a:solidFill>
                      <a:prstDash val="solid"/>
                      <a:round/>
                      <a:headEnd type="none" w="med" len="med"/>
                      <a:tailEnd type="none" w="med" len="med"/>
                    </a:lnT>
                    <a:lnB w="6350" cap="flat" cmpd="sng" algn="ctr">
                      <a:solidFill>
                        <a:srgbClr val="D0DDF5"/>
                      </a:solidFill>
                      <a:prstDash val="solid"/>
                      <a:round/>
                      <a:headEnd type="none" w="med" len="med"/>
                      <a:tailEnd type="none" w="med" len="med"/>
                    </a:lnB>
                    <a:solidFill>
                      <a:srgbClr val="0D1B40"/>
                    </a:solidFill>
                  </a:tcPr>
                </a:tc>
                <a:tc>
                  <a:txBody>
                    <a:bodyPr/>
                    <a:lstStyle/>
                    <a:p>
                      <a:pPr marL="0" indent="0" algn="ctr">
                        <a:buNone/>
                      </a:pPr>
                      <a:r>
                        <a:rPr lang="en-US" sz="1100" b="1" dirty="0">
                          <a:solidFill>
                            <a:srgbClr val="FFFFFF"/>
                          </a:solidFill>
                        </a:rPr>
                        <a:t>F1-Score</a:t>
                      </a:r>
                      <a:endParaRPr lang="en-US" sz="1100" dirty="0"/>
                    </a:p>
                  </a:txBody>
                  <a:tcPr anchor="ctr">
                    <a:lnL w="6350" cap="flat" cmpd="sng" algn="ctr">
                      <a:solidFill>
                        <a:srgbClr val="D0DDF5"/>
                      </a:solidFill>
                      <a:prstDash val="solid"/>
                      <a:round/>
                      <a:headEnd type="none" w="med" len="med"/>
                      <a:tailEnd type="none" w="med" len="med"/>
                    </a:lnL>
                    <a:lnR w="6350" cap="flat" cmpd="sng" algn="ctr">
                      <a:solidFill>
                        <a:srgbClr val="D0DDF5"/>
                      </a:solidFill>
                      <a:prstDash val="solid"/>
                      <a:round/>
                      <a:headEnd type="none" w="med" len="med"/>
                      <a:tailEnd type="none" w="med" len="med"/>
                    </a:lnR>
                    <a:lnT w="6350" cap="flat" cmpd="sng" algn="ctr">
                      <a:solidFill>
                        <a:srgbClr val="D0DDF5"/>
                      </a:solidFill>
                      <a:prstDash val="solid"/>
                      <a:round/>
                      <a:headEnd type="none" w="med" len="med"/>
                      <a:tailEnd type="none" w="med" len="med"/>
                    </a:lnT>
                    <a:lnB w="6350" cap="flat" cmpd="sng" algn="ctr">
                      <a:solidFill>
                        <a:srgbClr val="D0DDF5"/>
                      </a:solidFill>
                      <a:prstDash val="solid"/>
                      <a:round/>
                      <a:headEnd type="none" w="med" len="med"/>
                      <a:tailEnd type="none" w="med" len="med"/>
                    </a:lnB>
                    <a:solidFill>
                      <a:srgbClr val="0D1B40"/>
                    </a:solidFill>
                  </a:tcPr>
                </a:tc>
                <a:tc>
                  <a:txBody>
                    <a:bodyPr/>
                    <a:lstStyle/>
                    <a:p>
                      <a:pPr marL="0" indent="0" algn="ctr">
                        <a:buNone/>
                      </a:pPr>
                      <a:r>
                        <a:rPr lang="en-US" sz="1100" b="1" dirty="0">
                          <a:solidFill>
                            <a:srgbClr val="FFFFFF"/>
                          </a:solidFill>
                        </a:rPr>
                        <a:t>Support</a:t>
                      </a:r>
                      <a:endParaRPr lang="en-US" sz="1100" dirty="0"/>
                    </a:p>
                  </a:txBody>
                  <a:tcPr anchor="ctr">
                    <a:lnL w="6350" cap="flat" cmpd="sng" algn="ctr">
                      <a:solidFill>
                        <a:srgbClr val="D0DDF5"/>
                      </a:solidFill>
                      <a:prstDash val="solid"/>
                      <a:round/>
                      <a:headEnd type="none" w="med" len="med"/>
                      <a:tailEnd type="none" w="med" len="med"/>
                    </a:lnL>
                    <a:lnR w="6350" cap="flat" cmpd="sng" algn="ctr">
                      <a:solidFill>
                        <a:srgbClr val="D0DDF5"/>
                      </a:solidFill>
                      <a:prstDash val="solid"/>
                      <a:round/>
                      <a:headEnd type="none" w="med" len="med"/>
                      <a:tailEnd type="none" w="med" len="med"/>
                    </a:lnR>
                    <a:lnT w="6350" cap="flat" cmpd="sng" algn="ctr">
                      <a:solidFill>
                        <a:srgbClr val="D0DDF5"/>
                      </a:solidFill>
                      <a:prstDash val="solid"/>
                      <a:round/>
                      <a:headEnd type="none" w="med" len="med"/>
                      <a:tailEnd type="none" w="med" len="med"/>
                    </a:lnT>
                    <a:lnB w="6350" cap="flat" cmpd="sng" algn="ctr">
                      <a:solidFill>
                        <a:srgbClr val="D0DDF5"/>
                      </a:solidFill>
                      <a:prstDash val="solid"/>
                      <a:round/>
                      <a:headEnd type="none" w="med" len="med"/>
                      <a:tailEnd type="none" w="med" len="med"/>
                    </a:lnB>
                    <a:solidFill>
                      <a:srgbClr val="0D1B40"/>
                    </a:solidFill>
                  </a:tcPr>
                </a:tc>
                <a:extLst>
                  <a:ext uri="{0D108BD9-81ED-4DB2-BD59-A6C34878D82A}">
                    <a16:rowId xmlns:a16="http://schemas.microsoft.com/office/drawing/2014/main" val="10000"/>
                  </a:ext>
                </a:extLst>
              </a:tr>
              <a:tr h="502920">
                <a:tc>
                  <a:txBody>
                    <a:bodyPr/>
                    <a:lstStyle/>
                    <a:p>
                      <a:pPr marL="0" indent="0" algn="ctr">
                        <a:buNone/>
                      </a:pPr>
                      <a:r>
                        <a:rPr lang="en-US" sz="1100" dirty="0">
                          <a:solidFill>
                            <a:srgbClr val="000000"/>
                          </a:solidFill>
                        </a:rPr>
                        <a:t>Normal</a:t>
                      </a:r>
                      <a:endParaRPr lang="en-US" sz="1100" dirty="0"/>
                    </a:p>
                  </a:txBody>
                  <a:tcPr anchor="ctr">
                    <a:lnL w="6350" cap="flat" cmpd="sng" algn="ctr">
                      <a:solidFill>
                        <a:srgbClr val="D0DDF5"/>
                      </a:solidFill>
                      <a:prstDash val="solid"/>
                      <a:round/>
                      <a:headEnd type="none" w="med" len="med"/>
                      <a:tailEnd type="none" w="med" len="med"/>
                    </a:lnL>
                    <a:lnR w="6350" cap="flat" cmpd="sng" algn="ctr">
                      <a:solidFill>
                        <a:srgbClr val="D0DDF5"/>
                      </a:solidFill>
                      <a:prstDash val="solid"/>
                      <a:round/>
                      <a:headEnd type="none" w="med" len="med"/>
                      <a:tailEnd type="none" w="med" len="med"/>
                    </a:lnR>
                    <a:lnT w="6350" cap="flat" cmpd="sng" algn="ctr">
                      <a:solidFill>
                        <a:srgbClr val="D0DDF5"/>
                      </a:solidFill>
                      <a:prstDash val="solid"/>
                      <a:round/>
                      <a:headEnd type="none" w="med" len="med"/>
                      <a:tailEnd type="none" w="med" len="med"/>
                    </a:lnT>
                    <a:lnB w="6350" cap="flat" cmpd="sng" algn="ctr">
                      <a:solidFill>
                        <a:srgbClr val="D0DDF5"/>
                      </a:solidFill>
                      <a:prstDash val="solid"/>
                      <a:round/>
                      <a:headEnd type="none" w="med" len="med"/>
                      <a:tailEnd type="none" w="med" len="med"/>
                    </a:lnB>
                    <a:solidFill>
                      <a:srgbClr val="E8F0FD"/>
                    </a:solidFill>
                  </a:tcPr>
                </a:tc>
                <a:tc>
                  <a:txBody>
                    <a:bodyPr/>
                    <a:lstStyle/>
                    <a:p>
                      <a:pPr marL="0" indent="0" algn="ctr">
                        <a:buNone/>
                      </a:pPr>
                      <a:r>
                        <a:rPr lang="en-US" sz="1100" dirty="0">
                          <a:solidFill>
                            <a:srgbClr val="000000"/>
                          </a:solidFill>
                        </a:rPr>
                        <a:t>1.00</a:t>
                      </a:r>
                      <a:endParaRPr lang="en-US" sz="1100" dirty="0"/>
                    </a:p>
                  </a:txBody>
                  <a:tcPr anchor="ctr">
                    <a:lnL w="6350" cap="flat" cmpd="sng" algn="ctr">
                      <a:solidFill>
                        <a:srgbClr val="D0DDF5"/>
                      </a:solidFill>
                      <a:prstDash val="solid"/>
                      <a:round/>
                      <a:headEnd type="none" w="med" len="med"/>
                      <a:tailEnd type="none" w="med" len="med"/>
                    </a:lnL>
                    <a:lnR w="6350" cap="flat" cmpd="sng" algn="ctr">
                      <a:solidFill>
                        <a:srgbClr val="D0DDF5"/>
                      </a:solidFill>
                      <a:prstDash val="solid"/>
                      <a:round/>
                      <a:headEnd type="none" w="med" len="med"/>
                      <a:tailEnd type="none" w="med" len="med"/>
                    </a:lnR>
                    <a:lnT w="6350" cap="flat" cmpd="sng" algn="ctr">
                      <a:solidFill>
                        <a:srgbClr val="D0DDF5"/>
                      </a:solidFill>
                      <a:prstDash val="solid"/>
                      <a:round/>
                      <a:headEnd type="none" w="med" len="med"/>
                      <a:tailEnd type="none" w="med" len="med"/>
                    </a:lnT>
                    <a:lnB w="6350" cap="flat" cmpd="sng" algn="ctr">
                      <a:solidFill>
                        <a:srgbClr val="D0DDF5"/>
                      </a:solidFill>
                      <a:prstDash val="solid"/>
                      <a:round/>
                      <a:headEnd type="none" w="med" len="med"/>
                      <a:tailEnd type="none" w="med" len="med"/>
                    </a:lnB>
                    <a:solidFill>
                      <a:srgbClr val="E8F0FD"/>
                    </a:solidFill>
                  </a:tcPr>
                </a:tc>
                <a:tc>
                  <a:txBody>
                    <a:bodyPr/>
                    <a:lstStyle/>
                    <a:p>
                      <a:pPr marL="0" indent="0" algn="ctr">
                        <a:buNone/>
                      </a:pPr>
                      <a:r>
                        <a:rPr lang="en-US" sz="1100" dirty="0">
                          <a:solidFill>
                            <a:srgbClr val="000000"/>
                          </a:solidFill>
                        </a:rPr>
                        <a:t>0.98</a:t>
                      </a:r>
                      <a:endParaRPr lang="en-US" sz="1100" dirty="0"/>
                    </a:p>
                  </a:txBody>
                  <a:tcPr anchor="ctr">
                    <a:lnL w="6350" cap="flat" cmpd="sng" algn="ctr">
                      <a:solidFill>
                        <a:srgbClr val="D0DDF5"/>
                      </a:solidFill>
                      <a:prstDash val="solid"/>
                      <a:round/>
                      <a:headEnd type="none" w="med" len="med"/>
                      <a:tailEnd type="none" w="med" len="med"/>
                    </a:lnL>
                    <a:lnR w="6350" cap="flat" cmpd="sng" algn="ctr">
                      <a:solidFill>
                        <a:srgbClr val="D0DDF5"/>
                      </a:solidFill>
                      <a:prstDash val="solid"/>
                      <a:round/>
                      <a:headEnd type="none" w="med" len="med"/>
                      <a:tailEnd type="none" w="med" len="med"/>
                    </a:lnR>
                    <a:lnT w="6350" cap="flat" cmpd="sng" algn="ctr">
                      <a:solidFill>
                        <a:srgbClr val="D0DDF5"/>
                      </a:solidFill>
                      <a:prstDash val="solid"/>
                      <a:round/>
                      <a:headEnd type="none" w="med" len="med"/>
                      <a:tailEnd type="none" w="med" len="med"/>
                    </a:lnT>
                    <a:lnB w="6350" cap="flat" cmpd="sng" algn="ctr">
                      <a:solidFill>
                        <a:srgbClr val="D0DDF5"/>
                      </a:solidFill>
                      <a:prstDash val="solid"/>
                      <a:round/>
                      <a:headEnd type="none" w="med" len="med"/>
                      <a:tailEnd type="none" w="med" len="med"/>
                    </a:lnB>
                    <a:solidFill>
                      <a:srgbClr val="E8F0FD"/>
                    </a:solidFill>
                  </a:tcPr>
                </a:tc>
                <a:tc>
                  <a:txBody>
                    <a:bodyPr/>
                    <a:lstStyle/>
                    <a:p>
                      <a:pPr marL="0" indent="0" algn="ctr">
                        <a:buNone/>
                      </a:pPr>
                      <a:r>
                        <a:rPr lang="en-US" sz="1100" dirty="0">
                          <a:solidFill>
                            <a:srgbClr val="000000"/>
                          </a:solidFill>
                        </a:rPr>
                        <a:t>0.99</a:t>
                      </a:r>
                      <a:endParaRPr lang="en-US" sz="1100" dirty="0"/>
                    </a:p>
                  </a:txBody>
                  <a:tcPr anchor="ctr">
                    <a:lnL w="6350" cap="flat" cmpd="sng" algn="ctr">
                      <a:solidFill>
                        <a:srgbClr val="D0DDF5"/>
                      </a:solidFill>
                      <a:prstDash val="solid"/>
                      <a:round/>
                      <a:headEnd type="none" w="med" len="med"/>
                      <a:tailEnd type="none" w="med" len="med"/>
                    </a:lnL>
                    <a:lnR w="6350" cap="flat" cmpd="sng" algn="ctr">
                      <a:solidFill>
                        <a:srgbClr val="D0DDF5"/>
                      </a:solidFill>
                      <a:prstDash val="solid"/>
                      <a:round/>
                      <a:headEnd type="none" w="med" len="med"/>
                      <a:tailEnd type="none" w="med" len="med"/>
                    </a:lnR>
                    <a:lnT w="6350" cap="flat" cmpd="sng" algn="ctr">
                      <a:solidFill>
                        <a:srgbClr val="D0DDF5"/>
                      </a:solidFill>
                      <a:prstDash val="solid"/>
                      <a:round/>
                      <a:headEnd type="none" w="med" len="med"/>
                      <a:tailEnd type="none" w="med" len="med"/>
                    </a:lnT>
                    <a:lnB w="6350" cap="flat" cmpd="sng" algn="ctr">
                      <a:solidFill>
                        <a:srgbClr val="D0DDF5"/>
                      </a:solidFill>
                      <a:prstDash val="solid"/>
                      <a:round/>
                      <a:headEnd type="none" w="med" len="med"/>
                      <a:tailEnd type="none" w="med" len="med"/>
                    </a:lnB>
                    <a:solidFill>
                      <a:srgbClr val="E8F0FD"/>
                    </a:solidFill>
                  </a:tcPr>
                </a:tc>
                <a:tc>
                  <a:txBody>
                    <a:bodyPr/>
                    <a:lstStyle/>
                    <a:p>
                      <a:pPr marL="0" indent="0" algn="ctr">
                        <a:buNone/>
                      </a:pPr>
                      <a:r>
                        <a:rPr lang="en-US" sz="1100" dirty="0">
                          <a:solidFill>
                            <a:srgbClr val="000000"/>
                          </a:solidFill>
                        </a:rPr>
                        <a:t>84,976</a:t>
                      </a:r>
                      <a:endParaRPr lang="en-US" sz="1100" dirty="0"/>
                    </a:p>
                  </a:txBody>
                  <a:tcPr anchor="ctr">
                    <a:lnL w="6350" cap="flat" cmpd="sng" algn="ctr">
                      <a:solidFill>
                        <a:srgbClr val="D0DDF5"/>
                      </a:solidFill>
                      <a:prstDash val="solid"/>
                      <a:round/>
                      <a:headEnd type="none" w="med" len="med"/>
                      <a:tailEnd type="none" w="med" len="med"/>
                    </a:lnL>
                    <a:lnR w="6350" cap="flat" cmpd="sng" algn="ctr">
                      <a:solidFill>
                        <a:srgbClr val="D0DDF5"/>
                      </a:solidFill>
                      <a:prstDash val="solid"/>
                      <a:round/>
                      <a:headEnd type="none" w="med" len="med"/>
                      <a:tailEnd type="none" w="med" len="med"/>
                    </a:lnR>
                    <a:lnT w="6350" cap="flat" cmpd="sng" algn="ctr">
                      <a:solidFill>
                        <a:srgbClr val="D0DDF5"/>
                      </a:solidFill>
                      <a:prstDash val="solid"/>
                      <a:round/>
                      <a:headEnd type="none" w="med" len="med"/>
                      <a:tailEnd type="none" w="med" len="med"/>
                    </a:lnT>
                    <a:lnB w="6350" cap="flat" cmpd="sng" algn="ctr">
                      <a:solidFill>
                        <a:srgbClr val="D0DDF5"/>
                      </a:solidFill>
                      <a:prstDash val="solid"/>
                      <a:round/>
                      <a:headEnd type="none" w="med" len="med"/>
                      <a:tailEnd type="none" w="med" len="med"/>
                    </a:lnB>
                    <a:solidFill>
                      <a:srgbClr val="E8F0FD"/>
                    </a:solidFill>
                  </a:tcPr>
                </a:tc>
                <a:extLst>
                  <a:ext uri="{0D108BD9-81ED-4DB2-BD59-A6C34878D82A}">
                    <a16:rowId xmlns:a16="http://schemas.microsoft.com/office/drawing/2014/main" val="10001"/>
                  </a:ext>
                </a:extLst>
              </a:tr>
              <a:tr h="502920">
                <a:tc>
                  <a:txBody>
                    <a:bodyPr/>
                    <a:lstStyle/>
                    <a:p>
                      <a:pPr marL="0" indent="0" algn="ctr">
                        <a:buNone/>
                      </a:pPr>
                      <a:r>
                        <a:rPr lang="en-US" sz="1100" dirty="0">
                          <a:solidFill>
                            <a:srgbClr val="000000"/>
                          </a:solidFill>
                        </a:rPr>
                        <a:t>Fraud</a:t>
                      </a:r>
                      <a:endParaRPr lang="en-US" sz="1100" dirty="0"/>
                    </a:p>
                  </a:txBody>
                  <a:tcPr anchor="ctr">
                    <a:lnL w="6350" cap="flat" cmpd="sng" algn="ctr">
                      <a:solidFill>
                        <a:srgbClr val="D0DDF5"/>
                      </a:solidFill>
                      <a:prstDash val="solid"/>
                      <a:round/>
                      <a:headEnd type="none" w="med" len="med"/>
                      <a:tailEnd type="none" w="med" len="med"/>
                    </a:lnL>
                    <a:lnR w="6350" cap="flat" cmpd="sng" algn="ctr">
                      <a:solidFill>
                        <a:srgbClr val="D0DDF5"/>
                      </a:solidFill>
                      <a:prstDash val="solid"/>
                      <a:round/>
                      <a:headEnd type="none" w="med" len="med"/>
                      <a:tailEnd type="none" w="med" len="med"/>
                    </a:lnR>
                    <a:lnT w="6350" cap="flat" cmpd="sng" algn="ctr">
                      <a:solidFill>
                        <a:srgbClr val="D0DDF5"/>
                      </a:solidFill>
                      <a:prstDash val="solid"/>
                      <a:round/>
                      <a:headEnd type="none" w="med" len="med"/>
                      <a:tailEnd type="none" w="med" len="med"/>
                    </a:lnT>
                    <a:lnB w="6350" cap="flat" cmpd="sng" algn="ctr">
                      <a:solidFill>
                        <a:srgbClr val="D0DDF5"/>
                      </a:solidFill>
                      <a:prstDash val="solid"/>
                      <a:round/>
                      <a:headEnd type="none" w="med" len="med"/>
                      <a:tailEnd type="none" w="med" len="med"/>
                    </a:lnB>
                    <a:solidFill>
                      <a:srgbClr val="E8F0FD"/>
                    </a:solidFill>
                  </a:tcPr>
                </a:tc>
                <a:tc>
                  <a:txBody>
                    <a:bodyPr/>
                    <a:lstStyle/>
                    <a:p>
                      <a:pPr marL="0" indent="0" algn="ctr">
                        <a:buNone/>
                      </a:pPr>
                      <a:r>
                        <a:rPr lang="en-US" sz="1100" dirty="0">
                          <a:solidFill>
                            <a:srgbClr val="000000"/>
                          </a:solidFill>
                        </a:rPr>
                        <a:t>0.07</a:t>
                      </a:r>
                      <a:endParaRPr lang="en-US" sz="1100" dirty="0"/>
                    </a:p>
                  </a:txBody>
                  <a:tcPr anchor="ctr">
                    <a:lnL w="6350" cap="flat" cmpd="sng" algn="ctr">
                      <a:solidFill>
                        <a:srgbClr val="D0DDF5"/>
                      </a:solidFill>
                      <a:prstDash val="solid"/>
                      <a:round/>
                      <a:headEnd type="none" w="med" len="med"/>
                      <a:tailEnd type="none" w="med" len="med"/>
                    </a:lnL>
                    <a:lnR w="6350" cap="flat" cmpd="sng" algn="ctr">
                      <a:solidFill>
                        <a:srgbClr val="D0DDF5"/>
                      </a:solidFill>
                      <a:prstDash val="solid"/>
                      <a:round/>
                      <a:headEnd type="none" w="med" len="med"/>
                      <a:tailEnd type="none" w="med" len="med"/>
                    </a:lnR>
                    <a:lnT w="6350" cap="flat" cmpd="sng" algn="ctr">
                      <a:solidFill>
                        <a:srgbClr val="D0DDF5"/>
                      </a:solidFill>
                      <a:prstDash val="solid"/>
                      <a:round/>
                      <a:headEnd type="none" w="med" len="med"/>
                      <a:tailEnd type="none" w="med" len="med"/>
                    </a:lnT>
                    <a:lnB w="6350" cap="flat" cmpd="sng" algn="ctr">
                      <a:solidFill>
                        <a:srgbClr val="D0DDF5"/>
                      </a:solidFill>
                      <a:prstDash val="solid"/>
                      <a:round/>
                      <a:headEnd type="none" w="med" len="med"/>
                      <a:tailEnd type="none" w="med" len="med"/>
                    </a:lnB>
                    <a:solidFill>
                      <a:srgbClr val="E8F0FD"/>
                    </a:solidFill>
                  </a:tcPr>
                </a:tc>
                <a:tc>
                  <a:txBody>
                    <a:bodyPr/>
                    <a:lstStyle/>
                    <a:p>
                      <a:pPr marL="0" indent="0" algn="ctr">
                        <a:buNone/>
                      </a:pPr>
                      <a:r>
                        <a:rPr lang="en-US" sz="1100" dirty="0">
                          <a:solidFill>
                            <a:srgbClr val="000000"/>
                          </a:solidFill>
                        </a:rPr>
                        <a:t>0.89</a:t>
                      </a:r>
                      <a:endParaRPr lang="en-US" sz="1100" dirty="0"/>
                    </a:p>
                  </a:txBody>
                  <a:tcPr anchor="ctr">
                    <a:lnL w="6350" cap="flat" cmpd="sng" algn="ctr">
                      <a:solidFill>
                        <a:srgbClr val="D0DDF5"/>
                      </a:solidFill>
                      <a:prstDash val="solid"/>
                      <a:round/>
                      <a:headEnd type="none" w="med" len="med"/>
                      <a:tailEnd type="none" w="med" len="med"/>
                    </a:lnL>
                    <a:lnR w="6350" cap="flat" cmpd="sng" algn="ctr">
                      <a:solidFill>
                        <a:srgbClr val="D0DDF5"/>
                      </a:solidFill>
                      <a:prstDash val="solid"/>
                      <a:round/>
                      <a:headEnd type="none" w="med" len="med"/>
                      <a:tailEnd type="none" w="med" len="med"/>
                    </a:lnR>
                    <a:lnT w="6350" cap="flat" cmpd="sng" algn="ctr">
                      <a:solidFill>
                        <a:srgbClr val="D0DDF5"/>
                      </a:solidFill>
                      <a:prstDash val="solid"/>
                      <a:round/>
                      <a:headEnd type="none" w="med" len="med"/>
                      <a:tailEnd type="none" w="med" len="med"/>
                    </a:lnT>
                    <a:lnB w="6350" cap="flat" cmpd="sng" algn="ctr">
                      <a:solidFill>
                        <a:srgbClr val="D0DDF5"/>
                      </a:solidFill>
                      <a:prstDash val="solid"/>
                      <a:round/>
                      <a:headEnd type="none" w="med" len="med"/>
                      <a:tailEnd type="none" w="med" len="med"/>
                    </a:lnB>
                    <a:solidFill>
                      <a:srgbClr val="E8F0FD"/>
                    </a:solidFill>
                  </a:tcPr>
                </a:tc>
                <a:tc>
                  <a:txBody>
                    <a:bodyPr/>
                    <a:lstStyle/>
                    <a:p>
                      <a:pPr marL="0" indent="0" algn="ctr">
                        <a:buNone/>
                      </a:pPr>
                      <a:r>
                        <a:rPr lang="en-US" sz="1100" dirty="0">
                          <a:solidFill>
                            <a:srgbClr val="000000"/>
                          </a:solidFill>
                        </a:rPr>
                        <a:t>0.12</a:t>
                      </a:r>
                      <a:endParaRPr lang="en-US" sz="1100" dirty="0"/>
                    </a:p>
                  </a:txBody>
                  <a:tcPr anchor="ctr">
                    <a:lnL w="6350" cap="flat" cmpd="sng" algn="ctr">
                      <a:solidFill>
                        <a:srgbClr val="D0DDF5"/>
                      </a:solidFill>
                      <a:prstDash val="solid"/>
                      <a:round/>
                      <a:headEnd type="none" w="med" len="med"/>
                      <a:tailEnd type="none" w="med" len="med"/>
                    </a:lnL>
                    <a:lnR w="6350" cap="flat" cmpd="sng" algn="ctr">
                      <a:solidFill>
                        <a:srgbClr val="D0DDF5"/>
                      </a:solidFill>
                      <a:prstDash val="solid"/>
                      <a:round/>
                      <a:headEnd type="none" w="med" len="med"/>
                      <a:tailEnd type="none" w="med" len="med"/>
                    </a:lnR>
                    <a:lnT w="6350" cap="flat" cmpd="sng" algn="ctr">
                      <a:solidFill>
                        <a:srgbClr val="D0DDF5"/>
                      </a:solidFill>
                      <a:prstDash val="solid"/>
                      <a:round/>
                      <a:headEnd type="none" w="med" len="med"/>
                      <a:tailEnd type="none" w="med" len="med"/>
                    </a:lnT>
                    <a:lnB w="6350" cap="flat" cmpd="sng" algn="ctr">
                      <a:solidFill>
                        <a:srgbClr val="D0DDF5"/>
                      </a:solidFill>
                      <a:prstDash val="solid"/>
                      <a:round/>
                      <a:headEnd type="none" w="med" len="med"/>
                      <a:tailEnd type="none" w="med" len="med"/>
                    </a:lnB>
                    <a:solidFill>
                      <a:srgbClr val="E8F0FD"/>
                    </a:solidFill>
                  </a:tcPr>
                </a:tc>
                <a:tc>
                  <a:txBody>
                    <a:bodyPr/>
                    <a:lstStyle/>
                    <a:p>
                      <a:pPr marL="0" indent="0" algn="ctr">
                        <a:buNone/>
                      </a:pPr>
                      <a:r>
                        <a:rPr lang="en-US" sz="1100" dirty="0">
                          <a:solidFill>
                            <a:srgbClr val="000000"/>
                          </a:solidFill>
                        </a:rPr>
                        <a:t>142</a:t>
                      </a:r>
                      <a:endParaRPr lang="en-US" sz="1100" dirty="0"/>
                    </a:p>
                  </a:txBody>
                  <a:tcPr anchor="ctr">
                    <a:lnL w="6350" cap="flat" cmpd="sng" algn="ctr">
                      <a:solidFill>
                        <a:srgbClr val="D0DDF5"/>
                      </a:solidFill>
                      <a:prstDash val="solid"/>
                      <a:round/>
                      <a:headEnd type="none" w="med" len="med"/>
                      <a:tailEnd type="none" w="med" len="med"/>
                    </a:lnL>
                    <a:lnR w="6350" cap="flat" cmpd="sng" algn="ctr">
                      <a:solidFill>
                        <a:srgbClr val="D0DDF5"/>
                      </a:solidFill>
                      <a:prstDash val="solid"/>
                      <a:round/>
                      <a:headEnd type="none" w="med" len="med"/>
                      <a:tailEnd type="none" w="med" len="med"/>
                    </a:lnR>
                    <a:lnT w="6350" cap="flat" cmpd="sng" algn="ctr">
                      <a:solidFill>
                        <a:srgbClr val="D0DDF5"/>
                      </a:solidFill>
                      <a:prstDash val="solid"/>
                      <a:round/>
                      <a:headEnd type="none" w="med" len="med"/>
                      <a:tailEnd type="none" w="med" len="med"/>
                    </a:lnT>
                    <a:lnB w="6350" cap="flat" cmpd="sng" algn="ctr">
                      <a:solidFill>
                        <a:srgbClr val="D0DDF5"/>
                      </a:solidFill>
                      <a:prstDash val="solid"/>
                      <a:round/>
                      <a:headEnd type="none" w="med" len="med"/>
                      <a:tailEnd type="none" w="med" len="med"/>
                    </a:lnB>
                    <a:solidFill>
                      <a:srgbClr val="E8F0FD"/>
                    </a:solidFill>
                  </a:tcPr>
                </a:tc>
                <a:extLst>
                  <a:ext uri="{0D108BD9-81ED-4DB2-BD59-A6C34878D82A}">
                    <a16:rowId xmlns:a16="http://schemas.microsoft.com/office/drawing/2014/main" val="10002"/>
                  </a:ext>
                </a:extLst>
              </a:tr>
              <a:tr h="502920">
                <a:tc>
                  <a:txBody>
                    <a:bodyPr/>
                    <a:lstStyle/>
                    <a:p>
                      <a:pPr marL="0" indent="0" algn="ctr">
                        <a:buNone/>
                      </a:pPr>
                      <a:r>
                        <a:rPr lang="en-US" sz="1100" b="1" dirty="0">
                          <a:solidFill>
                            <a:srgbClr val="000000"/>
                          </a:solidFill>
                        </a:rPr>
                        <a:t>Macro Avg</a:t>
                      </a:r>
                      <a:endParaRPr lang="en-US" sz="1100" dirty="0"/>
                    </a:p>
                  </a:txBody>
                  <a:tcPr anchor="ctr">
                    <a:lnL w="6350" cap="flat" cmpd="sng" algn="ctr">
                      <a:solidFill>
                        <a:srgbClr val="D0DDF5"/>
                      </a:solidFill>
                      <a:prstDash val="solid"/>
                      <a:round/>
                      <a:headEnd type="none" w="med" len="med"/>
                      <a:tailEnd type="none" w="med" len="med"/>
                    </a:lnL>
                    <a:lnR w="6350" cap="flat" cmpd="sng" algn="ctr">
                      <a:solidFill>
                        <a:srgbClr val="D0DDF5"/>
                      </a:solidFill>
                      <a:prstDash val="solid"/>
                      <a:round/>
                      <a:headEnd type="none" w="med" len="med"/>
                      <a:tailEnd type="none" w="med" len="med"/>
                    </a:lnR>
                    <a:lnT w="6350" cap="flat" cmpd="sng" algn="ctr">
                      <a:solidFill>
                        <a:srgbClr val="D0DDF5"/>
                      </a:solidFill>
                      <a:prstDash val="solid"/>
                      <a:round/>
                      <a:headEnd type="none" w="med" len="med"/>
                      <a:tailEnd type="none" w="med" len="med"/>
                    </a:lnT>
                    <a:lnB w="6350" cap="flat" cmpd="sng" algn="ctr">
                      <a:solidFill>
                        <a:srgbClr val="D0DDF5"/>
                      </a:solidFill>
                      <a:prstDash val="solid"/>
                      <a:round/>
                      <a:headEnd type="none" w="med" len="med"/>
                      <a:tailEnd type="none" w="med" len="med"/>
                    </a:lnB>
                    <a:solidFill>
                      <a:srgbClr val="E8F0FD"/>
                    </a:solidFill>
                  </a:tcPr>
                </a:tc>
                <a:tc>
                  <a:txBody>
                    <a:bodyPr/>
                    <a:lstStyle/>
                    <a:p>
                      <a:pPr marL="0" indent="0" algn="ctr">
                        <a:buNone/>
                      </a:pPr>
                      <a:r>
                        <a:rPr lang="en-US" sz="1100" dirty="0">
                          <a:solidFill>
                            <a:srgbClr val="000000"/>
                          </a:solidFill>
                        </a:rPr>
                        <a:t>0.53</a:t>
                      </a:r>
                      <a:endParaRPr lang="en-US" sz="1100" dirty="0"/>
                    </a:p>
                  </a:txBody>
                  <a:tcPr anchor="ctr">
                    <a:lnL w="6350" cap="flat" cmpd="sng" algn="ctr">
                      <a:solidFill>
                        <a:srgbClr val="D0DDF5"/>
                      </a:solidFill>
                      <a:prstDash val="solid"/>
                      <a:round/>
                      <a:headEnd type="none" w="med" len="med"/>
                      <a:tailEnd type="none" w="med" len="med"/>
                    </a:lnL>
                    <a:lnR w="6350" cap="flat" cmpd="sng" algn="ctr">
                      <a:solidFill>
                        <a:srgbClr val="D0DDF5"/>
                      </a:solidFill>
                      <a:prstDash val="solid"/>
                      <a:round/>
                      <a:headEnd type="none" w="med" len="med"/>
                      <a:tailEnd type="none" w="med" len="med"/>
                    </a:lnR>
                    <a:lnT w="6350" cap="flat" cmpd="sng" algn="ctr">
                      <a:solidFill>
                        <a:srgbClr val="D0DDF5"/>
                      </a:solidFill>
                      <a:prstDash val="solid"/>
                      <a:round/>
                      <a:headEnd type="none" w="med" len="med"/>
                      <a:tailEnd type="none" w="med" len="med"/>
                    </a:lnT>
                    <a:lnB w="6350" cap="flat" cmpd="sng" algn="ctr">
                      <a:solidFill>
                        <a:srgbClr val="D0DDF5"/>
                      </a:solidFill>
                      <a:prstDash val="solid"/>
                      <a:round/>
                      <a:headEnd type="none" w="med" len="med"/>
                      <a:tailEnd type="none" w="med" len="med"/>
                    </a:lnB>
                    <a:solidFill>
                      <a:srgbClr val="E8F0FD"/>
                    </a:solidFill>
                  </a:tcPr>
                </a:tc>
                <a:tc>
                  <a:txBody>
                    <a:bodyPr/>
                    <a:lstStyle/>
                    <a:p>
                      <a:pPr marL="0" indent="0" algn="ctr">
                        <a:buNone/>
                      </a:pPr>
                      <a:r>
                        <a:rPr lang="en-US" sz="1100" dirty="0">
                          <a:solidFill>
                            <a:srgbClr val="000000"/>
                          </a:solidFill>
                        </a:rPr>
                        <a:t>0.93</a:t>
                      </a:r>
                      <a:endParaRPr lang="en-US" sz="1100" dirty="0"/>
                    </a:p>
                  </a:txBody>
                  <a:tcPr anchor="ctr">
                    <a:lnL w="6350" cap="flat" cmpd="sng" algn="ctr">
                      <a:solidFill>
                        <a:srgbClr val="D0DDF5"/>
                      </a:solidFill>
                      <a:prstDash val="solid"/>
                      <a:round/>
                      <a:headEnd type="none" w="med" len="med"/>
                      <a:tailEnd type="none" w="med" len="med"/>
                    </a:lnL>
                    <a:lnR w="6350" cap="flat" cmpd="sng" algn="ctr">
                      <a:solidFill>
                        <a:srgbClr val="D0DDF5"/>
                      </a:solidFill>
                      <a:prstDash val="solid"/>
                      <a:round/>
                      <a:headEnd type="none" w="med" len="med"/>
                      <a:tailEnd type="none" w="med" len="med"/>
                    </a:lnR>
                    <a:lnT w="6350" cap="flat" cmpd="sng" algn="ctr">
                      <a:solidFill>
                        <a:srgbClr val="D0DDF5"/>
                      </a:solidFill>
                      <a:prstDash val="solid"/>
                      <a:round/>
                      <a:headEnd type="none" w="med" len="med"/>
                      <a:tailEnd type="none" w="med" len="med"/>
                    </a:lnT>
                    <a:lnB w="6350" cap="flat" cmpd="sng" algn="ctr">
                      <a:solidFill>
                        <a:srgbClr val="D0DDF5"/>
                      </a:solidFill>
                      <a:prstDash val="solid"/>
                      <a:round/>
                      <a:headEnd type="none" w="med" len="med"/>
                      <a:tailEnd type="none" w="med" len="med"/>
                    </a:lnB>
                    <a:solidFill>
                      <a:srgbClr val="E8F0FD"/>
                    </a:solidFill>
                  </a:tcPr>
                </a:tc>
                <a:tc>
                  <a:txBody>
                    <a:bodyPr/>
                    <a:lstStyle/>
                    <a:p>
                      <a:pPr marL="0" indent="0" algn="ctr">
                        <a:buNone/>
                      </a:pPr>
                      <a:r>
                        <a:rPr lang="en-US" sz="1100" dirty="0">
                          <a:solidFill>
                            <a:srgbClr val="000000"/>
                          </a:solidFill>
                        </a:rPr>
                        <a:t>0.56</a:t>
                      </a:r>
                      <a:endParaRPr lang="en-US" sz="1100" dirty="0"/>
                    </a:p>
                  </a:txBody>
                  <a:tcPr anchor="ctr">
                    <a:lnL w="6350" cap="flat" cmpd="sng" algn="ctr">
                      <a:solidFill>
                        <a:srgbClr val="D0DDF5"/>
                      </a:solidFill>
                      <a:prstDash val="solid"/>
                      <a:round/>
                      <a:headEnd type="none" w="med" len="med"/>
                      <a:tailEnd type="none" w="med" len="med"/>
                    </a:lnL>
                    <a:lnR w="6350" cap="flat" cmpd="sng" algn="ctr">
                      <a:solidFill>
                        <a:srgbClr val="D0DDF5"/>
                      </a:solidFill>
                      <a:prstDash val="solid"/>
                      <a:round/>
                      <a:headEnd type="none" w="med" len="med"/>
                      <a:tailEnd type="none" w="med" len="med"/>
                    </a:lnR>
                    <a:lnT w="6350" cap="flat" cmpd="sng" algn="ctr">
                      <a:solidFill>
                        <a:srgbClr val="D0DDF5"/>
                      </a:solidFill>
                      <a:prstDash val="solid"/>
                      <a:round/>
                      <a:headEnd type="none" w="med" len="med"/>
                      <a:tailEnd type="none" w="med" len="med"/>
                    </a:lnT>
                    <a:lnB w="6350" cap="flat" cmpd="sng" algn="ctr">
                      <a:solidFill>
                        <a:srgbClr val="D0DDF5"/>
                      </a:solidFill>
                      <a:prstDash val="solid"/>
                      <a:round/>
                      <a:headEnd type="none" w="med" len="med"/>
                      <a:tailEnd type="none" w="med" len="med"/>
                    </a:lnB>
                    <a:solidFill>
                      <a:srgbClr val="E8F0FD"/>
                    </a:solidFill>
                  </a:tcPr>
                </a:tc>
                <a:tc>
                  <a:txBody>
                    <a:bodyPr/>
                    <a:lstStyle/>
                    <a:p>
                      <a:pPr marL="0" indent="0" algn="ctr">
                        <a:buNone/>
                      </a:pPr>
                      <a:r>
                        <a:rPr lang="en-US" sz="1100" dirty="0">
                          <a:solidFill>
                            <a:srgbClr val="000000"/>
                          </a:solidFill>
                        </a:rPr>
                        <a:t>85,118</a:t>
                      </a:r>
                      <a:endParaRPr lang="en-US" sz="1100" dirty="0"/>
                    </a:p>
                  </a:txBody>
                  <a:tcPr anchor="ctr">
                    <a:lnL w="6350" cap="flat" cmpd="sng" algn="ctr">
                      <a:solidFill>
                        <a:srgbClr val="D0DDF5"/>
                      </a:solidFill>
                      <a:prstDash val="solid"/>
                      <a:round/>
                      <a:headEnd type="none" w="med" len="med"/>
                      <a:tailEnd type="none" w="med" len="med"/>
                    </a:lnL>
                    <a:lnR w="6350" cap="flat" cmpd="sng" algn="ctr">
                      <a:solidFill>
                        <a:srgbClr val="D0DDF5"/>
                      </a:solidFill>
                      <a:prstDash val="solid"/>
                      <a:round/>
                      <a:headEnd type="none" w="med" len="med"/>
                      <a:tailEnd type="none" w="med" len="med"/>
                    </a:lnR>
                    <a:lnT w="6350" cap="flat" cmpd="sng" algn="ctr">
                      <a:solidFill>
                        <a:srgbClr val="D0DDF5"/>
                      </a:solidFill>
                      <a:prstDash val="solid"/>
                      <a:round/>
                      <a:headEnd type="none" w="med" len="med"/>
                      <a:tailEnd type="none" w="med" len="med"/>
                    </a:lnT>
                    <a:lnB w="6350" cap="flat" cmpd="sng" algn="ctr">
                      <a:solidFill>
                        <a:srgbClr val="D0DDF5"/>
                      </a:solidFill>
                      <a:prstDash val="solid"/>
                      <a:round/>
                      <a:headEnd type="none" w="med" len="med"/>
                      <a:tailEnd type="none" w="med" len="med"/>
                    </a:lnB>
                    <a:solidFill>
                      <a:srgbClr val="E8F0FD"/>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9" name="Content Placeholder 7" descr="Medical interface of the future, a system for managing medical data obtained by scanning the neural network of the human brain. Thanks to modern technologies and the help of neural networks, it is possible to make predictions and diagnose diseases at an early stage.">
            <a:extLst>
              <a:ext uri="{FF2B5EF4-FFF2-40B4-BE49-F238E27FC236}">
                <a16:creationId xmlns:a16="http://schemas.microsoft.com/office/drawing/2014/main" id="{161CDA11-93D2-DE32-7474-5D1064A6032F}"/>
              </a:ext>
            </a:extLst>
          </p:cNvPr>
          <p:cNvPicPr>
            <a:picLocks noChangeAspect="1"/>
          </p:cNvPicPr>
          <p:nvPr/>
        </p:nvPicPr>
        <p:blipFill>
          <a:blip r:embed="rId3">
            <a:alphaModFix amt="50000"/>
            <a:lum bright="70000" contrast="-70000"/>
          </a:blip>
          <a:srcRect l="17376" r="21712" b="-1"/>
          <a:stretch>
            <a:fillRect/>
          </a:stretch>
        </p:blipFill>
        <p:spPr>
          <a:xfrm>
            <a:off x="4661798" y="1261872"/>
            <a:ext cx="4482201" cy="3881628"/>
          </a:xfrm>
          <a:prstGeom prst="rect">
            <a:avLst/>
          </a:prstGeom>
        </p:spPr>
      </p:pic>
      <p:sp>
        <p:nvSpPr>
          <p:cNvPr id="2" name="Shape 0"/>
          <p:cNvSpPr/>
          <p:nvPr/>
        </p:nvSpPr>
        <p:spPr>
          <a:xfrm>
            <a:off x="411480" y="201168"/>
            <a:ext cx="1463040" cy="228600"/>
          </a:xfrm>
          <a:prstGeom prst="rect">
            <a:avLst/>
          </a:prstGeom>
          <a:solidFill>
            <a:srgbClr val="17BDA0"/>
          </a:solidFill>
          <a:ln w="12700">
            <a:solidFill>
              <a:srgbClr val="17BDA0"/>
            </a:solidFill>
            <a:prstDash val="solid"/>
          </a:ln>
        </p:spPr>
        <p:txBody>
          <a:bodyPr/>
          <a:lstStyle/>
          <a:p>
            <a:endParaRPr lang="en-NZ"/>
          </a:p>
        </p:txBody>
      </p:sp>
      <p:sp>
        <p:nvSpPr>
          <p:cNvPr id="3" name="Text 1"/>
          <p:cNvSpPr/>
          <p:nvPr/>
        </p:nvSpPr>
        <p:spPr>
          <a:xfrm>
            <a:off x="411480" y="201168"/>
            <a:ext cx="1463040" cy="228600"/>
          </a:xfrm>
          <a:prstGeom prst="rect">
            <a:avLst/>
          </a:prstGeom>
          <a:noFill/>
          <a:ln/>
        </p:spPr>
        <p:txBody>
          <a:bodyPr wrap="square" lIns="0" tIns="0" rIns="0" bIns="0" rtlCol="0" anchor="ctr"/>
          <a:lstStyle/>
          <a:p>
            <a:pPr marL="0" indent="0" algn="ctr">
              <a:buNone/>
            </a:pPr>
            <a:r>
              <a:rPr lang="en-US" sz="800" b="1" dirty="0">
                <a:solidFill>
                  <a:srgbClr val="0D1B40"/>
                </a:solidFill>
              </a:rPr>
              <a:t>DISCUSSION</a:t>
            </a:r>
            <a:endParaRPr lang="en-US" sz="800" dirty="0"/>
          </a:p>
        </p:txBody>
      </p:sp>
      <p:sp>
        <p:nvSpPr>
          <p:cNvPr id="4" name="Text 2"/>
          <p:cNvSpPr/>
          <p:nvPr/>
        </p:nvSpPr>
        <p:spPr>
          <a:xfrm>
            <a:off x="411480" y="502920"/>
            <a:ext cx="8229600" cy="594360"/>
          </a:xfrm>
          <a:prstGeom prst="rect">
            <a:avLst/>
          </a:prstGeom>
          <a:noFill/>
          <a:ln/>
        </p:spPr>
        <p:txBody>
          <a:bodyPr wrap="square" rtlCol="0" anchor="ctr"/>
          <a:lstStyle/>
          <a:p>
            <a:pPr marL="0" indent="0">
              <a:buNone/>
            </a:pPr>
            <a:r>
              <a:rPr lang="en-US" sz="2800" b="1" dirty="0">
                <a:solidFill>
                  <a:srgbClr val="0D1B40"/>
                </a:solidFill>
                <a:latin typeface="Trebuchet MS" pitchFamily="34" charset="0"/>
                <a:ea typeface="Trebuchet MS" pitchFamily="34" charset="-122"/>
                <a:cs typeface="Trebuchet MS" pitchFamily="34" charset="-120"/>
              </a:rPr>
              <a:t>Discussion of Results &amp; Findings</a:t>
            </a:r>
            <a:endParaRPr lang="en-US" sz="2800" dirty="0"/>
          </a:p>
        </p:txBody>
      </p:sp>
      <p:sp>
        <p:nvSpPr>
          <p:cNvPr id="5" name="Shape 3"/>
          <p:cNvSpPr/>
          <p:nvPr/>
        </p:nvSpPr>
        <p:spPr>
          <a:xfrm>
            <a:off x="411480" y="1261872"/>
            <a:ext cx="4114800" cy="1051560"/>
          </a:xfrm>
          <a:prstGeom prst="rect">
            <a:avLst/>
          </a:prstGeom>
          <a:solidFill>
            <a:srgbClr val="E8F0FD"/>
          </a:solidFill>
          <a:ln w="12700">
            <a:solidFill>
              <a:srgbClr val="D0DDF5"/>
            </a:solidFill>
            <a:prstDash val="solid"/>
          </a:ln>
        </p:spPr>
        <p:txBody>
          <a:bodyPr/>
          <a:lstStyle/>
          <a:p>
            <a:endParaRPr lang="en-NZ" sz="2400" b="1"/>
          </a:p>
        </p:txBody>
      </p:sp>
      <p:sp>
        <p:nvSpPr>
          <p:cNvPr id="6" name="Shape 4"/>
          <p:cNvSpPr/>
          <p:nvPr/>
        </p:nvSpPr>
        <p:spPr>
          <a:xfrm>
            <a:off x="411480" y="1261872"/>
            <a:ext cx="64008" cy="1051560"/>
          </a:xfrm>
          <a:prstGeom prst="rect">
            <a:avLst/>
          </a:prstGeom>
          <a:solidFill>
            <a:srgbClr val="0F7E6E"/>
          </a:solidFill>
          <a:ln w="12700">
            <a:solidFill>
              <a:srgbClr val="0F7E6E"/>
            </a:solidFill>
            <a:prstDash val="solid"/>
          </a:ln>
        </p:spPr>
        <p:txBody>
          <a:bodyPr/>
          <a:lstStyle/>
          <a:p>
            <a:endParaRPr lang="en-NZ" sz="2400" b="1"/>
          </a:p>
        </p:txBody>
      </p:sp>
      <p:sp>
        <p:nvSpPr>
          <p:cNvPr id="7" name="Text 5"/>
          <p:cNvSpPr/>
          <p:nvPr/>
        </p:nvSpPr>
        <p:spPr>
          <a:xfrm>
            <a:off x="576072" y="1316736"/>
            <a:ext cx="3840480" cy="292608"/>
          </a:xfrm>
          <a:prstGeom prst="rect">
            <a:avLst/>
          </a:prstGeom>
          <a:noFill/>
          <a:ln/>
        </p:spPr>
        <p:txBody>
          <a:bodyPr wrap="square" lIns="0" tIns="0" rIns="0" bIns="0" rtlCol="0" anchor="ctr"/>
          <a:lstStyle/>
          <a:p>
            <a:pPr marL="0" indent="0">
              <a:buNone/>
            </a:pPr>
            <a:r>
              <a:rPr lang="en-US" sz="1400" b="1" dirty="0">
                <a:solidFill>
                  <a:srgbClr val="0F7E6E"/>
                </a:solidFill>
              </a:rPr>
              <a:t>High Recall (88.7%)</a:t>
            </a:r>
            <a:endParaRPr lang="en-US" sz="1400" b="1" dirty="0"/>
          </a:p>
        </p:txBody>
      </p:sp>
      <p:sp>
        <p:nvSpPr>
          <p:cNvPr id="8" name="Text 6"/>
          <p:cNvSpPr/>
          <p:nvPr/>
        </p:nvSpPr>
        <p:spPr>
          <a:xfrm>
            <a:off x="576072" y="1609344"/>
            <a:ext cx="3840480" cy="640080"/>
          </a:xfrm>
          <a:prstGeom prst="rect">
            <a:avLst/>
          </a:prstGeom>
          <a:noFill/>
          <a:ln/>
        </p:spPr>
        <p:txBody>
          <a:bodyPr wrap="square" lIns="0" tIns="0" rIns="0" bIns="0" rtlCol="0" anchor="ctr"/>
          <a:lstStyle/>
          <a:p>
            <a:pPr marL="0" indent="0">
              <a:buNone/>
            </a:pPr>
            <a:r>
              <a:rPr lang="en-US" sz="1100" b="1" dirty="0">
                <a:solidFill>
                  <a:srgbClr val="475569"/>
                </a:solidFill>
              </a:rPr>
              <a:t>The model caught 126 of 142 fraud cases in the test set. Only 16 fraudulent transactions were missed, critical for financial security.</a:t>
            </a:r>
            <a:endParaRPr lang="en-US" sz="1100" b="1" dirty="0"/>
          </a:p>
        </p:txBody>
      </p:sp>
      <p:sp>
        <p:nvSpPr>
          <p:cNvPr id="10" name="Shape 8"/>
          <p:cNvSpPr/>
          <p:nvPr/>
        </p:nvSpPr>
        <p:spPr>
          <a:xfrm>
            <a:off x="4754880" y="1261872"/>
            <a:ext cx="64008" cy="1051560"/>
          </a:xfrm>
          <a:prstGeom prst="rect">
            <a:avLst/>
          </a:prstGeom>
          <a:solidFill>
            <a:srgbClr val="0F7E6E"/>
          </a:solidFill>
          <a:ln w="12700">
            <a:solidFill>
              <a:srgbClr val="0F7E6E"/>
            </a:solidFill>
            <a:prstDash val="solid"/>
          </a:ln>
        </p:spPr>
        <p:txBody>
          <a:bodyPr/>
          <a:lstStyle/>
          <a:p>
            <a:endParaRPr lang="en-NZ" sz="2400" b="1"/>
          </a:p>
        </p:txBody>
      </p:sp>
      <p:sp>
        <p:nvSpPr>
          <p:cNvPr id="11" name="Text 9"/>
          <p:cNvSpPr/>
          <p:nvPr/>
        </p:nvSpPr>
        <p:spPr>
          <a:xfrm>
            <a:off x="4919472" y="1316736"/>
            <a:ext cx="3840480" cy="292608"/>
          </a:xfrm>
          <a:prstGeom prst="rect">
            <a:avLst/>
          </a:prstGeom>
          <a:noFill/>
          <a:ln/>
        </p:spPr>
        <p:txBody>
          <a:bodyPr wrap="square" lIns="0" tIns="0" rIns="0" bIns="0" rtlCol="0" anchor="ctr"/>
          <a:lstStyle/>
          <a:p>
            <a:pPr marL="0" indent="0">
              <a:buNone/>
            </a:pPr>
            <a:r>
              <a:rPr lang="en-US" sz="1400" b="1" dirty="0">
                <a:solidFill>
                  <a:srgbClr val="0F7E6E"/>
                </a:solidFill>
              </a:rPr>
              <a:t>Low Precision (6.7%)</a:t>
            </a:r>
            <a:endParaRPr lang="en-US" sz="1400" b="1" dirty="0"/>
          </a:p>
        </p:txBody>
      </p:sp>
      <p:sp>
        <p:nvSpPr>
          <p:cNvPr id="12" name="Text 10"/>
          <p:cNvSpPr/>
          <p:nvPr/>
        </p:nvSpPr>
        <p:spPr>
          <a:xfrm>
            <a:off x="4919472" y="1609344"/>
            <a:ext cx="3840480" cy="640080"/>
          </a:xfrm>
          <a:prstGeom prst="rect">
            <a:avLst/>
          </a:prstGeom>
          <a:noFill/>
          <a:ln/>
        </p:spPr>
        <p:txBody>
          <a:bodyPr wrap="square" lIns="0" tIns="0" rIns="0" bIns="0" rtlCol="0" anchor="ctr"/>
          <a:lstStyle/>
          <a:p>
            <a:pPr marL="0" indent="0">
              <a:buNone/>
            </a:pPr>
            <a:r>
              <a:rPr lang="en-US" sz="1100" b="1" dirty="0">
                <a:solidFill>
                  <a:srgbClr val="475569"/>
                </a:solidFill>
              </a:rPr>
              <a:t>1,755 normal transactions were flagged as fraud (false positives). In practice, these would be flagged for human review, an acceptable cost vs. missed fraud.</a:t>
            </a:r>
            <a:endParaRPr lang="en-US" sz="1100" b="1" dirty="0"/>
          </a:p>
        </p:txBody>
      </p:sp>
      <p:sp>
        <p:nvSpPr>
          <p:cNvPr id="13" name="Shape 11"/>
          <p:cNvSpPr/>
          <p:nvPr/>
        </p:nvSpPr>
        <p:spPr>
          <a:xfrm>
            <a:off x="411480" y="2496312"/>
            <a:ext cx="4114800" cy="1051560"/>
          </a:xfrm>
          <a:prstGeom prst="rect">
            <a:avLst/>
          </a:prstGeom>
          <a:solidFill>
            <a:srgbClr val="E8F0FD"/>
          </a:solidFill>
          <a:ln w="12700">
            <a:solidFill>
              <a:srgbClr val="D0DDF5"/>
            </a:solidFill>
            <a:prstDash val="solid"/>
          </a:ln>
        </p:spPr>
        <p:txBody>
          <a:bodyPr/>
          <a:lstStyle/>
          <a:p>
            <a:endParaRPr lang="en-NZ" sz="2400" b="1"/>
          </a:p>
        </p:txBody>
      </p:sp>
      <p:sp>
        <p:nvSpPr>
          <p:cNvPr id="14" name="Shape 12"/>
          <p:cNvSpPr/>
          <p:nvPr/>
        </p:nvSpPr>
        <p:spPr>
          <a:xfrm>
            <a:off x="411480" y="2496312"/>
            <a:ext cx="64008" cy="1051560"/>
          </a:xfrm>
          <a:prstGeom prst="rect">
            <a:avLst/>
          </a:prstGeom>
          <a:solidFill>
            <a:srgbClr val="0F7E6E"/>
          </a:solidFill>
          <a:ln w="12700">
            <a:solidFill>
              <a:srgbClr val="0F7E6E"/>
            </a:solidFill>
            <a:prstDash val="solid"/>
          </a:ln>
        </p:spPr>
        <p:txBody>
          <a:bodyPr/>
          <a:lstStyle/>
          <a:p>
            <a:endParaRPr lang="en-NZ" sz="2400" b="1"/>
          </a:p>
        </p:txBody>
      </p:sp>
      <p:sp>
        <p:nvSpPr>
          <p:cNvPr id="15" name="Text 13"/>
          <p:cNvSpPr/>
          <p:nvPr/>
        </p:nvSpPr>
        <p:spPr>
          <a:xfrm>
            <a:off x="576072" y="2551176"/>
            <a:ext cx="3840480" cy="292608"/>
          </a:xfrm>
          <a:prstGeom prst="rect">
            <a:avLst/>
          </a:prstGeom>
          <a:noFill/>
          <a:ln/>
        </p:spPr>
        <p:txBody>
          <a:bodyPr wrap="square" lIns="0" tIns="0" rIns="0" bIns="0" rtlCol="0" anchor="ctr"/>
          <a:lstStyle/>
          <a:p>
            <a:pPr marL="0" indent="0">
              <a:buNone/>
            </a:pPr>
            <a:r>
              <a:rPr lang="en-US" sz="1400" b="1" dirty="0">
                <a:solidFill>
                  <a:srgbClr val="0F7E6E"/>
                </a:solidFill>
              </a:rPr>
              <a:t>Strong ROC-AUC (96.8%)</a:t>
            </a:r>
            <a:endParaRPr lang="en-US" sz="1400" b="1" dirty="0"/>
          </a:p>
        </p:txBody>
      </p:sp>
      <p:sp>
        <p:nvSpPr>
          <p:cNvPr id="16" name="Text 14"/>
          <p:cNvSpPr/>
          <p:nvPr/>
        </p:nvSpPr>
        <p:spPr>
          <a:xfrm>
            <a:off x="576072" y="2843784"/>
            <a:ext cx="3840480" cy="640080"/>
          </a:xfrm>
          <a:prstGeom prst="rect">
            <a:avLst/>
          </a:prstGeom>
          <a:noFill/>
          <a:ln/>
        </p:spPr>
        <p:txBody>
          <a:bodyPr wrap="square" lIns="0" tIns="0" rIns="0" bIns="0" rtlCol="0" anchor="ctr"/>
          <a:lstStyle/>
          <a:p>
            <a:pPr marL="0" indent="0">
              <a:buNone/>
            </a:pPr>
            <a:r>
              <a:rPr lang="en-US" sz="1100" b="1" dirty="0">
                <a:solidFill>
                  <a:srgbClr val="475569"/>
                </a:solidFill>
              </a:rPr>
              <a:t>The model has excellent discriminative ability across all decision thresholds, indicating the features carry strong fraud signal.</a:t>
            </a:r>
            <a:endParaRPr lang="en-US" sz="1100" b="1" dirty="0"/>
          </a:p>
        </p:txBody>
      </p:sp>
      <p:sp>
        <p:nvSpPr>
          <p:cNvPr id="18" name="Shape 16"/>
          <p:cNvSpPr/>
          <p:nvPr/>
        </p:nvSpPr>
        <p:spPr>
          <a:xfrm>
            <a:off x="4754880" y="2496312"/>
            <a:ext cx="64008" cy="1051560"/>
          </a:xfrm>
          <a:prstGeom prst="rect">
            <a:avLst/>
          </a:prstGeom>
          <a:solidFill>
            <a:srgbClr val="0F7E6E"/>
          </a:solidFill>
          <a:ln w="12700">
            <a:solidFill>
              <a:srgbClr val="0F7E6E"/>
            </a:solidFill>
            <a:prstDash val="solid"/>
          </a:ln>
        </p:spPr>
        <p:txBody>
          <a:bodyPr/>
          <a:lstStyle/>
          <a:p>
            <a:endParaRPr lang="en-NZ" sz="2400" b="1"/>
          </a:p>
        </p:txBody>
      </p:sp>
      <p:sp>
        <p:nvSpPr>
          <p:cNvPr id="19" name="Text 17"/>
          <p:cNvSpPr/>
          <p:nvPr/>
        </p:nvSpPr>
        <p:spPr>
          <a:xfrm>
            <a:off x="4919472" y="2551176"/>
            <a:ext cx="3840480" cy="292608"/>
          </a:xfrm>
          <a:prstGeom prst="rect">
            <a:avLst/>
          </a:prstGeom>
          <a:noFill/>
          <a:ln/>
        </p:spPr>
        <p:txBody>
          <a:bodyPr wrap="square" lIns="0" tIns="0" rIns="0" bIns="0" rtlCol="0" anchor="ctr"/>
          <a:lstStyle/>
          <a:p>
            <a:pPr marL="0" indent="0">
              <a:buNone/>
            </a:pPr>
            <a:r>
              <a:rPr lang="en-US" sz="1400" b="1" dirty="0">
                <a:solidFill>
                  <a:srgbClr val="0F7E6E"/>
                </a:solidFill>
              </a:rPr>
              <a:t>Moderate PR-AUC (64.6%)</a:t>
            </a:r>
            <a:endParaRPr lang="en-US" sz="1400" b="1" dirty="0"/>
          </a:p>
        </p:txBody>
      </p:sp>
      <p:sp>
        <p:nvSpPr>
          <p:cNvPr id="20" name="Text 18"/>
          <p:cNvSpPr/>
          <p:nvPr/>
        </p:nvSpPr>
        <p:spPr>
          <a:xfrm>
            <a:off x="4919472" y="2843784"/>
            <a:ext cx="3840480" cy="640080"/>
          </a:xfrm>
          <a:prstGeom prst="rect">
            <a:avLst/>
          </a:prstGeom>
          <a:noFill/>
          <a:ln/>
        </p:spPr>
        <p:txBody>
          <a:bodyPr wrap="square" lIns="0" tIns="0" rIns="0" bIns="0" rtlCol="0" anchor="ctr"/>
          <a:lstStyle/>
          <a:p>
            <a:pPr marL="0" indent="0">
              <a:buNone/>
            </a:pPr>
            <a:r>
              <a:rPr lang="en-US" sz="1100" b="1" dirty="0">
                <a:solidFill>
                  <a:srgbClr val="475569"/>
                </a:solidFill>
              </a:rPr>
              <a:t>Precision-Recall AUC is lower because precision degrades as recall increases. Reflects the inherent difficulty of the imbalance problem.</a:t>
            </a:r>
            <a:endParaRPr lang="en-US" sz="1100" b="1" dirty="0"/>
          </a:p>
        </p:txBody>
      </p:sp>
      <p:sp>
        <p:nvSpPr>
          <p:cNvPr id="21" name="Shape 19"/>
          <p:cNvSpPr/>
          <p:nvPr/>
        </p:nvSpPr>
        <p:spPr>
          <a:xfrm>
            <a:off x="411480" y="3730752"/>
            <a:ext cx="4114800" cy="1051560"/>
          </a:xfrm>
          <a:prstGeom prst="rect">
            <a:avLst/>
          </a:prstGeom>
          <a:solidFill>
            <a:srgbClr val="E8F0FD"/>
          </a:solidFill>
          <a:ln w="12700">
            <a:solidFill>
              <a:srgbClr val="D0DDF5"/>
            </a:solidFill>
            <a:prstDash val="solid"/>
          </a:ln>
        </p:spPr>
        <p:txBody>
          <a:bodyPr/>
          <a:lstStyle/>
          <a:p>
            <a:endParaRPr lang="en-NZ" sz="2400" b="1"/>
          </a:p>
        </p:txBody>
      </p:sp>
      <p:sp>
        <p:nvSpPr>
          <p:cNvPr id="22" name="Shape 20"/>
          <p:cNvSpPr/>
          <p:nvPr/>
        </p:nvSpPr>
        <p:spPr>
          <a:xfrm>
            <a:off x="411480" y="3730752"/>
            <a:ext cx="64008" cy="1051560"/>
          </a:xfrm>
          <a:prstGeom prst="rect">
            <a:avLst/>
          </a:prstGeom>
          <a:solidFill>
            <a:srgbClr val="0F7E6E"/>
          </a:solidFill>
          <a:ln w="12700">
            <a:solidFill>
              <a:srgbClr val="0F7E6E"/>
            </a:solidFill>
            <a:prstDash val="solid"/>
          </a:ln>
        </p:spPr>
        <p:txBody>
          <a:bodyPr/>
          <a:lstStyle/>
          <a:p>
            <a:endParaRPr lang="en-NZ" sz="2400" b="1"/>
          </a:p>
        </p:txBody>
      </p:sp>
      <p:sp>
        <p:nvSpPr>
          <p:cNvPr id="23" name="Text 21"/>
          <p:cNvSpPr/>
          <p:nvPr/>
        </p:nvSpPr>
        <p:spPr>
          <a:xfrm>
            <a:off x="576072" y="3785616"/>
            <a:ext cx="3840480" cy="292608"/>
          </a:xfrm>
          <a:prstGeom prst="rect">
            <a:avLst/>
          </a:prstGeom>
          <a:noFill/>
          <a:ln/>
        </p:spPr>
        <p:txBody>
          <a:bodyPr wrap="square" lIns="0" tIns="0" rIns="0" bIns="0" rtlCol="0" anchor="ctr"/>
          <a:lstStyle/>
          <a:p>
            <a:pPr marL="0" indent="0">
              <a:buNone/>
            </a:pPr>
            <a:r>
              <a:rPr lang="en-US" sz="1400" b="1" dirty="0">
                <a:solidFill>
                  <a:srgbClr val="0F7E6E"/>
                </a:solidFill>
              </a:rPr>
              <a:t>Class Imbalance Effect</a:t>
            </a:r>
            <a:endParaRPr lang="en-US" sz="1400" b="1" dirty="0"/>
          </a:p>
        </p:txBody>
      </p:sp>
      <p:sp>
        <p:nvSpPr>
          <p:cNvPr id="24" name="Text 22"/>
          <p:cNvSpPr/>
          <p:nvPr/>
        </p:nvSpPr>
        <p:spPr>
          <a:xfrm>
            <a:off x="576072" y="4078224"/>
            <a:ext cx="3840480" cy="640080"/>
          </a:xfrm>
          <a:prstGeom prst="rect">
            <a:avLst/>
          </a:prstGeom>
          <a:noFill/>
          <a:ln/>
        </p:spPr>
        <p:txBody>
          <a:bodyPr wrap="square" lIns="0" tIns="0" rIns="0" bIns="0" rtlCol="0" anchor="ctr"/>
          <a:lstStyle/>
          <a:p>
            <a:pPr marL="0" indent="0">
              <a:buNone/>
            </a:pPr>
            <a:r>
              <a:rPr lang="en-US" sz="1100" b="1" dirty="0">
                <a:solidFill>
                  <a:srgbClr val="475569"/>
                </a:solidFill>
              </a:rPr>
              <a:t>Despite class_weight='balanced', the extreme 1:579 ratio means precision remains low. SMOTE oversampling could improve this in future iterations.</a:t>
            </a:r>
            <a:endParaRPr lang="en-US" sz="1100" b="1" dirty="0"/>
          </a:p>
        </p:txBody>
      </p:sp>
      <p:sp>
        <p:nvSpPr>
          <p:cNvPr id="26" name="Shape 24"/>
          <p:cNvSpPr/>
          <p:nvPr/>
        </p:nvSpPr>
        <p:spPr>
          <a:xfrm>
            <a:off x="4754880" y="3730752"/>
            <a:ext cx="64008" cy="1051560"/>
          </a:xfrm>
          <a:prstGeom prst="rect">
            <a:avLst/>
          </a:prstGeom>
          <a:solidFill>
            <a:srgbClr val="0F7E6E"/>
          </a:solidFill>
          <a:ln w="12700">
            <a:solidFill>
              <a:srgbClr val="0F7E6E"/>
            </a:solidFill>
            <a:prstDash val="solid"/>
          </a:ln>
        </p:spPr>
        <p:txBody>
          <a:bodyPr/>
          <a:lstStyle/>
          <a:p>
            <a:endParaRPr lang="en-NZ" sz="2400" b="1"/>
          </a:p>
        </p:txBody>
      </p:sp>
      <p:sp>
        <p:nvSpPr>
          <p:cNvPr id="27" name="Text 25"/>
          <p:cNvSpPr/>
          <p:nvPr/>
        </p:nvSpPr>
        <p:spPr>
          <a:xfrm>
            <a:off x="4919472" y="3785616"/>
            <a:ext cx="3840480" cy="292608"/>
          </a:xfrm>
          <a:prstGeom prst="rect">
            <a:avLst/>
          </a:prstGeom>
          <a:noFill/>
          <a:ln/>
        </p:spPr>
        <p:txBody>
          <a:bodyPr wrap="square" lIns="0" tIns="0" rIns="0" bIns="0" rtlCol="0" anchor="ctr"/>
          <a:lstStyle/>
          <a:p>
            <a:pPr marL="0" indent="0">
              <a:buNone/>
            </a:pPr>
            <a:r>
              <a:rPr lang="en-US" sz="1400" b="1" dirty="0">
                <a:solidFill>
                  <a:srgbClr val="0F7E6E"/>
                </a:solidFill>
              </a:rPr>
              <a:t>Feature Importance</a:t>
            </a:r>
            <a:endParaRPr lang="en-US" sz="1400" b="1" dirty="0"/>
          </a:p>
        </p:txBody>
      </p:sp>
      <p:sp>
        <p:nvSpPr>
          <p:cNvPr id="28" name="Text 26"/>
          <p:cNvSpPr/>
          <p:nvPr/>
        </p:nvSpPr>
        <p:spPr>
          <a:xfrm>
            <a:off x="4919472" y="4078224"/>
            <a:ext cx="3840480" cy="640080"/>
          </a:xfrm>
          <a:prstGeom prst="rect">
            <a:avLst/>
          </a:prstGeom>
          <a:noFill/>
          <a:ln/>
        </p:spPr>
        <p:txBody>
          <a:bodyPr wrap="square" lIns="0" tIns="0" rIns="0" bIns="0" rtlCol="0" anchor="ctr"/>
          <a:lstStyle/>
          <a:p>
            <a:pPr marL="0" indent="0">
              <a:buNone/>
            </a:pPr>
            <a:r>
              <a:rPr lang="en-US" sz="1100" b="1" dirty="0">
                <a:solidFill>
                  <a:srgbClr val="475569"/>
                </a:solidFill>
              </a:rPr>
              <a:t>V17, V14, and V12 (PCA components) had the highest correlation with fraud, suggesting the original confidential features they represent are the key discriminators.</a:t>
            </a:r>
            <a:endParaRPr lang="en-US" sz="11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40"/>
        </a:solidFill>
        <a:effectLst/>
      </p:bgPr>
    </p:bg>
    <p:spTree>
      <p:nvGrpSpPr>
        <p:cNvPr id="1" name=""/>
        <p:cNvGrpSpPr/>
        <p:nvPr/>
      </p:nvGrpSpPr>
      <p:grpSpPr>
        <a:xfrm>
          <a:off x="0" y="0"/>
          <a:ext cx="0" cy="0"/>
          <a:chOff x="0" y="0"/>
          <a:chExt cx="0" cy="0"/>
        </a:xfrm>
      </p:grpSpPr>
      <p:pic>
        <p:nvPicPr>
          <p:cNvPr id="36" name="Content Placeholder 7" descr="step by step go to the success">
            <a:extLst>
              <a:ext uri="{FF2B5EF4-FFF2-40B4-BE49-F238E27FC236}">
                <a16:creationId xmlns:a16="http://schemas.microsoft.com/office/drawing/2014/main" id="{011E01A8-073C-C769-B017-1DB0AF911F83}"/>
              </a:ext>
            </a:extLst>
          </p:cNvPr>
          <p:cNvPicPr>
            <a:picLocks noChangeAspect="1"/>
          </p:cNvPicPr>
          <p:nvPr/>
        </p:nvPicPr>
        <p:blipFill>
          <a:blip r:embed="rId3">
            <a:alphaModFix/>
            <a:duotone>
              <a:schemeClr val="accent4">
                <a:shade val="45000"/>
                <a:satMod val="135000"/>
              </a:schemeClr>
              <a:prstClr val="white"/>
            </a:duotone>
          </a:blip>
          <a:srcRect l="4956" r="46264" b="1"/>
          <a:stretch>
            <a:fillRect/>
          </a:stretch>
        </p:blipFill>
        <p:spPr>
          <a:xfrm>
            <a:off x="164592" y="0"/>
            <a:ext cx="4382632" cy="5143500"/>
          </a:xfrm>
          <a:prstGeom prst="rect">
            <a:avLst/>
          </a:prstGeom>
        </p:spPr>
      </p:pic>
      <p:sp>
        <p:nvSpPr>
          <p:cNvPr id="2" name="Shape 0"/>
          <p:cNvSpPr/>
          <p:nvPr/>
        </p:nvSpPr>
        <p:spPr>
          <a:xfrm>
            <a:off x="0" y="0"/>
            <a:ext cx="164592" cy="5143500"/>
          </a:xfrm>
          <a:prstGeom prst="rect">
            <a:avLst/>
          </a:prstGeom>
          <a:solidFill>
            <a:srgbClr val="17BDA0"/>
          </a:solidFill>
          <a:ln w="12700">
            <a:solidFill>
              <a:srgbClr val="17BDA0"/>
            </a:solidFill>
            <a:prstDash val="solid"/>
          </a:ln>
        </p:spPr>
        <p:txBody>
          <a:bodyPr/>
          <a:lstStyle/>
          <a:p>
            <a:endParaRPr lang="en-NZ" sz="2400" b="1"/>
          </a:p>
        </p:txBody>
      </p:sp>
      <p:sp>
        <p:nvSpPr>
          <p:cNvPr id="3" name="Shape 1"/>
          <p:cNvSpPr/>
          <p:nvPr/>
        </p:nvSpPr>
        <p:spPr>
          <a:xfrm>
            <a:off x="411480" y="256032"/>
            <a:ext cx="2011680" cy="274320"/>
          </a:xfrm>
          <a:prstGeom prst="rect">
            <a:avLst/>
          </a:prstGeom>
          <a:solidFill>
            <a:srgbClr val="0F7E6E"/>
          </a:solidFill>
          <a:ln w="12700">
            <a:solidFill>
              <a:srgbClr val="0F7E6E"/>
            </a:solidFill>
            <a:prstDash val="solid"/>
          </a:ln>
        </p:spPr>
        <p:txBody>
          <a:bodyPr/>
          <a:lstStyle/>
          <a:p>
            <a:endParaRPr lang="en-NZ" sz="2400" b="1"/>
          </a:p>
        </p:txBody>
      </p:sp>
      <p:sp>
        <p:nvSpPr>
          <p:cNvPr id="4" name="Text 2"/>
          <p:cNvSpPr/>
          <p:nvPr/>
        </p:nvSpPr>
        <p:spPr>
          <a:xfrm>
            <a:off x="411480" y="256032"/>
            <a:ext cx="2011680" cy="274320"/>
          </a:xfrm>
          <a:prstGeom prst="rect">
            <a:avLst/>
          </a:prstGeom>
          <a:noFill/>
          <a:ln/>
        </p:spPr>
        <p:txBody>
          <a:bodyPr wrap="square" lIns="0" tIns="0" rIns="0" bIns="0" rtlCol="0" anchor="ctr"/>
          <a:lstStyle/>
          <a:p>
            <a:pPr marL="0" indent="0" algn="ctr">
              <a:buNone/>
            </a:pPr>
            <a:r>
              <a:rPr lang="en-US" sz="1000" b="1" dirty="0">
                <a:solidFill>
                  <a:srgbClr val="FFFFFF"/>
                </a:solidFill>
              </a:rPr>
              <a:t>CONCLUSION &amp; FUTURE WORK</a:t>
            </a:r>
            <a:endParaRPr lang="en-US" sz="1000" b="1" dirty="0"/>
          </a:p>
        </p:txBody>
      </p:sp>
      <p:sp>
        <p:nvSpPr>
          <p:cNvPr id="5" name="Text 3"/>
          <p:cNvSpPr/>
          <p:nvPr/>
        </p:nvSpPr>
        <p:spPr>
          <a:xfrm>
            <a:off x="411480" y="658368"/>
            <a:ext cx="3840480" cy="475488"/>
          </a:xfrm>
          <a:prstGeom prst="rect">
            <a:avLst/>
          </a:prstGeom>
          <a:noFill/>
          <a:ln/>
        </p:spPr>
        <p:txBody>
          <a:bodyPr wrap="square" rtlCol="0" anchor="ctr"/>
          <a:lstStyle/>
          <a:p>
            <a:pPr marL="0" indent="0">
              <a:buNone/>
            </a:pPr>
            <a:r>
              <a:rPr lang="en-US" sz="2800" b="1" dirty="0">
                <a:solidFill>
                  <a:srgbClr val="17BDA0"/>
                </a:solidFill>
                <a:latin typeface="Trebuchet MS" pitchFamily="34" charset="0"/>
                <a:ea typeface="Trebuchet MS" pitchFamily="34" charset="-122"/>
                <a:cs typeface="Trebuchet MS" pitchFamily="34" charset="-120"/>
              </a:rPr>
              <a:t>What We Achieved</a:t>
            </a:r>
            <a:endParaRPr lang="en-US" sz="2800" b="1" dirty="0"/>
          </a:p>
        </p:txBody>
      </p:sp>
      <p:sp>
        <p:nvSpPr>
          <p:cNvPr id="6" name="Shape 4"/>
          <p:cNvSpPr/>
          <p:nvPr/>
        </p:nvSpPr>
        <p:spPr>
          <a:xfrm>
            <a:off x="411480" y="1261872"/>
            <a:ext cx="201168" cy="201168"/>
          </a:xfrm>
          <a:prstGeom prst="ellipse">
            <a:avLst/>
          </a:prstGeom>
          <a:solidFill>
            <a:srgbClr val="17BDA0"/>
          </a:solidFill>
          <a:ln w="12700">
            <a:solidFill>
              <a:srgbClr val="17BDA0"/>
            </a:solidFill>
            <a:prstDash val="solid"/>
          </a:ln>
        </p:spPr>
        <p:txBody>
          <a:bodyPr/>
          <a:lstStyle/>
          <a:p>
            <a:endParaRPr lang="en-NZ" sz="2400" b="1"/>
          </a:p>
        </p:txBody>
      </p:sp>
      <p:sp>
        <p:nvSpPr>
          <p:cNvPr id="7" name="Text 5"/>
          <p:cNvSpPr/>
          <p:nvPr/>
        </p:nvSpPr>
        <p:spPr>
          <a:xfrm>
            <a:off x="713232" y="1234440"/>
            <a:ext cx="3566160" cy="274320"/>
          </a:xfrm>
          <a:prstGeom prst="rect">
            <a:avLst/>
          </a:prstGeom>
          <a:noFill/>
          <a:ln/>
        </p:spPr>
        <p:txBody>
          <a:bodyPr wrap="square" lIns="0" tIns="0" rIns="0" bIns="0" rtlCol="0" anchor="ctr"/>
          <a:lstStyle/>
          <a:p>
            <a:pPr marL="0" indent="0">
              <a:buNone/>
            </a:pPr>
            <a:r>
              <a:rPr lang="en-US" sz="1400" b="1" dirty="0"/>
              <a:t>Full ML pipeline: load → clean → EDA → train → evaluate</a:t>
            </a:r>
          </a:p>
        </p:txBody>
      </p:sp>
      <p:sp>
        <p:nvSpPr>
          <p:cNvPr id="8" name="Shape 6"/>
          <p:cNvSpPr/>
          <p:nvPr/>
        </p:nvSpPr>
        <p:spPr>
          <a:xfrm>
            <a:off x="411480" y="1828800"/>
            <a:ext cx="201168" cy="201168"/>
          </a:xfrm>
          <a:prstGeom prst="ellipse">
            <a:avLst/>
          </a:prstGeom>
          <a:solidFill>
            <a:srgbClr val="17BDA0"/>
          </a:solidFill>
          <a:ln w="12700">
            <a:solidFill>
              <a:srgbClr val="17BDA0"/>
            </a:solidFill>
            <a:prstDash val="solid"/>
          </a:ln>
        </p:spPr>
        <p:txBody>
          <a:bodyPr/>
          <a:lstStyle/>
          <a:p>
            <a:endParaRPr lang="en-NZ" sz="2400" b="1"/>
          </a:p>
        </p:txBody>
      </p:sp>
      <p:sp>
        <p:nvSpPr>
          <p:cNvPr id="9" name="Text 7"/>
          <p:cNvSpPr/>
          <p:nvPr/>
        </p:nvSpPr>
        <p:spPr>
          <a:xfrm>
            <a:off x="713232" y="1801368"/>
            <a:ext cx="3566160" cy="274320"/>
          </a:xfrm>
          <a:prstGeom prst="rect">
            <a:avLst/>
          </a:prstGeom>
          <a:noFill/>
          <a:ln/>
        </p:spPr>
        <p:txBody>
          <a:bodyPr wrap="square" lIns="0" tIns="0" rIns="0" bIns="0" rtlCol="0" anchor="ctr"/>
          <a:lstStyle/>
          <a:p>
            <a:pPr marL="0" indent="0">
              <a:buNone/>
            </a:pPr>
            <a:r>
              <a:rPr lang="en-US" sz="1400" b="1" dirty="0"/>
              <a:t>88.7% recall, detected most fraud transactions</a:t>
            </a:r>
          </a:p>
        </p:txBody>
      </p:sp>
      <p:sp>
        <p:nvSpPr>
          <p:cNvPr id="10" name="Shape 8"/>
          <p:cNvSpPr/>
          <p:nvPr/>
        </p:nvSpPr>
        <p:spPr>
          <a:xfrm>
            <a:off x="411480" y="2395728"/>
            <a:ext cx="201168" cy="201168"/>
          </a:xfrm>
          <a:prstGeom prst="ellipse">
            <a:avLst/>
          </a:prstGeom>
          <a:solidFill>
            <a:srgbClr val="17BDA0"/>
          </a:solidFill>
          <a:ln w="12700">
            <a:solidFill>
              <a:srgbClr val="17BDA0"/>
            </a:solidFill>
            <a:prstDash val="solid"/>
          </a:ln>
        </p:spPr>
        <p:txBody>
          <a:bodyPr/>
          <a:lstStyle/>
          <a:p>
            <a:endParaRPr lang="en-NZ" sz="2400" b="1"/>
          </a:p>
        </p:txBody>
      </p:sp>
      <p:sp>
        <p:nvSpPr>
          <p:cNvPr id="11" name="Text 9"/>
          <p:cNvSpPr/>
          <p:nvPr/>
        </p:nvSpPr>
        <p:spPr>
          <a:xfrm>
            <a:off x="713232" y="2368296"/>
            <a:ext cx="3566160" cy="274320"/>
          </a:xfrm>
          <a:prstGeom prst="rect">
            <a:avLst/>
          </a:prstGeom>
          <a:noFill/>
          <a:ln/>
        </p:spPr>
        <p:txBody>
          <a:bodyPr wrap="square" lIns="0" tIns="0" rIns="0" bIns="0" rtlCol="0" anchor="ctr"/>
          <a:lstStyle/>
          <a:p>
            <a:pPr marL="0" indent="0">
              <a:buNone/>
            </a:pPr>
            <a:r>
              <a:rPr lang="en-US" sz="1400" b="1" dirty="0"/>
              <a:t>96.8% ROC-AUC, strong overall discriminability</a:t>
            </a:r>
          </a:p>
        </p:txBody>
      </p:sp>
      <p:sp>
        <p:nvSpPr>
          <p:cNvPr id="14" name="Shape 12"/>
          <p:cNvSpPr/>
          <p:nvPr/>
        </p:nvSpPr>
        <p:spPr>
          <a:xfrm>
            <a:off x="421952" y="2990088"/>
            <a:ext cx="201168" cy="201168"/>
          </a:xfrm>
          <a:prstGeom prst="ellipse">
            <a:avLst/>
          </a:prstGeom>
          <a:solidFill>
            <a:srgbClr val="17BDA0"/>
          </a:solidFill>
          <a:ln w="12700">
            <a:solidFill>
              <a:srgbClr val="17BDA0"/>
            </a:solidFill>
            <a:prstDash val="solid"/>
          </a:ln>
        </p:spPr>
        <p:txBody>
          <a:bodyPr/>
          <a:lstStyle/>
          <a:p>
            <a:endParaRPr lang="en-NZ" sz="2400" b="1"/>
          </a:p>
        </p:txBody>
      </p:sp>
      <p:sp>
        <p:nvSpPr>
          <p:cNvPr id="15" name="Text 13"/>
          <p:cNvSpPr/>
          <p:nvPr/>
        </p:nvSpPr>
        <p:spPr>
          <a:xfrm>
            <a:off x="723704" y="2962656"/>
            <a:ext cx="3566160" cy="274320"/>
          </a:xfrm>
          <a:prstGeom prst="rect">
            <a:avLst/>
          </a:prstGeom>
          <a:noFill/>
          <a:ln/>
        </p:spPr>
        <p:txBody>
          <a:bodyPr wrap="square" lIns="0" tIns="0" rIns="0" bIns="0" rtlCol="0" anchor="ctr"/>
          <a:lstStyle/>
          <a:p>
            <a:pPr marL="0" indent="0">
              <a:buNone/>
            </a:pPr>
            <a:r>
              <a:rPr lang="en-US" sz="1400" b="1" dirty="0"/>
              <a:t>Saved trained model (.joblib) for deployment</a:t>
            </a:r>
          </a:p>
        </p:txBody>
      </p:sp>
      <p:sp>
        <p:nvSpPr>
          <p:cNvPr id="16" name="Shape 14"/>
          <p:cNvSpPr/>
          <p:nvPr/>
        </p:nvSpPr>
        <p:spPr>
          <a:xfrm>
            <a:off x="4663440" y="594360"/>
            <a:ext cx="4114800" cy="4251960"/>
          </a:xfrm>
          <a:prstGeom prst="rect">
            <a:avLst/>
          </a:prstGeom>
          <a:solidFill>
            <a:srgbClr val="0A1530"/>
          </a:solidFill>
          <a:ln w="12700">
            <a:solidFill>
              <a:srgbClr val="0F7E6E"/>
            </a:solidFill>
            <a:prstDash val="solid"/>
          </a:ln>
        </p:spPr>
        <p:txBody>
          <a:bodyPr/>
          <a:lstStyle/>
          <a:p>
            <a:endParaRPr lang="en-NZ" sz="2400" b="1"/>
          </a:p>
        </p:txBody>
      </p:sp>
      <p:sp>
        <p:nvSpPr>
          <p:cNvPr id="17" name="Text 15"/>
          <p:cNvSpPr/>
          <p:nvPr/>
        </p:nvSpPr>
        <p:spPr>
          <a:xfrm>
            <a:off x="4754880" y="685800"/>
            <a:ext cx="3931920" cy="384048"/>
          </a:xfrm>
          <a:prstGeom prst="rect">
            <a:avLst/>
          </a:prstGeom>
          <a:noFill/>
          <a:ln/>
        </p:spPr>
        <p:txBody>
          <a:bodyPr wrap="square" lIns="0" tIns="0" rIns="0" bIns="0" rtlCol="0" anchor="ctr"/>
          <a:lstStyle/>
          <a:p>
            <a:pPr marL="0" indent="0" algn="ctr">
              <a:buNone/>
            </a:pPr>
            <a:r>
              <a:rPr lang="en-US" sz="2000" b="1" dirty="0">
                <a:solidFill>
                  <a:srgbClr val="17BDA0"/>
                </a:solidFill>
              </a:rPr>
              <a:t>Future Improvements</a:t>
            </a:r>
            <a:endParaRPr lang="en-US" sz="2000" b="1" dirty="0"/>
          </a:p>
        </p:txBody>
      </p:sp>
      <p:sp>
        <p:nvSpPr>
          <p:cNvPr id="18" name="Shape 16"/>
          <p:cNvSpPr/>
          <p:nvPr/>
        </p:nvSpPr>
        <p:spPr>
          <a:xfrm>
            <a:off x="4709160" y="1289304"/>
            <a:ext cx="54864" cy="292608"/>
          </a:xfrm>
          <a:prstGeom prst="rect">
            <a:avLst/>
          </a:prstGeom>
          <a:solidFill>
            <a:srgbClr val="0F7E6E"/>
          </a:solidFill>
          <a:ln w="12700">
            <a:solidFill>
              <a:srgbClr val="0F7E6E"/>
            </a:solidFill>
            <a:prstDash val="solid"/>
          </a:ln>
        </p:spPr>
        <p:txBody>
          <a:bodyPr/>
          <a:lstStyle/>
          <a:p>
            <a:endParaRPr lang="en-NZ" sz="2400" b="1"/>
          </a:p>
        </p:txBody>
      </p:sp>
      <p:sp>
        <p:nvSpPr>
          <p:cNvPr id="19" name="Text 17"/>
          <p:cNvSpPr/>
          <p:nvPr/>
        </p:nvSpPr>
        <p:spPr>
          <a:xfrm>
            <a:off x="4828032" y="1280160"/>
            <a:ext cx="3749040" cy="201168"/>
          </a:xfrm>
          <a:prstGeom prst="rect">
            <a:avLst/>
          </a:prstGeom>
          <a:noFill/>
          <a:ln/>
        </p:spPr>
        <p:txBody>
          <a:bodyPr wrap="square" lIns="0" tIns="0" rIns="0" bIns="0" rtlCol="0" anchor="ctr"/>
          <a:lstStyle/>
          <a:p>
            <a:pPr marL="0" indent="0">
              <a:buNone/>
            </a:pPr>
            <a:r>
              <a:rPr lang="en-US" sz="1100" b="1" dirty="0">
                <a:solidFill>
                  <a:srgbClr val="17BDA0"/>
                </a:solidFill>
              </a:rPr>
              <a:t>SMOTE / Oversampling</a:t>
            </a:r>
            <a:endParaRPr lang="en-US" sz="1100" b="1" dirty="0"/>
          </a:p>
        </p:txBody>
      </p:sp>
      <p:sp>
        <p:nvSpPr>
          <p:cNvPr id="20" name="Text 18"/>
          <p:cNvSpPr/>
          <p:nvPr/>
        </p:nvSpPr>
        <p:spPr>
          <a:xfrm>
            <a:off x="4828032" y="1472184"/>
            <a:ext cx="3749040" cy="201168"/>
          </a:xfrm>
          <a:prstGeom prst="rect">
            <a:avLst/>
          </a:prstGeom>
          <a:noFill/>
          <a:ln/>
        </p:spPr>
        <p:txBody>
          <a:bodyPr wrap="square" lIns="0" tIns="0" rIns="0" bIns="0" rtlCol="0" anchor="ctr"/>
          <a:lstStyle/>
          <a:p>
            <a:pPr marL="0" indent="0">
              <a:buNone/>
            </a:pPr>
            <a:r>
              <a:rPr lang="en-US" sz="1050" b="1" dirty="0">
                <a:solidFill>
                  <a:srgbClr val="8BA0BC"/>
                </a:solidFill>
              </a:rPr>
              <a:t>Address class imbalance at data level to improve precision.</a:t>
            </a:r>
            <a:endParaRPr lang="en-US" sz="1050" b="1" dirty="0"/>
          </a:p>
        </p:txBody>
      </p:sp>
      <p:sp>
        <p:nvSpPr>
          <p:cNvPr id="21" name="Shape 19"/>
          <p:cNvSpPr/>
          <p:nvPr/>
        </p:nvSpPr>
        <p:spPr>
          <a:xfrm>
            <a:off x="4709160" y="1819656"/>
            <a:ext cx="54864" cy="292608"/>
          </a:xfrm>
          <a:prstGeom prst="rect">
            <a:avLst/>
          </a:prstGeom>
          <a:solidFill>
            <a:srgbClr val="0F7E6E"/>
          </a:solidFill>
          <a:ln w="12700">
            <a:solidFill>
              <a:srgbClr val="0F7E6E"/>
            </a:solidFill>
            <a:prstDash val="solid"/>
          </a:ln>
        </p:spPr>
        <p:txBody>
          <a:bodyPr/>
          <a:lstStyle/>
          <a:p>
            <a:endParaRPr lang="en-NZ" sz="2400" b="1"/>
          </a:p>
        </p:txBody>
      </p:sp>
      <p:sp>
        <p:nvSpPr>
          <p:cNvPr id="22" name="Text 20"/>
          <p:cNvSpPr/>
          <p:nvPr/>
        </p:nvSpPr>
        <p:spPr>
          <a:xfrm>
            <a:off x="4828032" y="1810512"/>
            <a:ext cx="3749040" cy="201168"/>
          </a:xfrm>
          <a:prstGeom prst="rect">
            <a:avLst/>
          </a:prstGeom>
          <a:noFill/>
          <a:ln/>
        </p:spPr>
        <p:txBody>
          <a:bodyPr wrap="square" lIns="0" tIns="0" rIns="0" bIns="0" rtlCol="0" anchor="ctr"/>
          <a:lstStyle/>
          <a:p>
            <a:pPr marL="0" indent="0">
              <a:buNone/>
            </a:pPr>
            <a:r>
              <a:rPr lang="en-US" sz="1100" b="1" dirty="0">
                <a:solidFill>
                  <a:srgbClr val="17BDA0"/>
                </a:solidFill>
              </a:rPr>
              <a:t>Threshold Tuning</a:t>
            </a:r>
            <a:endParaRPr lang="en-US" sz="1100" b="1" dirty="0"/>
          </a:p>
        </p:txBody>
      </p:sp>
      <p:sp>
        <p:nvSpPr>
          <p:cNvPr id="23" name="Text 21"/>
          <p:cNvSpPr/>
          <p:nvPr/>
        </p:nvSpPr>
        <p:spPr>
          <a:xfrm>
            <a:off x="4828032" y="2002536"/>
            <a:ext cx="3749040" cy="201168"/>
          </a:xfrm>
          <a:prstGeom prst="rect">
            <a:avLst/>
          </a:prstGeom>
          <a:noFill/>
          <a:ln/>
        </p:spPr>
        <p:txBody>
          <a:bodyPr wrap="square" lIns="0" tIns="0" rIns="0" bIns="0" rtlCol="0" anchor="ctr"/>
          <a:lstStyle/>
          <a:p>
            <a:pPr marL="0" indent="0">
              <a:buNone/>
            </a:pPr>
            <a:r>
              <a:rPr lang="en-US" sz="1050" b="1" dirty="0">
                <a:solidFill>
                  <a:srgbClr val="8BA0BC"/>
                </a:solidFill>
              </a:rPr>
              <a:t>Adjust decision threshold to balance precision vs recall.</a:t>
            </a:r>
            <a:endParaRPr lang="en-US" sz="1050" b="1" dirty="0"/>
          </a:p>
        </p:txBody>
      </p:sp>
      <p:sp>
        <p:nvSpPr>
          <p:cNvPr id="24" name="Shape 22"/>
          <p:cNvSpPr/>
          <p:nvPr/>
        </p:nvSpPr>
        <p:spPr>
          <a:xfrm>
            <a:off x="4709160" y="2350008"/>
            <a:ext cx="54864" cy="292608"/>
          </a:xfrm>
          <a:prstGeom prst="rect">
            <a:avLst/>
          </a:prstGeom>
          <a:solidFill>
            <a:srgbClr val="0F7E6E"/>
          </a:solidFill>
          <a:ln w="12700">
            <a:solidFill>
              <a:srgbClr val="0F7E6E"/>
            </a:solidFill>
            <a:prstDash val="solid"/>
          </a:ln>
        </p:spPr>
        <p:txBody>
          <a:bodyPr/>
          <a:lstStyle/>
          <a:p>
            <a:endParaRPr lang="en-NZ" sz="2400" b="1"/>
          </a:p>
        </p:txBody>
      </p:sp>
      <p:sp>
        <p:nvSpPr>
          <p:cNvPr id="25" name="Text 23"/>
          <p:cNvSpPr/>
          <p:nvPr/>
        </p:nvSpPr>
        <p:spPr>
          <a:xfrm>
            <a:off x="4828032" y="2340864"/>
            <a:ext cx="3749040" cy="201168"/>
          </a:xfrm>
          <a:prstGeom prst="rect">
            <a:avLst/>
          </a:prstGeom>
          <a:noFill/>
          <a:ln/>
        </p:spPr>
        <p:txBody>
          <a:bodyPr wrap="square" lIns="0" tIns="0" rIns="0" bIns="0" rtlCol="0" anchor="ctr"/>
          <a:lstStyle/>
          <a:p>
            <a:pPr marL="0" indent="0">
              <a:buNone/>
            </a:pPr>
            <a:r>
              <a:rPr lang="en-US" sz="1100" b="1" dirty="0">
                <a:solidFill>
                  <a:srgbClr val="17BDA0"/>
                </a:solidFill>
              </a:rPr>
              <a:t>Ensemble Methods</a:t>
            </a:r>
            <a:endParaRPr lang="en-US" sz="1100" b="1" dirty="0"/>
          </a:p>
        </p:txBody>
      </p:sp>
      <p:sp>
        <p:nvSpPr>
          <p:cNvPr id="26" name="Text 24"/>
          <p:cNvSpPr/>
          <p:nvPr/>
        </p:nvSpPr>
        <p:spPr>
          <a:xfrm>
            <a:off x="4828032" y="2532888"/>
            <a:ext cx="3749040" cy="201168"/>
          </a:xfrm>
          <a:prstGeom prst="rect">
            <a:avLst/>
          </a:prstGeom>
          <a:noFill/>
          <a:ln/>
        </p:spPr>
        <p:txBody>
          <a:bodyPr wrap="square" lIns="0" tIns="0" rIns="0" bIns="0" rtlCol="0" anchor="ctr"/>
          <a:lstStyle/>
          <a:p>
            <a:pPr marL="0" indent="0">
              <a:buNone/>
            </a:pPr>
            <a:r>
              <a:rPr lang="en-US" sz="1050" b="1" dirty="0">
                <a:solidFill>
                  <a:srgbClr val="8BA0BC"/>
                </a:solidFill>
              </a:rPr>
              <a:t>Random Forest or XGBoost for potentially better F1.</a:t>
            </a:r>
            <a:endParaRPr lang="en-US" sz="1050" b="1" dirty="0"/>
          </a:p>
        </p:txBody>
      </p:sp>
      <p:sp>
        <p:nvSpPr>
          <p:cNvPr id="27" name="Shape 25"/>
          <p:cNvSpPr/>
          <p:nvPr/>
        </p:nvSpPr>
        <p:spPr>
          <a:xfrm>
            <a:off x="4709160" y="2880360"/>
            <a:ext cx="54864" cy="292608"/>
          </a:xfrm>
          <a:prstGeom prst="rect">
            <a:avLst/>
          </a:prstGeom>
          <a:solidFill>
            <a:srgbClr val="0F7E6E"/>
          </a:solidFill>
          <a:ln w="12700">
            <a:solidFill>
              <a:srgbClr val="0F7E6E"/>
            </a:solidFill>
            <a:prstDash val="solid"/>
          </a:ln>
        </p:spPr>
        <p:txBody>
          <a:bodyPr/>
          <a:lstStyle/>
          <a:p>
            <a:endParaRPr lang="en-NZ" sz="2400" b="1"/>
          </a:p>
        </p:txBody>
      </p:sp>
      <p:sp>
        <p:nvSpPr>
          <p:cNvPr id="28" name="Text 26"/>
          <p:cNvSpPr/>
          <p:nvPr/>
        </p:nvSpPr>
        <p:spPr>
          <a:xfrm>
            <a:off x="4828032" y="2871216"/>
            <a:ext cx="3749040" cy="201168"/>
          </a:xfrm>
          <a:prstGeom prst="rect">
            <a:avLst/>
          </a:prstGeom>
          <a:noFill/>
          <a:ln/>
        </p:spPr>
        <p:txBody>
          <a:bodyPr wrap="square" lIns="0" tIns="0" rIns="0" bIns="0" rtlCol="0" anchor="ctr"/>
          <a:lstStyle/>
          <a:p>
            <a:pPr marL="0" indent="0">
              <a:buNone/>
            </a:pPr>
            <a:r>
              <a:rPr lang="en-US" sz="1100" b="1" dirty="0">
                <a:solidFill>
                  <a:srgbClr val="17BDA0"/>
                </a:solidFill>
              </a:rPr>
              <a:t>Cross-Validation</a:t>
            </a:r>
            <a:endParaRPr lang="en-US" sz="1100" b="1" dirty="0"/>
          </a:p>
        </p:txBody>
      </p:sp>
      <p:sp>
        <p:nvSpPr>
          <p:cNvPr id="29" name="Text 27"/>
          <p:cNvSpPr/>
          <p:nvPr/>
        </p:nvSpPr>
        <p:spPr>
          <a:xfrm>
            <a:off x="4828032" y="3063240"/>
            <a:ext cx="3749040" cy="201168"/>
          </a:xfrm>
          <a:prstGeom prst="rect">
            <a:avLst/>
          </a:prstGeom>
          <a:noFill/>
          <a:ln/>
        </p:spPr>
        <p:txBody>
          <a:bodyPr wrap="square" lIns="0" tIns="0" rIns="0" bIns="0" rtlCol="0" anchor="ctr"/>
          <a:lstStyle/>
          <a:p>
            <a:pPr marL="0" indent="0">
              <a:buNone/>
            </a:pPr>
            <a:r>
              <a:rPr lang="en-US" sz="1050" b="1" dirty="0">
                <a:solidFill>
                  <a:srgbClr val="8BA0BC"/>
                </a:solidFill>
              </a:rPr>
              <a:t>k-fold CV for more robust performance estimates.</a:t>
            </a:r>
            <a:endParaRPr lang="en-US" sz="1050" b="1" dirty="0"/>
          </a:p>
        </p:txBody>
      </p:sp>
      <p:sp>
        <p:nvSpPr>
          <p:cNvPr id="30" name="Shape 28"/>
          <p:cNvSpPr/>
          <p:nvPr/>
        </p:nvSpPr>
        <p:spPr>
          <a:xfrm>
            <a:off x="4709160" y="3410712"/>
            <a:ext cx="54864" cy="292608"/>
          </a:xfrm>
          <a:prstGeom prst="rect">
            <a:avLst/>
          </a:prstGeom>
          <a:solidFill>
            <a:srgbClr val="0F7E6E"/>
          </a:solidFill>
          <a:ln w="12700">
            <a:solidFill>
              <a:srgbClr val="0F7E6E"/>
            </a:solidFill>
            <a:prstDash val="solid"/>
          </a:ln>
        </p:spPr>
        <p:txBody>
          <a:bodyPr/>
          <a:lstStyle/>
          <a:p>
            <a:endParaRPr lang="en-NZ" sz="2400" b="1"/>
          </a:p>
        </p:txBody>
      </p:sp>
      <p:sp>
        <p:nvSpPr>
          <p:cNvPr id="31" name="Text 29"/>
          <p:cNvSpPr/>
          <p:nvPr/>
        </p:nvSpPr>
        <p:spPr>
          <a:xfrm>
            <a:off x="4828032" y="3401568"/>
            <a:ext cx="3749040" cy="201168"/>
          </a:xfrm>
          <a:prstGeom prst="rect">
            <a:avLst/>
          </a:prstGeom>
          <a:noFill/>
          <a:ln/>
        </p:spPr>
        <p:txBody>
          <a:bodyPr wrap="square" lIns="0" tIns="0" rIns="0" bIns="0" rtlCol="0" anchor="ctr"/>
          <a:lstStyle/>
          <a:p>
            <a:pPr marL="0" indent="0">
              <a:buNone/>
            </a:pPr>
            <a:r>
              <a:rPr lang="en-US" sz="1100" b="1" dirty="0">
                <a:solidFill>
                  <a:srgbClr val="17BDA0"/>
                </a:solidFill>
              </a:rPr>
              <a:t>Feature Engineering</a:t>
            </a:r>
            <a:endParaRPr lang="en-US" sz="1100" b="1" dirty="0"/>
          </a:p>
        </p:txBody>
      </p:sp>
      <p:sp>
        <p:nvSpPr>
          <p:cNvPr id="32" name="Text 30"/>
          <p:cNvSpPr/>
          <p:nvPr/>
        </p:nvSpPr>
        <p:spPr>
          <a:xfrm>
            <a:off x="4828032" y="3593592"/>
            <a:ext cx="3749040" cy="201168"/>
          </a:xfrm>
          <a:prstGeom prst="rect">
            <a:avLst/>
          </a:prstGeom>
          <a:noFill/>
          <a:ln/>
        </p:spPr>
        <p:txBody>
          <a:bodyPr wrap="square" lIns="0" tIns="0" rIns="0" bIns="0" rtlCol="0" anchor="ctr"/>
          <a:lstStyle/>
          <a:p>
            <a:pPr marL="0" indent="0">
              <a:buNone/>
            </a:pPr>
            <a:r>
              <a:rPr lang="en-US" sz="1050" b="1" dirty="0">
                <a:solidFill>
                  <a:srgbClr val="8BA0BC"/>
                </a:solidFill>
              </a:rPr>
              <a:t>Create interaction features from top correlated PCA components.</a:t>
            </a:r>
            <a:endParaRPr lang="en-US" sz="1050" b="1" dirty="0"/>
          </a:p>
        </p:txBody>
      </p:sp>
      <p:sp>
        <p:nvSpPr>
          <p:cNvPr id="33" name="Shape 31"/>
          <p:cNvSpPr/>
          <p:nvPr/>
        </p:nvSpPr>
        <p:spPr>
          <a:xfrm>
            <a:off x="4709160" y="3941064"/>
            <a:ext cx="54864" cy="292608"/>
          </a:xfrm>
          <a:prstGeom prst="rect">
            <a:avLst/>
          </a:prstGeom>
          <a:solidFill>
            <a:srgbClr val="0F7E6E"/>
          </a:solidFill>
          <a:ln w="12700">
            <a:solidFill>
              <a:srgbClr val="0F7E6E"/>
            </a:solidFill>
            <a:prstDash val="solid"/>
          </a:ln>
        </p:spPr>
        <p:txBody>
          <a:bodyPr/>
          <a:lstStyle/>
          <a:p>
            <a:endParaRPr lang="en-NZ" sz="2400" b="1"/>
          </a:p>
        </p:txBody>
      </p:sp>
      <p:sp>
        <p:nvSpPr>
          <p:cNvPr id="34" name="Text 32"/>
          <p:cNvSpPr/>
          <p:nvPr/>
        </p:nvSpPr>
        <p:spPr>
          <a:xfrm>
            <a:off x="4828032" y="3931920"/>
            <a:ext cx="3749040" cy="201168"/>
          </a:xfrm>
          <a:prstGeom prst="rect">
            <a:avLst/>
          </a:prstGeom>
          <a:noFill/>
          <a:ln/>
        </p:spPr>
        <p:txBody>
          <a:bodyPr wrap="square" lIns="0" tIns="0" rIns="0" bIns="0" rtlCol="0" anchor="ctr"/>
          <a:lstStyle/>
          <a:p>
            <a:pPr marL="0" indent="0">
              <a:buNone/>
            </a:pPr>
            <a:r>
              <a:rPr lang="en-US" sz="1100" b="1" dirty="0">
                <a:solidFill>
                  <a:srgbClr val="17BDA0"/>
                </a:solidFill>
              </a:rPr>
              <a:t>Real-Time Pipeline</a:t>
            </a:r>
            <a:endParaRPr lang="en-US" sz="1100" b="1" dirty="0"/>
          </a:p>
        </p:txBody>
      </p:sp>
      <p:sp>
        <p:nvSpPr>
          <p:cNvPr id="35" name="Text 33"/>
          <p:cNvSpPr/>
          <p:nvPr/>
        </p:nvSpPr>
        <p:spPr>
          <a:xfrm>
            <a:off x="4828032" y="4123944"/>
            <a:ext cx="3749040" cy="201168"/>
          </a:xfrm>
          <a:prstGeom prst="rect">
            <a:avLst/>
          </a:prstGeom>
          <a:noFill/>
          <a:ln/>
        </p:spPr>
        <p:txBody>
          <a:bodyPr wrap="square" lIns="0" tIns="0" rIns="0" bIns="0" rtlCol="0" anchor="ctr"/>
          <a:lstStyle/>
          <a:p>
            <a:pPr marL="0" indent="0">
              <a:buNone/>
            </a:pPr>
            <a:r>
              <a:rPr lang="en-US" sz="1050" b="1" dirty="0">
                <a:solidFill>
                  <a:srgbClr val="8BA0BC"/>
                </a:solidFill>
              </a:rPr>
              <a:t>Deploy model as REST API for live transaction scoring.</a:t>
            </a:r>
            <a:endParaRPr lang="en-US" sz="1050"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1000</Words>
  <Application>Microsoft Office PowerPoint</Application>
  <PresentationFormat>On-screen Show (16:9)</PresentationFormat>
  <Paragraphs>201</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Fraud Detection using SVM</dc:title>
  <dc:subject>PptxGenJS Presentation</dc:subject>
  <dc:creator>PptxGenJS</dc:creator>
  <cp:lastModifiedBy>BENJELYN Patiag</cp:lastModifiedBy>
  <cp:revision>18</cp:revision>
  <dcterms:created xsi:type="dcterms:W3CDTF">2026-05-28T11:02:14Z</dcterms:created>
  <dcterms:modified xsi:type="dcterms:W3CDTF">2026-05-28T23:34:55Z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96ed6d7-747c-41fd-b042-ff14484edc24_Enabled">
    <vt:lpwstr>true</vt:lpwstr>
  </property>
  <property fmtid="{D5CDD505-2E9C-101B-9397-08002B2CF9AE}" pid="3" name="MSIP_Label_c96ed6d7-747c-41fd-b042-ff14484edc24_SetDate">
    <vt:lpwstr>2026-05-28T11:28:48Z</vt:lpwstr>
  </property>
  <property fmtid="{D5CDD505-2E9C-101B-9397-08002B2CF9AE}" pid="4" name="MSIP_Label_c96ed6d7-747c-41fd-b042-ff14484edc24_Method">
    <vt:lpwstr>Standard</vt:lpwstr>
  </property>
  <property fmtid="{D5CDD505-2E9C-101B-9397-08002B2CF9AE}" pid="5" name="MSIP_Label_c96ed6d7-747c-41fd-b042-ff14484edc24_Name">
    <vt:lpwstr>defa4170-0d19-0005-0004-bc88714345d2</vt:lpwstr>
  </property>
  <property fmtid="{D5CDD505-2E9C-101B-9397-08002B2CF9AE}" pid="6" name="MSIP_Label_c96ed6d7-747c-41fd-b042-ff14484edc24_SiteId">
    <vt:lpwstr>6a425d0d-58f2-4e36-8689-10002b2ec567</vt:lpwstr>
  </property>
  <property fmtid="{D5CDD505-2E9C-101B-9397-08002B2CF9AE}" pid="7" name="MSIP_Label_c96ed6d7-747c-41fd-b042-ff14484edc24_ActionId">
    <vt:lpwstr>4e935b10-6143-446f-83d7-d20c79d50e2c</vt:lpwstr>
  </property>
  <property fmtid="{D5CDD505-2E9C-101B-9397-08002B2CF9AE}" pid="8" name="MSIP_Label_c96ed6d7-747c-41fd-b042-ff14484edc24_ContentBits">
    <vt:lpwstr>0</vt:lpwstr>
  </property>
  <property fmtid="{D5CDD505-2E9C-101B-9397-08002B2CF9AE}" pid="9" name="MSIP_Label_c96ed6d7-747c-41fd-b042-ff14484edc24_Tag">
    <vt:lpwstr>10, 3, 0, 1</vt:lpwstr>
  </property>
</Properties>
</file>
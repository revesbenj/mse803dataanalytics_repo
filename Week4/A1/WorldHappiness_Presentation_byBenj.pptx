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18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369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83B8-A36C-2711-59D9-6471A190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855F5-5487-CE23-1FE0-F29AF8374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C380A-3D14-5D33-024B-97EF64A80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8B3E5-F282-A4FB-CDDA-C56E9BB5D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97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10DE8-08FE-FE5C-0986-E789A4E1B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B5219-059F-102D-B72F-C78A4F753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994DB-D76E-F989-2573-293297143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D4C8B-9473-F58E-F1C9-6B2B0F548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6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7680960" y="1005840"/>
            <a:ext cx="146304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373218" y="3307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2E"/>
                </a:solidFill>
              </a:rPr>
              <a:t>World Happiness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73218" y="71887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A9D8F"/>
                </a:solidFill>
              </a:rPr>
              <a:t>Dataset Analysis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73218" y="1633274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4748B"/>
                </a:solidFill>
              </a:rPr>
              <a:t>Exploring what makes countries happy, data cleaning, outlier detection,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64748B"/>
                </a:solidFill>
              </a:rPr>
              <a:t>correlation analysis, and visual insights across 20 countries.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3218" y="2593394"/>
            <a:ext cx="1828800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 sz="3200"/>
          </a:p>
        </p:txBody>
      </p:sp>
      <p:sp>
        <p:nvSpPr>
          <p:cNvPr id="9" name="Shape 7"/>
          <p:cNvSpPr/>
          <p:nvPr/>
        </p:nvSpPr>
        <p:spPr>
          <a:xfrm>
            <a:off x="373218" y="2593394"/>
            <a:ext cx="54864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 sz="3200"/>
          </a:p>
        </p:txBody>
      </p:sp>
      <p:sp>
        <p:nvSpPr>
          <p:cNvPr id="10" name="Text 8"/>
          <p:cNvSpPr/>
          <p:nvPr/>
        </p:nvSpPr>
        <p:spPr>
          <a:xfrm>
            <a:off x="510378" y="263911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</a:rPr>
              <a:t>20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10378" y="296829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Countries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30618" y="2593394"/>
            <a:ext cx="1828800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 sz="3200"/>
          </a:p>
        </p:txBody>
      </p:sp>
      <p:sp>
        <p:nvSpPr>
          <p:cNvPr id="13" name="Shape 11"/>
          <p:cNvSpPr/>
          <p:nvPr/>
        </p:nvSpPr>
        <p:spPr>
          <a:xfrm>
            <a:off x="2430618" y="2593394"/>
            <a:ext cx="54864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 sz="3200"/>
          </a:p>
        </p:txBody>
      </p:sp>
      <p:sp>
        <p:nvSpPr>
          <p:cNvPr id="14" name="Text 12"/>
          <p:cNvSpPr/>
          <p:nvPr/>
        </p:nvSpPr>
        <p:spPr>
          <a:xfrm>
            <a:off x="2567778" y="263911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</a:rPr>
              <a:t>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7778" y="296829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8018" y="2593394"/>
            <a:ext cx="1828800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 sz="3200"/>
          </a:p>
        </p:txBody>
      </p:sp>
      <p:sp>
        <p:nvSpPr>
          <p:cNvPr id="17" name="Shape 15"/>
          <p:cNvSpPr/>
          <p:nvPr/>
        </p:nvSpPr>
        <p:spPr>
          <a:xfrm>
            <a:off x="4488018" y="2593394"/>
            <a:ext cx="54864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 sz="3200"/>
          </a:p>
        </p:txBody>
      </p:sp>
      <p:sp>
        <p:nvSpPr>
          <p:cNvPr id="18" name="Text 16"/>
          <p:cNvSpPr/>
          <p:nvPr/>
        </p:nvSpPr>
        <p:spPr>
          <a:xfrm>
            <a:off x="4625178" y="263911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</a:rPr>
              <a:t>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25178" y="296829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Outliers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45418" y="2593394"/>
            <a:ext cx="1828800" cy="822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 sz="3200"/>
          </a:p>
        </p:txBody>
      </p:sp>
      <p:sp>
        <p:nvSpPr>
          <p:cNvPr id="21" name="Shape 19"/>
          <p:cNvSpPr/>
          <p:nvPr/>
        </p:nvSpPr>
        <p:spPr>
          <a:xfrm>
            <a:off x="6545418" y="2593394"/>
            <a:ext cx="54864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 sz="3200"/>
          </a:p>
        </p:txBody>
      </p:sp>
      <p:sp>
        <p:nvSpPr>
          <p:cNvPr id="22" name="Text 20"/>
          <p:cNvSpPr/>
          <p:nvPr/>
        </p:nvSpPr>
        <p:spPr>
          <a:xfrm>
            <a:off x="6682578" y="263911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2E"/>
                </a:solidFill>
              </a:rPr>
              <a:t>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682578" y="296829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Missing</a:t>
            </a:r>
            <a:endParaRPr lang="en-US" sz="12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0B2819A-47B6-921F-E297-67B7C9571423}"/>
              </a:ext>
            </a:extLst>
          </p:cNvPr>
          <p:cNvSpPr/>
          <p:nvPr/>
        </p:nvSpPr>
        <p:spPr>
          <a:xfrm>
            <a:off x="510378" y="4029002"/>
            <a:ext cx="313943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NZ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Subject: MSE803 Data Analytics</a:t>
            </a:r>
          </a:p>
          <a:p>
            <a:r>
              <a:rPr lang="en-NZ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 Dr. Mohammad </a:t>
            </a:r>
            <a:r>
              <a:rPr lang="en-NZ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Norouzifard</a:t>
            </a:r>
            <a:endParaRPr lang="en-NZ" sz="12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FF1B3C2-18C7-145A-BB50-0AAD65396292}"/>
              </a:ext>
            </a:extLst>
          </p:cNvPr>
          <p:cNvSpPr/>
          <p:nvPr/>
        </p:nvSpPr>
        <p:spPr>
          <a:xfrm>
            <a:off x="510378" y="3745538"/>
            <a:ext cx="292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Benjelyn Reves Patiag  -  6 May 2026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E"/>
                </a:solidFill>
              </a:rPr>
              <a:t>Data Cleaning &amp; Outlier Detection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548640" y="996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</a:rPr>
              <a:t>✓ Duplicate Check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No duplicate rows found across 20 records.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11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</a:rPr>
              <a:t>✓ Whitespace Strip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Trimmed string columns (Country names).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25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</a:rPr>
              <a:t>✓ Missing Values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0 missing values — all 160 cells are complete.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</a:rPr>
              <a:t>✓ Outlier Detection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Applied IQR × 1.5 rule to all 7 numeric columns. No outliers detected in any column.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</a:rPr>
              <a:t>Dataset Summary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80160"/>
          <a:ext cx="3931920" cy="32186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Happiness_Score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GDP_per_Capita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Social_Support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Life_Expectancy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Generosity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846320" y="1280160"/>
            <a:ext cx="3931920" cy="40233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Text 20"/>
          <p:cNvSpPr/>
          <p:nvPr/>
        </p:nvSpPr>
        <p:spPr>
          <a:xfrm>
            <a:off x="4892040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Column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903720" y="12984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818120" y="12984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Clean?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7" name="Text 24"/>
          <p:cNvSpPr/>
          <p:nvPr/>
        </p:nvSpPr>
        <p:spPr>
          <a:xfrm>
            <a:off x="457200" y="4636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6000"/>
                </a:solidFill>
              </a:rPr>
              <a:t>IQR Method:  Outlier if  value &lt; Q1 − 1.5×IQR  or  value &gt; Q3 + 1.5×IQR:  </a:t>
            </a:r>
            <a:r>
              <a:rPr lang="en-US" sz="900" b="1" i="1" dirty="0">
                <a:solidFill>
                  <a:srgbClr val="7B6000"/>
                </a:solidFill>
              </a:rPr>
              <a:t>No outliers found in any of the 7 numeric columns.</a:t>
            </a:r>
            <a:endParaRPr lang="en-US" sz="9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</a:rPr>
              <a:t>Happiness Rankings &amp; Economic Comparison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612648"/>
            <a:ext cx="841248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0"/>
            <a:ext cx="42062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9776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Happiness Score by Country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731520"/>
            <a:ext cx="420624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160" y="39776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GDP per Capita vs Happiness Score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5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Key Insight: </a:t>
            </a:r>
            <a:r>
              <a:rPr lang="en-US" sz="950" dirty="0">
                <a:solidFill>
                  <a:srgbClr val="64748B"/>
                </a:solidFill>
              </a:rPr>
              <a:t>Canada ranks highest (7.34); South Africa lowest (3.53). GDP has almost no linear relationship with happiness in this sample (r ≈ 0.01), suggesting economic output alone does not determine wellbeing.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</a:rPr>
              <a:t>Feature Comparison &amp; Correlation Analysis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612648"/>
            <a:ext cx="841248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0"/>
            <a:ext cx="48463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7947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Top 5 vs Bottom 5 Happiest Countries — Feature Averages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731520"/>
            <a:ext cx="374904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6360" y="3794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Pearson Correlation Heatmap (all features)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5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Key Insight: </a:t>
            </a:r>
            <a:r>
              <a:rPr lang="en-US" sz="950" dirty="0">
                <a:solidFill>
                  <a:srgbClr val="64748B"/>
                </a:solidFill>
              </a:rPr>
              <a:t>Top-5 countries score higher on Life Expectancy and Social Support. The heatmap confirms that higher Corruption Perceptions most strongly reduces happiness (r = −0.34), while Life Expectancy is the top positive predictor (r = +0.16).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1A2E"/>
                </a:solidFill>
              </a:rPr>
              <a:t>Summary of Findings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04088"/>
            <a:ext cx="841248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0698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Data Quality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" y="1444752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No missing values and no outliers detected across all 20 countries and 7 numeric features.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329184" cy="3291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13" name="Text 11"/>
          <p:cNvSpPr/>
          <p:nvPr/>
        </p:nvSpPr>
        <p:spPr>
          <a:xfrm>
            <a:off x="324612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0698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Top Performer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64408" y="1444752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Canada leads with a happiness score of 7.34, while South Africa scores lowest at 3.53.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329184" cy="329184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19" name="Text 17"/>
          <p:cNvSpPr/>
          <p:nvPr/>
        </p:nvSpPr>
        <p:spPr>
          <a:xfrm>
            <a:off x="603504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0698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GDP vs Happiness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53328" y="1444752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GDP per capita shows almost no linear correlation with happiness (r = 0.01) in this dataset.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" y="2839212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25" name="Text 23"/>
          <p:cNvSpPr/>
          <p:nvPr/>
        </p:nvSpPr>
        <p:spPr>
          <a:xfrm>
            <a:off x="438912" y="28392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" y="28575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Corruption Impact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3232404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Perceptions of Corruption has the strongest negative correlation with happiness (r = −0.34).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27832" y="2839212"/>
            <a:ext cx="329184" cy="32918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31" name="Text 29"/>
          <p:cNvSpPr/>
          <p:nvPr/>
        </p:nvSpPr>
        <p:spPr>
          <a:xfrm>
            <a:off x="3227832" y="28392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39312" y="28575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Life Expectancy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246120" y="3232404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Healthy Life Expectancy is the strongest positive predictor of happiness (r = +0.16).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16752" y="2839212"/>
            <a:ext cx="329184" cy="329184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37" name="Text 35"/>
          <p:cNvSpPr/>
          <p:nvPr/>
        </p:nvSpPr>
        <p:spPr>
          <a:xfrm>
            <a:off x="6016752" y="28392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28232" y="28575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Top vs Bottom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035040" y="3232404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Happiest countries consistently score higher on Social Support and Life Expectancy than least happy ones.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29597-C0DF-62EF-8983-D15BA56A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55B1A8-9E6A-6150-9D60-32A15DC69848}"/>
              </a:ext>
            </a:extLst>
          </p:cNvPr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394B6F-5F99-F027-83E2-F08B61F06E0B}"/>
              </a:ext>
            </a:extLst>
          </p:cNvPr>
          <p:cNvSpPr/>
          <p:nvPr/>
        </p:nvSpPr>
        <p:spPr>
          <a:xfrm>
            <a:off x="365760" y="704088"/>
            <a:ext cx="841248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99BC5C8-F033-073D-9FAA-26AE25C11568}"/>
              </a:ext>
            </a:extLst>
          </p:cNvPr>
          <p:cNvSpPr/>
          <p:nvPr/>
        </p:nvSpPr>
        <p:spPr>
          <a:xfrm>
            <a:off x="438912" y="1005332"/>
            <a:ext cx="329184" cy="32918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E6535F-4A58-7313-8650-8B025048FF2F}"/>
              </a:ext>
            </a:extLst>
          </p:cNvPr>
          <p:cNvSpPr/>
          <p:nvPr/>
        </p:nvSpPr>
        <p:spPr>
          <a:xfrm>
            <a:off x="438912" y="10053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5CDFCB9-0B19-EB4E-E44A-7AA7302651CE}"/>
              </a:ext>
            </a:extLst>
          </p:cNvPr>
          <p:cNvSpPr/>
          <p:nvPr/>
        </p:nvSpPr>
        <p:spPr>
          <a:xfrm>
            <a:off x="438912" y="1725677"/>
            <a:ext cx="329184" cy="3291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6CDF324-1783-0900-51D4-85221430B562}"/>
              </a:ext>
            </a:extLst>
          </p:cNvPr>
          <p:cNvSpPr/>
          <p:nvPr/>
        </p:nvSpPr>
        <p:spPr>
          <a:xfrm>
            <a:off x="438912" y="17256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BC8BD01-96FF-F86C-75BC-C86E47F61D66}"/>
              </a:ext>
            </a:extLst>
          </p:cNvPr>
          <p:cNvSpPr/>
          <p:nvPr/>
        </p:nvSpPr>
        <p:spPr>
          <a:xfrm>
            <a:off x="457200" y="2356973"/>
            <a:ext cx="329184" cy="329184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16A27C-A0AB-9810-009B-E607E630D8D1}"/>
              </a:ext>
            </a:extLst>
          </p:cNvPr>
          <p:cNvSpPr/>
          <p:nvPr/>
        </p:nvSpPr>
        <p:spPr>
          <a:xfrm>
            <a:off x="457200" y="235697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33A9C73-8738-7252-FE7E-8CC18DD1823A}"/>
              </a:ext>
            </a:extLst>
          </p:cNvPr>
          <p:cNvSpPr/>
          <p:nvPr/>
        </p:nvSpPr>
        <p:spPr>
          <a:xfrm>
            <a:off x="438912" y="3015340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1E6F1EB-6C9A-1843-5B70-414517EBF811}"/>
              </a:ext>
            </a:extLst>
          </p:cNvPr>
          <p:cNvSpPr/>
          <p:nvPr/>
        </p:nvSpPr>
        <p:spPr>
          <a:xfrm>
            <a:off x="438912" y="3015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E96CBF0-44ED-ADA9-B4A9-A9143FA0194A}"/>
              </a:ext>
            </a:extLst>
          </p:cNvPr>
          <p:cNvSpPr/>
          <p:nvPr/>
        </p:nvSpPr>
        <p:spPr>
          <a:xfrm>
            <a:off x="786384" y="596766"/>
            <a:ext cx="8412480" cy="4081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dirty="0">
                <a:solidFill>
                  <a:srgbClr val="1A1A2E"/>
                </a:solidFill>
              </a:rPr>
              <a:t>The dataset is clean and complete, ensuring reliable and valid analysis results.</a:t>
            </a:r>
          </a:p>
          <a:p>
            <a:r>
              <a:rPr lang="en-US" sz="2200" dirty="0">
                <a:solidFill>
                  <a:srgbClr val="1A1A2E"/>
                </a:solidFill>
              </a:rPr>
              <a:t>GDP per capita shows very weak correlation with happiness, indicating limited influence.</a:t>
            </a:r>
          </a:p>
          <a:p>
            <a:r>
              <a:rPr lang="en-US" sz="2200" dirty="0">
                <a:solidFill>
                  <a:srgbClr val="1A1A2E"/>
                </a:solidFill>
              </a:rPr>
              <a:t>Social support and life expectancy are key positive factors contributing to higher happiness levels.</a:t>
            </a:r>
          </a:p>
          <a:p>
            <a:r>
              <a:rPr lang="en-US" sz="2200" dirty="0">
                <a:solidFill>
                  <a:srgbClr val="1A1A2E"/>
                </a:solidFill>
              </a:rPr>
              <a:t>Perception of corruption has a negative impact on happiness across countries.</a:t>
            </a:r>
          </a:p>
          <a:p>
            <a:r>
              <a:rPr lang="en-US" sz="2200" dirty="0">
                <a:solidFill>
                  <a:srgbClr val="1A1A2E"/>
                </a:solidFill>
              </a:rPr>
              <a:t>Overall, happiness is influenced by multiple factors, not only economic performance.</a:t>
            </a:r>
            <a:endParaRPr lang="en-US" sz="2200" dirty="0"/>
          </a:p>
        </p:txBody>
      </p:sp>
      <p:sp>
        <p:nvSpPr>
          <p:cNvPr id="17" name="Shape 28">
            <a:extLst>
              <a:ext uri="{FF2B5EF4-FFF2-40B4-BE49-F238E27FC236}">
                <a16:creationId xmlns:a16="http://schemas.microsoft.com/office/drawing/2014/main" id="{581EB12E-4CAC-E96E-FA3B-7E7F2B8BA5D0}"/>
              </a:ext>
            </a:extLst>
          </p:cNvPr>
          <p:cNvSpPr/>
          <p:nvPr/>
        </p:nvSpPr>
        <p:spPr>
          <a:xfrm>
            <a:off x="457200" y="3708614"/>
            <a:ext cx="329184" cy="32918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NZ" sz="3600"/>
          </a:p>
        </p:txBody>
      </p:sp>
      <p:sp>
        <p:nvSpPr>
          <p:cNvPr id="22" name="Text 29">
            <a:extLst>
              <a:ext uri="{FF2B5EF4-FFF2-40B4-BE49-F238E27FC236}">
                <a16:creationId xmlns:a16="http://schemas.microsoft.com/office/drawing/2014/main" id="{6A6AA88F-CE47-F43A-24D7-045BE3BECCA8}"/>
              </a:ext>
            </a:extLst>
          </p:cNvPr>
          <p:cNvSpPr/>
          <p:nvPr/>
        </p:nvSpPr>
        <p:spPr>
          <a:xfrm>
            <a:off x="457200" y="37086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1806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0BF66-30FF-932F-FAB3-66643890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7B4026-8EE7-2CEE-D579-81798EFD716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692903-3C62-C657-D4AD-C06FB198FCFF}"/>
              </a:ext>
            </a:extLst>
          </p:cNvPr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02079B-0BEC-C582-FD97-6D0A49B9722E}"/>
              </a:ext>
            </a:extLst>
          </p:cNvPr>
          <p:cNvSpPr/>
          <p:nvPr/>
        </p:nvSpPr>
        <p:spPr>
          <a:xfrm>
            <a:off x="7680960" y="1005840"/>
            <a:ext cx="146304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9647AE-8706-F8F2-E8A8-64BC9B41C826}"/>
              </a:ext>
            </a:extLst>
          </p:cNvPr>
          <p:cNvSpPr/>
          <p:nvPr/>
        </p:nvSpPr>
        <p:spPr>
          <a:xfrm>
            <a:off x="519268" y="216027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1A1A2E"/>
                </a:solidFill>
                <a:latin typeface="Brush Script MT" panose="03060802040406070304" pitchFamily="66" charset="0"/>
              </a:rPr>
              <a:t>Thank you!</a:t>
            </a:r>
            <a:endParaRPr lang="en-US" sz="96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48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515</Words>
  <Application>Microsoft Office PowerPoint</Application>
  <PresentationFormat>On-screen Show (16:9)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Brush Script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Happiness Analysis</dc:title>
  <dc:subject>PptxGenJS Presentation</dc:subject>
  <dc:creator>PptxGenJS</dc:creator>
  <cp:lastModifiedBy>BENJELYN Patiag</cp:lastModifiedBy>
  <cp:revision>8</cp:revision>
  <dcterms:created xsi:type="dcterms:W3CDTF">2026-05-03T11:18:32Z</dcterms:created>
  <dcterms:modified xsi:type="dcterms:W3CDTF">2026-05-06T06:03:50Z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2026-05-03T11:26:57Z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19db2774-1181-4c01-bc72-1874eb327bc8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
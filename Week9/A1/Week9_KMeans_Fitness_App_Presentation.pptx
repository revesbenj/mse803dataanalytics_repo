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60" r:id="rId3"/>
    <p:sldId id="256" r:id="rId4"/>
    <p:sldId id="257" r:id="rId5"/>
    <p:sldId id="258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94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0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9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Week 9 Activity 1</a:t>
            </a:r>
          </a:p>
          <a:p>
            <a:r>
              <a:rPr dirty="0"/>
              <a:t>K-Means Clustering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Fitness App User Data</a:t>
            </a:r>
          </a:p>
          <a:p>
            <a:r>
              <a:rPr dirty="0"/>
              <a:t>Data Cleaning, Clustering and Insights</a:t>
            </a:r>
            <a:endParaRPr lang="en-NZ" dirty="0"/>
          </a:p>
          <a:p>
            <a:r>
              <a:rPr lang="en-NZ" sz="1600" dirty="0">
                <a:solidFill>
                  <a:schemeClr val="accent4">
                    <a:lumMod val="75000"/>
                  </a:schemeClr>
                </a:solidFill>
              </a:rPr>
              <a:t>Benjelyn Reves Patiag</a:t>
            </a:r>
            <a:endParaRPr sz="16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F8525A-D2FE-0A49-C058-25FEC0427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C76C8B-BE7E-D30E-62E4-99A8C0774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1DA31A1-FE4F-1539-E1A6-F7FB179B5C5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Z"/>
              <a:t>Dataset Preparation</a:t>
            </a:r>
            <a:endParaRPr lang="en-N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6329DF-4B98-7E35-6EFF-18C357C5744C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• Records </a:t>
            </a:r>
            <a:r>
              <a:rPr lang="en-US" dirty="0" err="1"/>
              <a:t>analysed</a:t>
            </a:r>
            <a:r>
              <a:rPr lang="en-US" dirty="0"/>
              <a:t>: 200</a:t>
            </a:r>
          </a:p>
          <a:p>
            <a:pPr marL="0" indent="0">
              <a:buNone/>
            </a:pPr>
            <a:r>
              <a:rPr lang="en-US" dirty="0"/>
              <a:t>• Removed duplicate records</a:t>
            </a:r>
          </a:p>
          <a:p>
            <a:pPr marL="0" indent="0">
              <a:buNone/>
            </a:pPr>
            <a:r>
              <a:rPr lang="en-US" dirty="0"/>
              <a:t>• Checked and handled missing values</a:t>
            </a:r>
          </a:p>
          <a:p>
            <a:pPr marL="0" indent="0">
              <a:buNone/>
            </a:pPr>
            <a:r>
              <a:rPr lang="en-US" dirty="0"/>
              <a:t>• Converted incorrect data types where needed</a:t>
            </a:r>
          </a:p>
          <a:p>
            <a:pPr marL="0" indent="0">
              <a:buNone/>
            </a:pPr>
            <a:r>
              <a:rPr lang="en-US" dirty="0"/>
              <a:t>• Selected numerical attributes for clustering</a:t>
            </a:r>
          </a:p>
          <a:p>
            <a:pPr marL="0" indent="0">
              <a:buNone/>
            </a:pPr>
            <a:r>
              <a:rPr lang="en-US" dirty="0"/>
              <a:t>• Standardized features before K-Means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Fitness App User Clustering using K-Means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Data cleaning, K-Means clustering, and cluster insights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Goal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44752"/>
            <a:ext cx="42062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Group similar fitness app users based on activity behaviour, then explain which group needs more engagement.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200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original rows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23317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EAF7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3063240" y="24688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199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63240" y="28346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clean rows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K = 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selected clusters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342900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3063240" y="35661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29%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63240" y="39319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highest churn cluster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4709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Cleaning steps completed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029200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No missing values found. No duplicate rows removed. One invalid row was removed because session duration was negative. Text categories were standardised and numeric columns were checked.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10789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Evidence: data cleaning summary</a:t>
            </a:r>
            <a:endParaRPr lang="en-US" sz="1300" dirty="0"/>
          </a:p>
        </p:txBody>
      </p:sp>
      <p:pic>
        <p:nvPicPr>
          <p:cNvPr id="21" name="Image 0" descr="outputs/figures/01_data_cleaning_summary.png"/>
          <p:cNvPicPr>
            <a:picLocks noChangeAspect="1"/>
          </p:cNvPicPr>
          <p:nvPr/>
        </p:nvPicPr>
        <p:blipFill>
          <a:blip r:embed="rId3"/>
          <a:srcRect l="5761" r="5761"/>
          <a:stretch/>
        </p:blipFill>
        <p:spPr>
          <a:xfrm>
            <a:off x="5577840" y="1389888"/>
            <a:ext cx="5897880" cy="3703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5358384"/>
            <a:ext cx="5440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Dataset was already mostly clean, but one impossible value was still handled to protect the model.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601968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Features selected: Age, Workouts per Week, Avg Session Duration, Steps per Day. User_ID and Churned were not used for training.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Clustering 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K-Means was trained on scaled behaviour features; optimal K was selected using elbow and silhouette score.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758952" y="1504188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1. Select features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41732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2816352" y="1504188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2. StandardScaler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4873752" y="1504188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3. Test K = 2 to 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59168" y="141732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7132320" y="1504188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4. Train K-Means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235440" y="141732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9308592" y="1504188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5. Interpret clusters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148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Why scaling is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4688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K-Means is distance-based. Steps per day has large values, so StandardScaler prevents it from dominating Age and Workouts.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34198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Chosen 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73989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K = 4 has the highest silhouette score (0.2327). K = 5 is very close, but K = 4 is simpler and easier to explain.</a:t>
            </a:r>
            <a:endParaRPr lang="en-US" sz="1150" dirty="0"/>
          </a:p>
        </p:txBody>
      </p:sp>
      <p:pic>
        <p:nvPicPr>
          <p:cNvPr id="19" name="Image 0" descr="outputs/figures/02_elbow_method.png"/>
          <p:cNvPicPr>
            <a:picLocks noChangeAspect="1"/>
          </p:cNvPicPr>
          <p:nvPr/>
        </p:nvPicPr>
        <p:blipFill>
          <a:blip r:embed="rId3"/>
          <a:srcRect l="14364" r="14364"/>
          <a:stretch/>
        </p:blipFill>
        <p:spPr>
          <a:xfrm>
            <a:off x="5532120" y="2148840"/>
            <a:ext cx="2971800" cy="2606040"/>
          </a:xfrm>
          <a:prstGeom prst="rect">
            <a:avLst/>
          </a:prstGeom>
        </p:spPr>
      </p:pic>
      <p:pic>
        <p:nvPicPr>
          <p:cNvPr id="20" name="Image 1" descr="outputs/figures/03_silhouette_scores.png"/>
          <p:cNvPicPr>
            <a:picLocks noChangeAspect="1"/>
          </p:cNvPicPr>
          <p:nvPr/>
        </p:nvPicPr>
        <p:blipFill>
          <a:blip r:embed="rId4"/>
          <a:srcRect l="14364" r="14364"/>
          <a:stretch/>
        </p:blipFill>
        <p:spPr>
          <a:xfrm>
            <a:off x="8686800" y="2148840"/>
            <a:ext cx="2971800" cy="26060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" y="4773168"/>
            <a:ext cx="502920" cy="201168"/>
          </a:xfrm>
          <a:prstGeom prst="rect">
            <a:avLst/>
          </a:prstGeom>
          <a:solidFill>
            <a:srgbClr val="DBEAFE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18"/>
          <p:cNvSpPr/>
          <p:nvPr/>
        </p:nvSpPr>
        <p:spPr>
          <a:xfrm>
            <a:off x="768096" y="4828032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E293B"/>
                </a:solidFill>
              </a:rPr>
              <a:t>K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1234440" y="4773168"/>
            <a:ext cx="914400" cy="201168"/>
          </a:xfrm>
          <a:prstGeom prst="rect">
            <a:avLst/>
          </a:prstGeom>
          <a:solidFill>
            <a:srgbClr val="DBEAFE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Text 20"/>
          <p:cNvSpPr/>
          <p:nvPr/>
        </p:nvSpPr>
        <p:spPr>
          <a:xfrm>
            <a:off x="1271016" y="482803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E293B"/>
                </a:solidFill>
              </a:rPr>
              <a:t>Inertia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2148840" y="4773168"/>
            <a:ext cx="1005840" cy="201168"/>
          </a:xfrm>
          <a:prstGeom prst="rect">
            <a:avLst/>
          </a:prstGeom>
          <a:solidFill>
            <a:srgbClr val="DBEAFE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Text 22"/>
          <p:cNvSpPr/>
          <p:nvPr/>
        </p:nvSpPr>
        <p:spPr>
          <a:xfrm>
            <a:off x="2185416" y="4828032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E293B"/>
                </a:solidFill>
              </a:rPr>
              <a:t>Silhouette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731520" y="4974336"/>
            <a:ext cx="5029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8" name="Text 24"/>
          <p:cNvSpPr/>
          <p:nvPr/>
        </p:nvSpPr>
        <p:spPr>
          <a:xfrm>
            <a:off x="768096" y="5029200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2</a:t>
            </a:r>
            <a:endParaRPr lang="en-US" sz="680" dirty="0"/>
          </a:p>
        </p:txBody>
      </p:sp>
      <p:sp>
        <p:nvSpPr>
          <p:cNvPr id="29" name="Shape 25"/>
          <p:cNvSpPr/>
          <p:nvPr/>
        </p:nvSpPr>
        <p:spPr>
          <a:xfrm>
            <a:off x="1234440" y="4974336"/>
            <a:ext cx="91440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0" name="Text 26"/>
          <p:cNvSpPr/>
          <p:nvPr/>
        </p:nvSpPr>
        <p:spPr>
          <a:xfrm>
            <a:off x="1271016" y="5029200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627.54</a:t>
            </a:r>
            <a:endParaRPr lang="en-US" sz="680" dirty="0"/>
          </a:p>
        </p:txBody>
      </p:sp>
      <p:sp>
        <p:nvSpPr>
          <p:cNvPr id="31" name="Shape 27"/>
          <p:cNvSpPr/>
          <p:nvPr/>
        </p:nvSpPr>
        <p:spPr>
          <a:xfrm>
            <a:off x="2148840" y="4974336"/>
            <a:ext cx="10058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2" name="Text 28"/>
          <p:cNvSpPr/>
          <p:nvPr/>
        </p:nvSpPr>
        <p:spPr>
          <a:xfrm>
            <a:off x="2185416" y="5029200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0.2051</a:t>
            </a:r>
            <a:endParaRPr lang="en-US" sz="680" dirty="0"/>
          </a:p>
        </p:txBody>
      </p:sp>
      <p:sp>
        <p:nvSpPr>
          <p:cNvPr id="33" name="Shape 29"/>
          <p:cNvSpPr/>
          <p:nvPr/>
        </p:nvSpPr>
        <p:spPr>
          <a:xfrm>
            <a:off x="731520" y="5175504"/>
            <a:ext cx="5029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4" name="Text 30"/>
          <p:cNvSpPr/>
          <p:nvPr/>
        </p:nvSpPr>
        <p:spPr>
          <a:xfrm>
            <a:off x="768096" y="5230368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3</a:t>
            </a:r>
            <a:endParaRPr lang="en-US" sz="680" dirty="0"/>
          </a:p>
        </p:txBody>
      </p:sp>
      <p:sp>
        <p:nvSpPr>
          <p:cNvPr id="35" name="Shape 31"/>
          <p:cNvSpPr/>
          <p:nvPr/>
        </p:nvSpPr>
        <p:spPr>
          <a:xfrm>
            <a:off x="1234440" y="5175504"/>
            <a:ext cx="91440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6" name="Text 32"/>
          <p:cNvSpPr/>
          <p:nvPr/>
        </p:nvSpPr>
        <p:spPr>
          <a:xfrm>
            <a:off x="1271016" y="523036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514.41</a:t>
            </a:r>
            <a:endParaRPr lang="en-US" sz="680" dirty="0"/>
          </a:p>
        </p:txBody>
      </p:sp>
      <p:sp>
        <p:nvSpPr>
          <p:cNvPr id="37" name="Shape 33"/>
          <p:cNvSpPr/>
          <p:nvPr/>
        </p:nvSpPr>
        <p:spPr>
          <a:xfrm>
            <a:off x="2148840" y="5175504"/>
            <a:ext cx="10058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8" name="Text 34"/>
          <p:cNvSpPr/>
          <p:nvPr/>
        </p:nvSpPr>
        <p:spPr>
          <a:xfrm>
            <a:off x="2185416" y="5230368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0.2108</a:t>
            </a:r>
            <a:endParaRPr lang="en-US" sz="680" dirty="0"/>
          </a:p>
        </p:txBody>
      </p:sp>
      <p:sp>
        <p:nvSpPr>
          <p:cNvPr id="39" name="Shape 35"/>
          <p:cNvSpPr/>
          <p:nvPr/>
        </p:nvSpPr>
        <p:spPr>
          <a:xfrm>
            <a:off x="731520" y="5376672"/>
            <a:ext cx="5029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0" name="Text 36"/>
          <p:cNvSpPr/>
          <p:nvPr/>
        </p:nvSpPr>
        <p:spPr>
          <a:xfrm>
            <a:off x="768096" y="5431536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4</a:t>
            </a:r>
            <a:endParaRPr lang="en-US" sz="680" dirty="0"/>
          </a:p>
        </p:txBody>
      </p:sp>
      <p:sp>
        <p:nvSpPr>
          <p:cNvPr id="41" name="Shape 37"/>
          <p:cNvSpPr/>
          <p:nvPr/>
        </p:nvSpPr>
        <p:spPr>
          <a:xfrm>
            <a:off x="1234440" y="5376672"/>
            <a:ext cx="91440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2" name="Text 38"/>
          <p:cNvSpPr/>
          <p:nvPr/>
        </p:nvSpPr>
        <p:spPr>
          <a:xfrm>
            <a:off x="1271016" y="5431536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428.79</a:t>
            </a:r>
            <a:endParaRPr lang="en-US" sz="680" dirty="0"/>
          </a:p>
        </p:txBody>
      </p:sp>
      <p:sp>
        <p:nvSpPr>
          <p:cNvPr id="43" name="Shape 39"/>
          <p:cNvSpPr/>
          <p:nvPr/>
        </p:nvSpPr>
        <p:spPr>
          <a:xfrm>
            <a:off x="2148840" y="5376672"/>
            <a:ext cx="10058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4" name="Text 40"/>
          <p:cNvSpPr/>
          <p:nvPr/>
        </p:nvSpPr>
        <p:spPr>
          <a:xfrm>
            <a:off x="2185416" y="5431536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0.2327</a:t>
            </a:r>
            <a:endParaRPr lang="en-US" sz="680" dirty="0"/>
          </a:p>
        </p:txBody>
      </p:sp>
      <p:sp>
        <p:nvSpPr>
          <p:cNvPr id="45" name="Shape 41"/>
          <p:cNvSpPr/>
          <p:nvPr/>
        </p:nvSpPr>
        <p:spPr>
          <a:xfrm>
            <a:off x="731520" y="5577840"/>
            <a:ext cx="5029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6" name="Text 42"/>
          <p:cNvSpPr/>
          <p:nvPr/>
        </p:nvSpPr>
        <p:spPr>
          <a:xfrm>
            <a:off x="768096" y="5632704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5</a:t>
            </a:r>
            <a:endParaRPr lang="en-US" sz="680" dirty="0"/>
          </a:p>
        </p:txBody>
      </p:sp>
      <p:sp>
        <p:nvSpPr>
          <p:cNvPr id="47" name="Shape 43"/>
          <p:cNvSpPr/>
          <p:nvPr/>
        </p:nvSpPr>
        <p:spPr>
          <a:xfrm>
            <a:off x="1234440" y="5577840"/>
            <a:ext cx="91440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8" name="Text 44"/>
          <p:cNvSpPr/>
          <p:nvPr/>
        </p:nvSpPr>
        <p:spPr>
          <a:xfrm>
            <a:off x="1271016" y="563270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372.23</a:t>
            </a:r>
            <a:endParaRPr lang="en-US" sz="680" dirty="0"/>
          </a:p>
        </p:txBody>
      </p:sp>
      <p:sp>
        <p:nvSpPr>
          <p:cNvPr id="49" name="Shape 45"/>
          <p:cNvSpPr/>
          <p:nvPr/>
        </p:nvSpPr>
        <p:spPr>
          <a:xfrm>
            <a:off x="2148840" y="5577840"/>
            <a:ext cx="10058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0" name="Text 46"/>
          <p:cNvSpPr/>
          <p:nvPr/>
        </p:nvSpPr>
        <p:spPr>
          <a:xfrm>
            <a:off x="2185416" y="5632704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0.2326</a:t>
            </a:r>
            <a:endParaRPr lang="en-US" sz="680" dirty="0"/>
          </a:p>
        </p:txBody>
      </p:sp>
      <p:sp>
        <p:nvSpPr>
          <p:cNvPr id="51" name="Shape 47"/>
          <p:cNvSpPr/>
          <p:nvPr/>
        </p:nvSpPr>
        <p:spPr>
          <a:xfrm>
            <a:off x="731520" y="5779008"/>
            <a:ext cx="5029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2" name="Text 48"/>
          <p:cNvSpPr/>
          <p:nvPr/>
        </p:nvSpPr>
        <p:spPr>
          <a:xfrm>
            <a:off x="768096" y="5833872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6</a:t>
            </a:r>
            <a:endParaRPr lang="en-US" sz="680" dirty="0"/>
          </a:p>
        </p:txBody>
      </p:sp>
      <p:sp>
        <p:nvSpPr>
          <p:cNvPr id="53" name="Shape 49"/>
          <p:cNvSpPr/>
          <p:nvPr/>
        </p:nvSpPr>
        <p:spPr>
          <a:xfrm>
            <a:off x="1234440" y="5779008"/>
            <a:ext cx="91440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4" name="Text 50"/>
          <p:cNvSpPr/>
          <p:nvPr/>
        </p:nvSpPr>
        <p:spPr>
          <a:xfrm>
            <a:off x="1271016" y="583387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340.19</a:t>
            </a:r>
            <a:endParaRPr lang="en-US" sz="680" dirty="0"/>
          </a:p>
        </p:txBody>
      </p:sp>
      <p:sp>
        <p:nvSpPr>
          <p:cNvPr id="55" name="Shape 51"/>
          <p:cNvSpPr/>
          <p:nvPr/>
        </p:nvSpPr>
        <p:spPr>
          <a:xfrm>
            <a:off x="2148840" y="5779008"/>
            <a:ext cx="10058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6" name="Text 52"/>
          <p:cNvSpPr/>
          <p:nvPr/>
        </p:nvSpPr>
        <p:spPr>
          <a:xfrm>
            <a:off x="2185416" y="5833872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0.2203</a:t>
            </a:r>
            <a:endParaRPr lang="en-US" sz="680" dirty="0"/>
          </a:p>
        </p:txBody>
      </p:sp>
      <p:sp>
        <p:nvSpPr>
          <p:cNvPr id="57" name="Shape 53"/>
          <p:cNvSpPr/>
          <p:nvPr/>
        </p:nvSpPr>
        <p:spPr>
          <a:xfrm>
            <a:off x="731520" y="5980176"/>
            <a:ext cx="5029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8" name="Text 54"/>
          <p:cNvSpPr/>
          <p:nvPr/>
        </p:nvSpPr>
        <p:spPr>
          <a:xfrm>
            <a:off x="768096" y="6035040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7</a:t>
            </a:r>
            <a:endParaRPr lang="en-US" sz="680" dirty="0"/>
          </a:p>
        </p:txBody>
      </p:sp>
      <p:sp>
        <p:nvSpPr>
          <p:cNvPr id="59" name="Shape 55"/>
          <p:cNvSpPr/>
          <p:nvPr/>
        </p:nvSpPr>
        <p:spPr>
          <a:xfrm>
            <a:off x="1234440" y="5980176"/>
            <a:ext cx="91440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0" name="Text 56"/>
          <p:cNvSpPr/>
          <p:nvPr/>
        </p:nvSpPr>
        <p:spPr>
          <a:xfrm>
            <a:off x="1271016" y="6035040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313.12</a:t>
            </a:r>
            <a:endParaRPr lang="en-US" sz="680" dirty="0"/>
          </a:p>
        </p:txBody>
      </p:sp>
      <p:sp>
        <p:nvSpPr>
          <p:cNvPr id="61" name="Shape 57"/>
          <p:cNvSpPr/>
          <p:nvPr/>
        </p:nvSpPr>
        <p:spPr>
          <a:xfrm>
            <a:off x="2148840" y="5980176"/>
            <a:ext cx="10058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2" name="Text 58"/>
          <p:cNvSpPr/>
          <p:nvPr/>
        </p:nvSpPr>
        <p:spPr>
          <a:xfrm>
            <a:off x="2185416" y="6035040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0.2156</a:t>
            </a:r>
            <a:endParaRPr lang="en-US" sz="680" dirty="0"/>
          </a:p>
        </p:txBody>
      </p:sp>
      <p:sp>
        <p:nvSpPr>
          <p:cNvPr id="63" name="Shape 59"/>
          <p:cNvSpPr/>
          <p:nvPr/>
        </p:nvSpPr>
        <p:spPr>
          <a:xfrm>
            <a:off x="731520" y="6181344"/>
            <a:ext cx="5029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4" name="Text 60"/>
          <p:cNvSpPr/>
          <p:nvPr/>
        </p:nvSpPr>
        <p:spPr>
          <a:xfrm>
            <a:off x="768096" y="6236208"/>
            <a:ext cx="429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8</a:t>
            </a:r>
            <a:endParaRPr lang="en-US" sz="680" dirty="0"/>
          </a:p>
        </p:txBody>
      </p:sp>
      <p:sp>
        <p:nvSpPr>
          <p:cNvPr id="65" name="Shape 61"/>
          <p:cNvSpPr/>
          <p:nvPr/>
        </p:nvSpPr>
        <p:spPr>
          <a:xfrm>
            <a:off x="1234440" y="6181344"/>
            <a:ext cx="91440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6" name="Text 62"/>
          <p:cNvSpPr/>
          <p:nvPr/>
        </p:nvSpPr>
        <p:spPr>
          <a:xfrm>
            <a:off x="1271016" y="623620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287.37</a:t>
            </a:r>
            <a:endParaRPr lang="en-US" sz="680" dirty="0"/>
          </a:p>
        </p:txBody>
      </p:sp>
      <p:sp>
        <p:nvSpPr>
          <p:cNvPr id="67" name="Shape 63"/>
          <p:cNvSpPr/>
          <p:nvPr/>
        </p:nvSpPr>
        <p:spPr>
          <a:xfrm>
            <a:off x="2148840" y="6181344"/>
            <a:ext cx="10058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8" name="Text 64"/>
          <p:cNvSpPr/>
          <p:nvPr/>
        </p:nvSpPr>
        <p:spPr>
          <a:xfrm>
            <a:off x="2185416" y="6236208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0.2251</a:t>
            </a:r>
            <a:endParaRPr lang="en-US" sz="680" dirty="0"/>
          </a:p>
        </p:txBody>
      </p:sp>
      <p:sp>
        <p:nvSpPr>
          <p:cNvPr id="69" name="Text 65"/>
          <p:cNvSpPr/>
          <p:nvPr/>
        </p:nvSpPr>
        <p:spPr>
          <a:xfrm>
            <a:off x="3429000" y="4919472"/>
            <a:ext cx="7589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Best score is marked by K = 4. This gives clean enough groups for short activity presentation.</a:t>
            </a:r>
            <a:endParaRPr lang="en-US" sz="1300" dirty="0"/>
          </a:p>
        </p:txBody>
      </p:sp>
      <p:sp>
        <p:nvSpPr>
          <p:cNvPr id="70" name="Text 66"/>
          <p:cNvSpPr/>
          <p:nvPr/>
        </p:nvSpPr>
        <p:spPr>
          <a:xfrm>
            <a:off x="548640" y="6601968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Method follows scikit-learn KMeans workflow: fit model, assign labels, then interpret labels using original features.</a:t>
            </a:r>
            <a:endParaRPr lang="en-US" sz="75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Key Findings and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The model found four user groups with different activity levels and churn risk.</a:t>
            </a:r>
            <a:endParaRPr lang="en-US" sz="1050" dirty="0"/>
          </a:p>
        </p:txBody>
      </p:sp>
      <p:pic>
        <p:nvPicPr>
          <p:cNvPr id="4" name="Image 0" descr="outputs/figures/04_pca_cluster_scatter.png"/>
          <p:cNvPicPr>
            <a:picLocks noChangeAspect="1"/>
          </p:cNvPicPr>
          <p:nvPr/>
        </p:nvPicPr>
        <p:blipFill>
          <a:blip r:embed="rId3"/>
          <a:srcRect t="2157" b="2157"/>
          <a:stretch/>
        </p:blipFill>
        <p:spPr>
          <a:xfrm>
            <a:off x="594360" y="1024128"/>
            <a:ext cx="3886200" cy="2788920"/>
          </a:xfrm>
          <a:prstGeom prst="rect">
            <a:avLst/>
          </a:prstGeom>
        </p:spPr>
      </p:pic>
      <p:pic>
        <p:nvPicPr>
          <p:cNvPr id="5" name="Image 1" descr="outputs/figures/06_churn_rate_by_cluster.png"/>
          <p:cNvPicPr>
            <a:picLocks noChangeAspect="1"/>
          </p:cNvPicPr>
          <p:nvPr/>
        </p:nvPicPr>
        <p:blipFill>
          <a:blip r:embed="rId4"/>
          <a:srcRect l="11358" r="11358"/>
          <a:stretch/>
        </p:blipFill>
        <p:spPr>
          <a:xfrm>
            <a:off x="4599432" y="1024128"/>
            <a:ext cx="3017520" cy="2788920"/>
          </a:xfrm>
          <a:prstGeom prst="rect">
            <a:avLst/>
          </a:prstGeom>
        </p:spPr>
      </p:pic>
      <p:pic>
        <p:nvPicPr>
          <p:cNvPr id="6" name="Image 2" descr="outputs/figures/05_cluster_profile.png"/>
          <p:cNvPicPr>
            <a:picLocks noChangeAspect="1"/>
          </p:cNvPicPr>
          <p:nvPr/>
        </p:nvPicPr>
        <p:blipFill>
          <a:blip r:embed="rId5"/>
          <a:srcRect l="9672" r="9672"/>
          <a:stretch/>
        </p:blipFill>
        <p:spPr>
          <a:xfrm>
            <a:off x="7818120" y="1024128"/>
            <a:ext cx="3749040" cy="27889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85800" y="4315968"/>
            <a:ext cx="685800" cy="301752"/>
          </a:xfrm>
          <a:prstGeom prst="rect">
            <a:avLst/>
          </a:prstGeom>
          <a:solidFill>
            <a:srgbClr val="DCFCE7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3"/>
          <p:cNvSpPr/>
          <p:nvPr/>
        </p:nvSpPr>
        <p:spPr>
          <a:xfrm>
            <a:off x="722376" y="4370832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E293B"/>
                </a:solidFill>
              </a:rPr>
              <a:t>Cluster</a:t>
            </a:r>
            <a:endParaRPr lang="en-US" sz="720" dirty="0"/>
          </a:p>
        </p:txBody>
      </p:sp>
      <p:sp>
        <p:nvSpPr>
          <p:cNvPr id="9" name="Shape 4"/>
          <p:cNvSpPr/>
          <p:nvPr/>
        </p:nvSpPr>
        <p:spPr>
          <a:xfrm>
            <a:off x="1371600" y="4315968"/>
            <a:ext cx="658368" cy="301752"/>
          </a:xfrm>
          <a:prstGeom prst="rect">
            <a:avLst/>
          </a:prstGeom>
          <a:solidFill>
            <a:srgbClr val="DCFCE7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5"/>
          <p:cNvSpPr/>
          <p:nvPr/>
        </p:nvSpPr>
        <p:spPr>
          <a:xfrm>
            <a:off x="1408176" y="4370832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E293B"/>
                </a:solidFill>
              </a:rPr>
              <a:t>Users</a:t>
            </a:r>
            <a:endParaRPr lang="en-US" sz="720" dirty="0"/>
          </a:p>
        </p:txBody>
      </p:sp>
      <p:sp>
        <p:nvSpPr>
          <p:cNvPr id="11" name="Shape 6"/>
          <p:cNvSpPr/>
          <p:nvPr/>
        </p:nvSpPr>
        <p:spPr>
          <a:xfrm>
            <a:off x="2029968" y="4315968"/>
            <a:ext cx="2377440" cy="301752"/>
          </a:xfrm>
          <a:prstGeom prst="rect">
            <a:avLst/>
          </a:prstGeom>
          <a:solidFill>
            <a:srgbClr val="DCFCE7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7"/>
          <p:cNvSpPr/>
          <p:nvPr/>
        </p:nvSpPr>
        <p:spPr>
          <a:xfrm>
            <a:off x="2066544" y="4370832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E293B"/>
                </a:solidFill>
              </a:rPr>
              <a:t>Activity profile</a:t>
            </a:r>
            <a:endParaRPr lang="en-US" sz="720" dirty="0"/>
          </a:p>
        </p:txBody>
      </p:sp>
      <p:sp>
        <p:nvSpPr>
          <p:cNvPr id="13" name="Shape 8"/>
          <p:cNvSpPr/>
          <p:nvPr/>
        </p:nvSpPr>
        <p:spPr>
          <a:xfrm>
            <a:off x="4407408" y="4315968"/>
            <a:ext cx="685800" cy="301752"/>
          </a:xfrm>
          <a:prstGeom prst="rect">
            <a:avLst/>
          </a:prstGeom>
          <a:solidFill>
            <a:srgbClr val="DCFCE7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9"/>
          <p:cNvSpPr/>
          <p:nvPr/>
        </p:nvSpPr>
        <p:spPr>
          <a:xfrm>
            <a:off x="4443984" y="4370832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E293B"/>
                </a:solidFill>
              </a:rPr>
              <a:t>Churn</a:t>
            </a:r>
            <a:endParaRPr lang="en-US" sz="720" dirty="0"/>
          </a:p>
        </p:txBody>
      </p:sp>
      <p:sp>
        <p:nvSpPr>
          <p:cNvPr id="15" name="Shape 10"/>
          <p:cNvSpPr/>
          <p:nvPr/>
        </p:nvSpPr>
        <p:spPr>
          <a:xfrm>
            <a:off x="5093208" y="4315968"/>
            <a:ext cx="2788920" cy="301752"/>
          </a:xfrm>
          <a:prstGeom prst="rect">
            <a:avLst/>
          </a:prstGeom>
          <a:solidFill>
            <a:srgbClr val="DCFCE7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6" name="Text 11"/>
          <p:cNvSpPr/>
          <p:nvPr/>
        </p:nvSpPr>
        <p:spPr>
          <a:xfrm>
            <a:off x="5129784" y="4370832"/>
            <a:ext cx="2715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E293B"/>
                </a:solidFill>
              </a:rPr>
              <a:t>Action</a:t>
            </a:r>
            <a:endParaRPr lang="en-US" sz="720" dirty="0"/>
          </a:p>
        </p:txBody>
      </p:sp>
      <p:sp>
        <p:nvSpPr>
          <p:cNvPr id="17" name="Shape 12"/>
          <p:cNvSpPr/>
          <p:nvPr/>
        </p:nvSpPr>
        <p:spPr>
          <a:xfrm>
            <a:off x="685800" y="4617720"/>
            <a:ext cx="6858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13"/>
          <p:cNvSpPr/>
          <p:nvPr/>
        </p:nvSpPr>
        <p:spPr>
          <a:xfrm>
            <a:off x="722376" y="4672584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0</a:t>
            </a:r>
            <a:endParaRPr lang="en-US" sz="680" dirty="0"/>
          </a:p>
        </p:txBody>
      </p:sp>
      <p:sp>
        <p:nvSpPr>
          <p:cNvPr id="19" name="Shape 14"/>
          <p:cNvSpPr/>
          <p:nvPr/>
        </p:nvSpPr>
        <p:spPr>
          <a:xfrm>
            <a:off x="1371600" y="4617720"/>
            <a:ext cx="658368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0" name="Text 15"/>
          <p:cNvSpPr/>
          <p:nvPr/>
        </p:nvSpPr>
        <p:spPr>
          <a:xfrm>
            <a:off x="1408176" y="4672584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62</a:t>
            </a:r>
            <a:endParaRPr lang="en-US" sz="680" dirty="0"/>
          </a:p>
        </p:txBody>
      </p:sp>
      <p:sp>
        <p:nvSpPr>
          <p:cNvPr id="21" name="Shape 16"/>
          <p:cNvSpPr/>
          <p:nvPr/>
        </p:nvSpPr>
        <p:spPr>
          <a:xfrm>
            <a:off x="2029968" y="4617720"/>
            <a:ext cx="237744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17"/>
          <p:cNvSpPr/>
          <p:nvPr/>
        </p:nvSpPr>
        <p:spPr>
          <a:xfrm>
            <a:off x="2066544" y="4672584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Low steps, low workouts</a:t>
            </a:r>
            <a:endParaRPr lang="en-US" sz="680" dirty="0"/>
          </a:p>
        </p:txBody>
      </p:sp>
      <p:sp>
        <p:nvSpPr>
          <p:cNvPr id="23" name="Shape 18"/>
          <p:cNvSpPr/>
          <p:nvPr/>
        </p:nvSpPr>
        <p:spPr>
          <a:xfrm>
            <a:off x="4407408" y="4617720"/>
            <a:ext cx="6858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Text 19"/>
          <p:cNvSpPr/>
          <p:nvPr/>
        </p:nvSpPr>
        <p:spPr>
          <a:xfrm>
            <a:off x="4443984" y="4672584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29%</a:t>
            </a:r>
            <a:endParaRPr lang="en-US" sz="680" dirty="0"/>
          </a:p>
        </p:txBody>
      </p:sp>
      <p:sp>
        <p:nvSpPr>
          <p:cNvPr id="25" name="Shape 20"/>
          <p:cNvSpPr/>
          <p:nvPr/>
        </p:nvSpPr>
        <p:spPr>
          <a:xfrm>
            <a:off x="5093208" y="4617720"/>
            <a:ext cx="278892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Text 21"/>
          <p:cNvSpPr/>
          <p:nvPr/>
        </p:nvSpPr>
        <p:spPr>
          <a:xfrm>
            <a:off x="5129784" y="4672584"/>
            <a:ext cx="2715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Send reminders and challenges</a:t>
            </a:r>
            <a:endParaRPr lang="en-US" sz="680" dirty="0"/>
          </a:p>
        </p:txBody>
      </p:sp>
      <p:sp>
        <p:nvSpPr>
          <p:cNvPr id="27" name="Shape 22"/>
          <p:cNvSpPr/>
          <p:nvPr/>
        </p:nvSpPr>
        <p:spPr>
          <a:xfrm>
            <a:off x="685800" y="4919472"/>
            <a:ext cx="6858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8" name="Text 23"/>
          <p:cNvSpPr/>
          <p:nvPr/>
        </p:nvSpPr>
        <p:spPr>
          <a:xfrm>
            <a:off x="722376" y="4974336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1</a:t>
            </a:r>
            <a:endParaRPr lang="en-US" sz="680" dirty="0"/>
          </a:p>
        </p:txBody>
      </p:sp>
      <p:sp>
        <p:nvSpPr>
          <p:cNvPr id="29" name="Shape 24"/>
          <p:cNvSpPr/>
          <p:nvPr/>
        </p:nvSpPr>
        <p:spPr>
          <a:xfrm>
            <a:off x="1371600" y="4919472"/>
            <a:ext cx="658368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0" name="Text 25"/>
          <p:cNvSpPr/>
          <p:nvPr/>
        </p:nvSpPr>
        <p:spPr>
          <a:xfrm>
            <a:off x="1408176" y="4974336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52</a:t>
            </a:r>
            <a:endParaRPr lang="en-US" sz="680" dirty="0"/>
          </a:p>
        </p:txBody>
      </p:sp>
      <p:sp>
        <p:nvSpPr>
          <p:cNvPr id="31" name="Shape 26"/>
          <p:cNvSpPr/>
          <p:nvPr/>
        </p:nvSpPr>
        <p:spPr>
          <a:xfrm>
            <a:off x="2029968" y="4919472"/>
            <a:ext cx="237744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2" name="Text 27"/>
          <p:cNvSpPr/>
          <p:nvPr/>
        </p:nvSpPr>
        <p:spPr>
          <a:xfrm>
            <a:off x="2066544" y="4974336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High steps, low workouts</a:t>
            </a:r>
            <a:endParaRPr lang="en-US" sz="680" dirty="0"/>
          </a:p>
        </p:txBody>
      </p:sp>
      <p:sp>
        <p:nvSpPr>
          <p:cNvPr id="33" name="Shape 28"/>
          <p:cNvSpPr/>
          <p:nvPr/>
        </p:nvSpPr>
        <p:spPr>
          <a:xfrm>
            <a:off x="4407408" y="4919472"/>
            <a:ext cx="6858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4" name="Text 29"/>
          <p:cNvSpPr/>
          <p:nvPr/>
        </p:nvSpPr>
        <p:spPr>
          <a:xfrm>
            <a:off x="4443984" y="4974336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10%</a:t>
            </a:r>
            <a:endParaRPr lang="en-US" sz="680" dirty="0"/>
          </a:p>
        </p:txBody>
      </p:sp>
      <p:sp>
        <p:nvSpPr>
          <p:cNvPr id="35" name="Shape 30"/>
          <p:cNvSpPr/>
          <p:nvPr/>
        </p:nvSpPr>
        <p:spPr>
          <a:xfrm>
            <a:off x="5093208" y="4919472"/>
            <a:ext cx="278892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6" name="Text 31"/>
          <p:cNvSpPr/>
          <p:nvPr/>
        </p:nvSpPr>
        <p:spPr>
          <a:xfrm>
            <a:off x="5129784" y="4974336"/>
            <a:ext cx="2715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Suggest guided workouts</a:t>
            </a:r>
            <a:endParaRPr lang="en-US" sz="680" dirty="0"/>
          </a:p>
        </p:txBody>
      </p:sp>
      <p:sp>
        <p:nvSpPr>
          <p:cNvPr id="37" name="Shape 32"/>
          <p:cNvSpPr/>
          <p:nvPr/>
        </p:nvSpPr>
        <p:spPr>
          <a:xfrm>
            <a:off x="685800" y="5221224"/>
            <a:ext cx="6858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8" name="Text 33"/>
          <p:cNvSpPr/>
          <p:nvPr/>
        </p:nvSpPr>
        <p:spPr>
          <a:xfrm>
            <a:off x="722376" y="5276088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2</a:t>
            </a:r>
            <a:endParaRPr lang="en-US" sz="680" dirty="0"/>
          </a:p>
        </p:txBody>
      </p:sp>
      <p:sp>
        <p:nvSpPr>
          <p:cNvPr id="39" name="Shape 34"/>
          <p:cNvSpPr/>
          <p:nvPr/>
        </p:nvSpPr>
        <p:spPr>
          <a:xfrm>
            <a:off x="1371600" y="5221224"/>
            <a:ext cx="658368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0" name="Text 35"/>
          <p:cNvSpPr/>
          <p:nvPr/>
        </p:nvSpPr>
        <p:spPr>
          <a:xfrm>
            <a:off x="1408176" y="5276088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48</a:t>
            </a:r>
            <a:endParaRPr lang="en-US" sz="680" dirty="0"/>
          </a:p>
        </p:txBody>
      </p:sp>
      <p:sp>
        <p:nvSpPr>
          <p:cNvPr id="41" name="Shape 36"/>
          <p:cNvSpPr/>
          <p:nvPr/>
        </p:nvSpPr>
        <p:spPr>
          <a:xfrm>
            <a:off x="2029968" y="5221224"/>
            <a:ext cx="237744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2" name="Text 37"/>
          <p:cNvSpPr/>
          <p:nvPr/>
        </p:nvSpPr>
        <p:spPr>
          <a:xfrm>
            <a:off x="2066544" y="5276088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Highly active users</a:t>
            </a:r>
            <a:endParaRPr lang="en-US" sz="680" dirty="0"/>
          </a:p>
        </p:txBody>
      </p:sp>
      <p:sp>
        <p:nvSpPr>
          <p:cNvPr id="43" name="Shape 38"/>
          <p:cNvSpPr/>
          <p:nvPr/>
        </p:nvSpPr>
        <p:spPr>
          <a:xfrm>
            <a:off x="4407408" y="5221224"/>
            <a:ext cx="6858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4" name="Text 39"/>
          <p:cNvSpPr/>
          <p:nvPr/>
        </p:nvSpPr>
        <p:spPr>
          <a:xfrm>
            <a:off x="4443984" y="5276088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6%</a:t>
            </a:r>
            <a:endParaRPr lang="en-US" sz="680" dirty="0"/>
          </a:p>
        </p:txBody>
      </p:sp>
      <p:sp>
        <p:nvSpPr>
          <p:cNvPr id="45" name="Shape 40"/>
          <p:cNvSpPr/>
          <p:nvPr/>
        </p:nvSpPr>
        <p:spPr>
          <a:xfrm>
            <a:off x="5093208" y="5221224"/>
            <a:ext cx="278892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6" name="Text 41"/>
          <p:cNvSpPr/>
          <p:nvPr/>
        </p:nvSpPr>
        <p:spPr>
          <a:xfrm>
            <a:off x="5129784" y="5276088"/>
            <a:ext cx="2715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Premium rewards / loyalty</a:t>
            </a:r>
            <a:endParaRPr lang="en-US" sz="680" dirty="0"/>
          </a:p>
        </p:txBody>
      </p:sp>
      <p:sp>
        <p:nvSpPr>
          <p:cNvPr id="47" name="Shape 42"/>
          <p:cNvSpPr/>
          <p:nvPr/>
        </p:nvSpPr>
        <p:spPr>
          <a:xfrm>
            <a:off x="685800" y="5522976"/>
            <a:ext cx="6858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8" name="Text 43"/>
          <p:cNvSpPr/>
          <p:nvPr/>
        </p:nvSpPr>
        <p:spPr>
          <a:xfrm>
            <a:off x="722376" y="5577840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3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1371600" y="5522976"/>
            <a:ext cx="658368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0" name="Text 45"/>
          <p:cNvSpPr/>
          <p:nvPr/>
        </p:nvSpPr>
        <p:spPr>
          <a:xfrm>
            <a:off x="1408176" y="5577840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37</a:t>
            </a:r>
            <a:endParaRPr lang="en-US" sz="680" dirty="0"/>
          </a:p>
        </p:txBody>
      </p:sp>
      <p:sp>
        <p:nvSpPr>
          <p:cNvPr id="51" name="Shape 46"/>
          <p:cNvSpPr/>
          <p:nvPr/>
        </p:nvSpPr>
        <p:spPr>
          <a:xfrm>
            <a:off x="2029968" y="5522976"/>
            <a:ext cx="237744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2" name="Text 47"/>
          <p:cNvSpPr/>
          <p:nvPr/>
        </p:nvSpPr>
        <p:spPr>
          <a:xfrm>
            <a:off x="2066544" y="5577840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Older, consistent users</a:t>
            </a:r>
            <a:endParaRPr lang="en-US" sz="680" dirty="0"/>
          </a:p>
        </p:txBody>
      </p:sp>
      <p:sp>
        <p:nvSpPr>
          <p:cNvPr id="53" name="Shape 48"/>
          <p:cNvSpPr/>
          <p:nvPr/>
        </p:nvSpPr>
        <p:spPr>
          <a:xfrm>
            <a:off x="4407408" y="5522976"/>
            <a:ext cx="6858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4" name="Text 49"/>
          <p:cNvSpPr/>
          <p:nvPr/>
        </p:nvSpPr>
        <p:spPr>
          <a:xfrm>
            <a:off x="4443984" y="5577840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5%</a:t>
            </a:r>
            <a:endParaRPr lang="en-US" sz="680" dirty="0"/>
          </a:p>
        </p:txBody>
      </p:sp>
      <p:sp>
        <p:nvSpPr>
          <p:cNvPr id="55" name="Shape 50"/>
          <p:cNvSpPr/>
          <p:nvPr/>
        </p:nvSpPr>
        <p:spPr>
          <a:xfrm>
            <a:off x="5093208" y="5522976"/>
            <a:ext cx="278892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6" name="Text 51"/>
          <p:cNvSpPr/>
          <p:nvPr/>
        </p:nvSpPr>
        <p:spPr>
          <a:xfrm>
            <a:off x="5129784" y="5577840"/>
            <a:ext cx="2715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1E293B"/>
                </a:solidFill>
              </a:rPr>
              <a:t>Safe balanced workout plan</a:t>
            </a:r>
            <a:endParaRPr lang="en-US" sz="680" dirty="0"/>
          </a:p>
        </p:txBody>
      </p:sp>
      <p:sp>
        <p:nvSpPr>
          <p:cNvPr id="57" name="Text 52"/>
          <p:cNvSpPr/>
          <p:nvPr/>
        </p:nvSpPr>
        <p:spPr>
          <a:xfrm>
            <a:off x="822960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Main takeaway</a:t>
            </a:r>
            <a:endParaRPr lang="en-US" sz="1300" dirty="0"/>
          </a:p>
        </p:txBody>
      </p:sp>
      <p:sp>
        <p:nvSpPr>
          <p:cNvPr id="58" name="Text 53"/>
          <p:cNvSpPr/>
          <p:nvPr/>
        </p:nvSpPr>
        <p:spPr>
          <a:xfrm>
            <a:off x="8229600" y="4709160"/>
            <a:ext cx="324612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Cluster 0 is the main attention group because it has the highest churn rate. Cluster 2 is the strongest group because users are highly active and less likely to churn.</a:t>
            </a:r>
            <a:endParaRPr lang="en-US" sz="1400" dirty="0"/>
          </a:p>
        </p:txBody>
      </p:sp>
      <p:sp>
        <p:nvSpPr>
          <p:cNvPr id="59" name="Text 54"/>
          <p:cNvSpPr/>
          <p:nvPr/>
        </p:nvSpPr>
        <p:spPr>
          <a:xfrm>
            <a:off x="548640" y="6601968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Churned was used only for interpretation after clustering, not as a training feature.</a:t>
            </a:r>
            <a:endParaRPr lang="en-US" sz="75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177C4-92F6-7D04-0202-276F99B4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9082F9E-DC0C-C9D9-CF45-0566E76E4E2C}"/>
              </a:ext>
            </a:extLst>
          </p:cNvPr>
          <p:cNvSpPr txBox="1">
            <a:spLocks/>
          </p:cNvSpPr>
          <p:nvPr/>
        </p:nvSpPr>
        <p:spPr>
          <a:xfrm>
            <a:off x="1981200" y="327805"/>
            <a:ext cx="8229600" cy="1143000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4E4B55F-78E7-DEBF-A763-EAA2F8F7F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2" y="1025981"/>
            <a:ext cx="1178655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improved dataset quality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handling missing values, duplicates, and inconsistencies.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improved clustering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ensuring all variables contributed equally to the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 identified meaningful user segments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similar fitness and activity patterns.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optimal number of clusters was selected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Silhouette Score analysis to improve clustering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clustering results provide actionable insights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personalization, marketing, user retention, and future analytics. </a:t>
            </a:r>
          </a:p>
        </p:txBody>
      </p:sp>
    </p:spTree>
    <p:extLst>
      <p:ext uri="{BB962C8B-B14F-4D97-AF65-F5344CB8AC3E}">
        <p14:creationId xmlns:p14="http://schemas.microsoft.com/office/powerpoint/2010/main" val="302146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557</Words>
  <Application>Microsoft Office PowerPoint</Application>
  <PresentationFormat>Widescreen</PresentationFormat>
  <Paragraphs>113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Week 9 Activity 1 K-Means Clustering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Yoobee Colleges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App User Clustering using K-Means</dc:title>
  <dc:subject>Week 9 Activity 1 K-Means Clustering</dc:subject>
  <dc:creator>Benjelyn Reves Patiag</dc:creator>
  <cp:lastModifiedBy>Benjelyn Patiag</cp:lastModifiedBy>
  <cp:revision>5</cp:revision>
  <dcterms:created xsi:type="dcterms:W3CDTF">2026-06-06T23:44:28Z</dcterms:created>
  <dcterms:modified xsi:type="dcterms:W3CDTF">2026-06-07T00:19:14Z</dcterms:modified>
</cp:coreProperties>
</file>